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6" r:id="rId4"/>
    <p:sldId id="265" r:id="rId5"/>
    <p:sldId id="268" r:id="rId6"/>
    <p:sldId id="272" r:id="rId7"/>
    <p:sldId id="278" r:id="rId8"/>
    <p:sldId id="28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31002-57C3-8548-A312-7DA7A31B7A5C}" v="10" dt="2026-07-15T17:37:59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713"/>
    <p:restoredTop sz="86463"/>
  </p:normalViewPr>
  <p:slideViewPr>
    <p:cSldViewPr snapToGrid="0" snapToObjects="1">
      <p:cViewPr>
        <p:scale>
          <a:sx n="73" d="100"/>
          <a:sy n="73" d="100"/>
        </p:scale>
        <p:origin x="144" y="1040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31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1 - </a:t>
            </a:r>
            <a:r>
              <a:rPr lang="he-IL" b="1" dirty="0" err="1"/>
              <a:t>Title</a:t>
            </a:r>
            <a:endParaRPr lang="he-IL" b="1" dirty="0"/>
          </a:p>
          <a:p>
            <a:r>
              <a:rPr lang="he-IL" b="1" dirty="0"/>
              <a:t>זמן: 30–40 שניות</a:t>
            </a:r>
            <a:endParaRPr lang="he-IL" dirty="0"/>
          </a:p>
          <a:p>
            <a:r>
              <a:rPr lang="he-IL" dirty="0"/>
              <a:t>“אנחנו מציגים את הסוכן שלנו: </a:t>
            </a:r>
            <a:r>
              <a:rPr lang="he-IL" dirty="0" err="1"/>
              <a:t>Autonomous</a:t>
            </a:r>
            <a:r>
              <a:rPr lang="he-IL" dirty="0"/>
              <a:t> </a:t>
            </a:r>
            <a:r>
              <a:rPr lang="he-IL" dirty="0" err="1"/>
              <a:t>Lisbon</a:t>
            </a:r>
            <a:r>
              <a:rPr lang="he-IL" dirty="0"/>
              <a:t> </a:t>
            </a:r>
            <a:r>
              <a:rPr lang="he-IL" dirty="0" err="1"/>
              <a:t>Airbnb</a:t>
            </a:r>
            <a:r>
              <a:rPr lang="he-IL" dirty="0"/>
              <a:t> </a:t>
            </a:r>
            <a:r>
              <a:rPr lang="he-IL" dirty="0" err="1"/>
              <a:t>Listing</a:t>
            </a:r>
            <a:r>
              <a:rPr lang="he-IL" dirty="0"/>
              <a:t> </a:t>
            </a:r>
            <a:r>
              <a:rPr lang="he-IL" dirty="0" err="1"/>
              <a:t>Editor</a:t>
            </a:r>
            <a:r>
              <a:rPr lang="he-IL" dirty="0"/>
              <a:t>.</a:t>
            </a:r>
            <a:br>
              <a:rPr lang="he-IL" dirty="0"/>
            </a:br>
            <a:r>
              <a:rPr lang="he-IL" dirty="0"/>
              <a:t>המטרה שלו היא לשמור שדפי </a:t>
            </a:r>
            <a:r>
              <a:rPr lang="he-IL" dirty="0" err="1"/>
              <a:t>Airbnb</a:t>
            </a:r>
            <a:r>
              <a:rPr lang="he-IL" dirty="0"/>
              <a:t> בליסבון יהיו מיושרים עם חוויית האורחים בפועל.</a:t>
            </a:r>
            <a:br>
              <a:rPr lang="he-IL" dirty="0"/>
            </a:br>
            <a:r>
              <a:rPr lang="he-IL" dirty="0"/>
              <a:t>כלומר, זה לא סוכן שמנתח ביקורות בלבד, אלא סוכן שמקבל מטרה, בודק ראיות, בוחר כלים, ומציע או מבצע עדכונים בדף הנכס בצורה מבוקרת.”</a:t>
            </a:r>
          </a:p>
          <a:p>
            <a:r>
              <a:rPr lang="he-IL" dirty="0"/>
              <a:t>מעבר:</a:t>
            </a:r>
            <a:br>
              <a:rPr lang="he-IL" dirty="0"/>
            </a:br>
            <a:r>
              <a:rPr lang="he-IL" dirty="0"/>
              <a:t>“נתחיל מהבעיה.”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2 - </a:t>
            </a:r>
            <a:r>
              <a:rPr lang="he-IL" b="1" dirty="0" err="1"/>
              <a:t>A</a:t>
            </a:r>
            <a:r>
              <a:rPr lang="he-IL" b="1" dirty="0"/>
              <a:t> </a:t>
            </a:r>
            <a:r>
              <a:rPr lang="he-IL" b="1" dirty="0" err="1"/>
              <a:t>Listing</a:t>
            </a:r>
            <a:r>
              <a:rPr lang="he-IL" b="1" dirty="0"/>
              <a:t> </a:t>
            </a:r>
            <a:r>
              <a:rPr lang="he-IL" b="1" dirty="0" err="1"/>
              <a:t>Page</a:t>
            </a:r>
            <a:r>
              <a:rPr lang="he-IL" b="1" dirty="0"/>
              <a:t> </a:t>
            </a:r>
            <a:r>
              <a:rPr lang="he-IL" b="1" dirty="0" err="1"/>
              <a:t>Is</a:t>
            </a:r>
            <a:r>
              <a:rPr lang="he-IL" b="1" dirty="0"/>
              <a:t> </a:t>
            </a:r>
            <a:r>
              <a:rPr lang="he-IL" b="1" dirty="0" err="1"/>
              <a:t>a</a:t>
            </a:r>
            <a:r>
              <a:rPr lang="he-IL" b="1" dirty="0"/>
              <a:t> </a:t>
            </a:r>
            <a:r>
              <a:rPr lang="he-IL" b="1" dirty="0" err="1"/>
              <a:t>Promise</a:t>
            </a:r>
            <a:endParaRPr lang="he-IL" b="1" dirty="0"/>
          </a:p>
          <a:p>
            <a:r>
              <a:rPr lang="he-IL" b="1" dirty="0"/>
              <a:t>זמן: דקה</a:t>
            </a:r>
            <a:endParaRPr lang="he-IL" dirty="0"/>
          </a:p>
          <a:p>
            <a:r>
              <a:rPr lang="he-IL" dirty="0"/>
              <a:t>“דף נכס </a:t>
            </a:r>
            <a:r>
              <a:rPr lang="he-IL" dirty="0" err="1"/>
              <a:t>ב־Airbnb</a:t>
            </a:r>
            <a:r>
              <a:rPr lang="he-IL" dirty="0"/>
              <a:t> הוא בעצם הבטחה לאורח.</a:t>
            </a:r>
            <a:br>
              <a:rPr lang="he-IL" dirty="0"/>
            </a:br>
            <a:r>
              <a:rPr lang="he-IL" dirty="0"/>
              <a:t>אם הדף אומר ‘</a:t>
            </a:r>
            <a:r>
              <a:rPr lang="he-IL" dirty="0" err="1"/>
              <a:t>Quiet</a:t>
            </a:r>
            <a:r>
              <a:rPr lang="he-IL" dirty="0"/>
              <a:t> </a:t>
            </a:r>
            <a:r>
              <a:rPr lang="he-IL" dirty="0" err="1"/>
              <a:t>apartment</a:t>
            </a:r>
            <a:r>
              <a:rPr lang="he-IL" dirty="0"/>
              <a:t>, </a:t>
            </a:r>
            <a:r>
              <a:rPr lang="he-IL" dirty="0" err="1"/>
              <a:t>perfect</a:t>
            </a:r>
            <a:r>
              <a:rPr lang="he-IL" dirty="0"/>
              <a:t> for </a:t>
            </a:r>
            <a:r>
              <a:rPr lang="he-IL" dirty="0" err="1"/>
              <a:t>families</a:t>
            </a:r>
            <a:r>
              <a:rPr lang="he-IL" dirty="0"/>
              <a:t>’, האורח מצפה לדירה שקטה שמתאימה למשפחה.</a:t>
            </a:r>
          </a:p>
          <a:p>
            <a:r>
              <a:rPr lang="he-IL" dirty="0"/>
              <a:t>אבל בפועל, ביקורות יכולות לחשוף חוויה אחרת: רעש רחוב בלילה, בר מתחת לדירה, או חוסר התאמה לילדים קטנים.</a:t>
            </a:r>
          </a:p>
          <a:p>
            <a:r>
              <a:rPr lang="he-IL" dirty="0"/>
              <a:t>הפער הזה יוצר </a:t>
            </a:r>
            <a:r>
              <a:rPr lang="he-IL" dirty="0" err="1"/>
              <a:t>expectation</a:t>
            </a:r>
            <a:r>
              <a:rPr lang="he-IL" dirty="0"/>
              <a:t> </a:t>
            </a:r>
            <a:r>
              <a:rPr lang="he-IL" dirty="0" err="1"/>
              <a:t>gap</a:t>
            </a:r>
            <a:r>
              <a:rPr lang="he-IL" dirty="0"/>
              <a:t>. האורח מזמין מתוך ציפייה אחת, אבל מקבל חוויה אחרת. זה עלול להוביל לאכזבה, ביקורות שליליות ופגיעה באמון.”</a:t>
            </a:r>
          </a:p>
          <a:p>
            <a:r>
              <a:rPr lang="he-IL" dirty="0"/>
              <a:t>דגש:</a:t>
            </a:r>
            <a:br>
              <a:rPr lang="he-IL" dirty="0"/>
            </a:br>
            <a:r>
              <a:rPr lang="he-IL" dirty="0"/>
              <a:t>“אנחנו לא מנסים להגיב לכל ביקורת שלילית, אלא לזהות פערים חוזרים ומשמעותיים.”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3 - The </a:t>
            </a:r>
            <a:r>
              <a:rPr lang="he-IL" b="1" dirty="0" err="1"/>
              <a:t>Agent’s</a:t>
            </a:r>
            <a:r>
              <a:rPr lang="he-IL" b="1" dirty="0"/>
              <a:t> </a:t>
            </a:r>
            <a:r>
              <a:rPr lang="he-IL" b="1" dirty="0" err="1"/>
              <a:t>Environment</a:t>
            </a:r>
            <a:endParaRPr lang="he-IL" b="1" dirty="0"/>
          </a:p>
          <a:p>
            <a:r>
              <a:rPr lang="he-IL" b="1" dirty="0"/>
              <a:t>זמן: דקה</a:t>
            </a:r>
            <a:endParaRPr lang="he-IL" dirty="0"/>
          </a:p>
          <a:p>
            <a:r>
              <a:rPr lang="he-IL" dirty="0"/>
              <a:t>“הסוכן פועל בתוך סביבה שמורכבת מארבעה מקורות מידע.</a:t>
            </a:r>
          </a:p>
          <a:p>
            <a:r>
              <a:rPr lang="he-IL" dirty="0"/>
              <a:t>המקור הראשון הוא נתוני </a:t>
            </a:r>
            <a:r>
              <a:rPr lang="he-IL" dirty="0" err="1"/>
              <a:t>ה־listings</a:t>
            </a:r>
            <a:r>
              <a:rPr lang="he-IL" dirty="0"/>
              <a:t>: תיאור, </a:t>
            </a:r>
            <a:r>
              <a:rPr lang="he-IL" dirty="0" err="1"/>
              <a:t>amenities</a:t>
            </a:r>
            <a:r>
              <a:rPr lang="he-IL" dirty="0"/>
              <a:t>, מיקום, דירוגים ונתונים מובנים על הנכס.</a:t>
            </a:r>
          </a:p>
          <a:p>
            <a:r>
              <a:rPr lang="he-IL" dirty="0"/>
              <a:t>המקור השני הוא </a:t>
            </a:r>
            <a:r>
              <a:rPr lang="he-IL" dirty="0" err="1"/>
              <a:t>Guest</a:t>
            </a:r>
            <a:r>
              <a:rPr lang="he-IL" dirty="0"/>
              <a:t> </a:t>
            </a:r>
            <a:r>
              <a:rPr lang="he-IL" dirty="0" err="1"/>
              <a:t>Review</a:t>
            </a:r>
            <a:r>
              <a:rPr lang="he-IL" dirty="0"/>
              <a:t> RAG - ביקורות אורחים שמקושרות לכל </a:t>
            </a:r>
            <a:r>
              <a:rPr lang="he-IL" dirty="0" err="1"/>
              <a:t>listing</a:t>
            </a:r>
            <a:r>
              <a:rPr lang="he-IL" dirty="0"/>
              <a:t>.</a:t>
            </a:r>
          </a:p>
          <a:p>
            <a:r>
              <a:rPr lang="he-IL" dirty="0"/>
              <a:t>המקור השלישי הוא </a:t>
            </a:r>
            <a:r>
              <a:rPr lang="he-IL" dirty="0" err="1"/>
              <a:t>Google</a:t>
            </a:r>
            <a:r>
              <a:rPr lang="he-IL" dirty="0"/>
              <a:t> </a:t>
            </a:r>
            <a:r>
              <a:rPr lang="he-IL" dirty="0" err="1"/>
              <a:t>Places</a:t>
            </a:r>
            <a:r>
              <a:rPr lang="he-IL" dirty="0"/>
              <a:t> </a:t>
            </a:r>
            <a:r>
              <a:rPr lang="he-IL" dirty="0" err="1"/>
              <a:t>Context</a:t>
            </a:r>
            <a:r>
              <a:rPr lang="he-IL" dirty="0"/>
              <a:t>, שנותן מידע על הסביבה: ברים, מסעדות, אטרקציות ושירותים קרובים.</a:t>
            </a:r>
          </a:p>
          <a:p>
            <a:r>
              <a:rPr lang="he-IL" dirty="0"/>
              <a:t>והמקור הרביעי הוא </a:t>
            </a:r>
            <a:r>
              <a:rPr lang="he-IL" dirty="0" err="1"/>
              <a:t>Guest</a:t>
            </a:r>
            <a:r>
              <a:rPr lang="he-IL" dirty="0"/>
              <a:t> </a:t>
            </a:r>
            <a:r>
              <a:rPr lang="he-IL" dirty="0" err="1"/>
              <a:t>Expectations</a:t>
            </a:r>
            <a:r>
              <a:rPr lang="he-IL" dirty="0"/>
              <a:t> - כלומר הבנה של איך סוגי אורחים שונים מפרשים את אותה עובדה.</a:t>
            </a:r>
          </a:p>
          <a:p>
            <a:r>
              <a:rPr lang="he-IL" dirty="0"/>
              <a:t>לדוגמה, </a:t>
            </a:r>
            <a:r>
              <a:rPr lang="he-IL" dirty="0" err="1"/>
              <a:t>nightlife</a:t>
            </a:r>
            <a:r>
              <a:rPr lang="he-IL" dirty="0"/>
              <a:t> </a:t>
            </a:r>
            <a:r>
              <a:rPr lang="he-IL" dirty="0" err="1"/>
              <a:t>nearby</a:t>
            </a:r>
            <a:r>
              <a:rPr lang="he-IL" dirty="0"/>
              <a:t> יכול להיות יתרון עבור צעירים, אבל חיסרון עבור משפחות או עובדים מרחוק.”</a:t>
            </a:r>
          </a:p>
          <a:p>
            <a:r>
              <a:rPr lang="he-IL" dirty="0"/>
              <a:t>דגש חשוב:</a:t>
            </a:r>
            <a:br>
              <a:rPr lang="he-IL" dirty="0"/>
            </a:br>
            <a:r>
              <a:rPr lang="he-IL" dirty="0"/>
              <a:t>“הסוכן לא חייב להשתמש בכל המקורות בכל ריצה. הוא בוחר בזמן אמת איזה מקור רלוונטי לפי הפער שהוא בודק.”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4 - The </a:t>
            </a:r>
            <a:r>
              <a:rPr lang="he-IL" b="1" dirty="0" err="1"/>
              <a:t>Agent</a:t>
            </a:r>
            <a:r>
              <a:rPr lang="he-IL" b="1" dirty="0"/>
              <a:t> </a:t>
            </a:r>
            <a:r>
              <a:rPr lang="he-IL" b="1" dirty="0" err="1"/>
              <a:t>Chooses</a:t>
            </a:r>
            <a:r>
              <a:rPr lang="he-IL" b="1" dirty="0"/>
              <a:t> </a:t>
            </a:r>
            <a:r>
              <a:rPr lang="he-IL" b="1" dirty="0" err="1"/>
              <a:t>Actions</a:t>
            </a:r>
            <a:r>
              <a:rPr lang="he-IL" b="1" dirty="0"/>
              <a:t>, </a:t>
            </a:r>
            <a:r>
              <a:rPr lang="he-IL" b="1" dirty="0" err="1"/>
              <a:t>Not</a:t>
            </a:r>
            <a:r>
              <a:rPr lang="he-IL" b="1" dirty="0"/>
              <a:t> </a:t>
            </a:r>
            <a:r>
              <a:rPr lang="he-IL" b="1" dirty="0" err="1"/>
              <a:t>Steps</a:t>
            </a:r>
            <a:endParaRPr lang="he-IL" b="1" dirty="0"/>
          </a:p>
          <a:p>
            <a:r>
              <a:rPr lang="he-IL" b="1" dirty="0"/>
              <a:t>זמן: דקה ורבע</a:t>
            </a:r>
            <a:endParaRPr lang="he-IL" dirty="0"/>
          </a:p>
          <a:p>
            <a:r>
              <a:rPr lang="he-IL" dirty="0"/>
              <a:t>“זה אחד השקפים הכי חשובים מבחינת האוטונומיה.</a:t>
            </a:r>
          </a:p>
          <a:p>
            <a:r>
              <a:rPr lang="he-IL" dirty="0"/>
              <a:t>הסוכן לא עובד לפי </a:t>
            </a:r>
            <a:r>
              <a:rPr lang="he-IL" dirty="0" err="1"/>
              <a:t>pipeline</a:t>
            </a:r>
            <a:r>
              <a:rPr lang="he-IL" dirty="0"/>
              <a:t> קבוע של שלבים. במקום זה, יש לו מרחב פעולות שהוא יכול לבחור ממנו בזמן ריצה.</a:t>
            </a:r>
          </a:p>
          <a:p>
            <a:r>
              <a:rPr lang="he-IL" dirty="0"/>
              <a:t>הוא יכול לזהות פער, לאסוף ראיות, לפרש את הפער לפי סוג האורח, לנסח עריכה, לשלוח </a:t>
            </a:r>
            <a:r>
              <a:rPr lang="he-IL" dirty="0" err="1"/>
              <a:t>ל־Supervisor</a:t>
            </a:r>
            <a:r>
              <a:rPr lang="he-IL" dirty="0"/>
              <a:t>, או לעצור בלי פעולה.</a:t>
            </a:r>
          </a:p>
          <a:p>
            <a:r>
              <a:rPr lang="he-IL" dirty="0"/>
              <a:t>הנקודה המרכזית היא שהפעולות האלה אינן </a:t>
            </a:r>
            <a:r>
              <a:rPr lang="he-IL" dirty="0" err="1"/>
              <a:t>sequence</a:t>
            </a:r>
            <a:r>
              <a:rPr lang="he-IL" dirty="0"/>
              <a:t> קבוע. הסוכן יכול לדלג, לחזור אחורה, לאסוף עוד מידע, לתכנן מחדש או לעצור.</a:t>
            </a:r>
          </a:p>
          <a:p>
            <a:r>
              <a:rPr lang="he-IL" dirty="0"/>
              <a:t>לדוגמה, אם יש פער בנושא רעש, הוא יחפש ביקורות על </a:t>
            </a:r>
            <a:r>
              <a:rPr lang="he-IL" dirty="0" err="1"/>
              <a:t>noise</a:t>
            </a:r>
            <a:r>
              <a:rPr lang="he-IL" dirty="0"/>
              <a:t> ואולי יבדוק </a:t>
            </a:r>
            <a:r>
              <a:rPr lang="he-IL" dirty="0" err="1"/>
              <a:t>Google</a:t>
            </a:r>
            <a:r>
              <a:rPr lang="he-IL" dirty="0"/>
              <a:t> </a:t>
            </a:r>
            <a:r>
              <a:rPr lang="he-IL" dirty="0" err="1"/>
              <a:t>Places</a:t>
            </a:r>
            <a:r>
              <a:rPr lang="he-IL" dirty="0"/>
              <a:t>. אם יש פער בנושא </a:t>
            </a:r>
            <a:r>
              <a:rPr lang="he-IL" dirty="0" err="1"/>
              <a:t>Wi-Fi</a:t>
            </a:r>
            <a:r>
              <a:rPr lang="he-IL" dirty="0"/>
              <a:t>, הוא יתמקד בביקורות </a:t>
            </a:r>
            <a:r>
              <a:rPr lang="he-IL" dirty="0" err="1"/>
              <a:t>וב־amenities</a:t>
            </a:r>
            <a:r>
              <a:rPr lang="he-IL" dirty="0"/>
              <a:t>. אם אין מספיק ראיות, הוא לא יערוך את הדף.”</a:t>
            </a:r>
          </a:p>
          <a:p>
            <a:r>
              <a:rPr lang="he-IL" dirty="0"/>
              <a:t>משפט חזק:</a:t>
            </a:r>
            <a:br>
              <a:rPr lang="he-IL" dirty="0"/>
            </a:br>
            <a:r>
              <a:rPr lang="he-IL" dirty="0"/>
              <a:t>“</a:t>
            </a:r>
            <a:r>
              <a:rPr lang="he-IL" dirty="0" err="1"/>
              <a:t>Autonomy</a:t>
            </a:r>
            <a:r>
              <a:rPr lang="he-IL" dirty="0"/>
              <a:t> </a:t>
            </a:r>
            <a:r>
              <a:rPr lang="he-IL" dirty="0" err="1"/>
              <a:t>here</a:t>
            </a:r>
            <a:r>
              <a:rPr lang="he-IL" dirty="0"/>
              <a:t> </a:t>
            </a:r>
            <a:r>
              <a:rPr lang="he-IL" dirty="0" err="1"/>
              <a:t>means</a:t>
            </a:r>
            <a:r>
              <a:rPr lang="he-IL" dirty="0"/>
              <a:t> </a:t>
            </a:r>
            <a:r>
              <a:rPr lang="he-IL" dirty="0" err="1"/>
              <a:t>choosing</a:t>
            </a:r>
            <a:r>
              <a:rPr lang="he-IL" dirty="0"/>
              <a:t> the </a:t>
            </a:r>
            <a:r>
              <a:rPr lang="he-IL" dirty="0" err="1"/>
              <a:t>next</a:t>
            </a:r>
            <a:r>
              <a:rPr lang="he-IL" dirty="0"/>
              <a:t> </a:t>
            </a:r>
            <a:r>
              <a:rPr lang="he-IL" dirty="0" err="1"/>
              <a:t>action</a:t>
            </a:r>
            <a:r>
              <a:rPr lang="he-IL" dirty="0"/>
              <a:t> </a:t>
            </a:r>
            <a:r>
              <a:rPr lang="he-IL" dirty="0" err="1"/>
              <a:t>based</a:t>
            </a:r>
            <a:r>
              <a:rPr lang="he-IL" dirty="0"/>
              <a:t> </a:t>
            </a:r>
            <a:r>
              <a:rPr lang="he-IL" dirty="0" err="1"/>
              <a:t>on</a:t>
            </a:r>
            <a:r>
              <a:rPr lang="he-IL" dirty="0"/>
              <a:t> </a:t>
            </a:r>
            <a:r>
              <a:rPr lang="he-IL" dirty="0" err="1"/>
              <a:t>evidence</a:t>
            </a:r>
            <a:r>
              <a:rPr lang="he-IL" dirty="0"/>
              <a:t>, </a:t>
            </a:r>
            <a:r>
              <a:rPr lang="he-IL" dirty="0" err="1"/>
              <a:t>not</a:t>
            </a:r>
            <a:r>
              <a:rPr lang="he-IL" dirty="0"/>
              <a:t> </a:t>
            </a:r>
            <a:r>
              <a:rPr lang="he-IL" dirty="0" err="1"/>
              <a:t>following</a:t>
            </a:r>
            <a:r>
              <a:rPr lang="he-IL" dirty="0"/>
              <a:t> </a:t>
            </a:r>
            <a:r>
              <a:rPr lang="he-IL" dirty="0" err="1"/>
              <a:t>predefined</a:t>
            </a:r>
            <a:r>
              <a:rPr lang="he-IL" dirty="0"/>
              <a:t> </a:t>
            </a:r>
            <a:r>
              <a:rPr lang="he-IL" dirty="0" err="1"/>
              <a:t>steps</a:t>
            </a:r>
            <a:r>
              <a:rPr lang="he-IL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5 - </a:t>
            </a:r>
            <a:r>
              <a:rPr lang="he-IL" b="1" dirty="0" err="1"/>
              <a:t>ReAct-Based</a:t>
            </a:r>
            <a:r>
              <a:rPr lang="he-IL" b="1" dirty="0"/>
              <a:t> </a:t>
            </a:r>
            <a:r>
              <a:rPr lang="he-IL" b="1" dirty="0" err="1"/>
              <a:t>Autonomous</a:t>
            </a:r>
            <a:r>
              <a:rPr lang="he-IL" b="1" dirty="0"/>
              <a:t> </a:t>
            </a:r>
            <a:r>
              <a:rPr lang="he-IL" b="1" dirty="0" err="1"/>
              <a:t>Architecture</a:t>
            </a:r>
            <a:endParaRPr lang="he-IL" b="1" dirty="0"/>
          </a:p>
          <a:p>
            <a:r>
              <a:rPr lang="he-IL" b="1" dirty="0"/>
              <a:t>זמן: דקה וחצי</a:t>
            </a:r>
            <a:endParaRPr lang="he-IL" dirty="0"/>
          </a:p>
          <a:p>
            <a:r>
              <a:rPr lang="he-IL" dirty="0"/>
              <a:t>“כאן רואים את הארכיטקטורה של הסוכן.</a:t>
            </a:r>
          </a:p>
          <a:p>
            <a:r>
              <a:rPr lang="he-IL" dirty="0"/>
              <a:t>המטרה מוגדרת למעלה: לשמור שדף </a:t>
            </a:r>
            <a:r>
              <a:rPr lang="he-IL" dirty="0" err="1"/>
              <a:t>Airbnb</a:t>
            </a:r>
            <a:r>
              <a:rPr lang="he-IL" dirty="0"/>
              <a:t> יהיה מיושר עם חוויית האורחים.</a:t>
            </a:r>
          </a:p>
          <a:p>
            <a:r>
              <a:rPr lang="he-IL" dirty="0"/>
              <a:t>במרכז נמצא הסוכן הראשי: </a:t>
            </a:r>
            <a:r>
              <a:rPr lang="he-IL" dirty="0" err="1"/>
              <a:t>Autonomous</a:t>
            </a:r>
            <a:r>
              <a:rPr lang="he-IL" dirty="0"/>
              <a:t> </a:t>
            </a:r>
            <a:r>
              <a:rPr lang="he-IL" dirty="0" err="1"/>
              <a:t>Listing</a:t>
            </a:r>
            <a:r>
              <a:rPr lang="he-IL" dirty="0"/>
              <a:t> </a:t>
            </a:r>
            <a:r>
              <a:rPr lang="he-IL" dirty="0" err="1"/>
              <a:t>Editor</a:t>
            </a:r>
            <a:r>
              <a:rPr lang="he-IL" dirty="0"/>
              <a:t> </a:t>
            </a:r>
            <a:r>
              <a:rPr lang="he-IL" dirty="0" err="1"/>
              <a:t>Agent</a:t>
            </a:r>
            <a:r>
              <a:rPr lang="he-IL" dirty="0"/>
              <a:t>. הוא פועל בלולאת </a:t>
            </a:r>
            <a:r>
              <a:rPr lang="he-IL" dirty="0" err="1"/>
              <a:t>ReAct</a:t>
            </a:r>
            <a:r>
              <a:rPr lang="he-IL" dirty="0"/>
              <a:t>:</a:t>
            </a:r>
            <a:br>
              <a:rPr lang="he-IL" dirty="0"/>
            </a:br>
            <a:r>
              <a:rPr lang="he-IL" dirty="0" err="1"/>
              <a:t>Reason</a:t>
            </a:r>
            <a:r>
              <a:rPr lang="he-IL" dirty="0"/>
              <a:t>, </a:t>
            </a:r>
            <a:r>
              <a:rPr lang="he-IL" dirty="0" err="1"/>
              <a:t>Choose</a:t>
            </a:r>
            <a:r>
              <a:rPr lang="he-IL" dirty="0"/>
              <a:t> </a:t>
            </a:r>
            <a:r>
              <a:rPr lang="he-IL" dirty="0" err="1"/>
              <a:t>Tool</a:t>
            </a:r>
            <a:r>
              <a:rPr lang="he-IL" dirty="0"/>
              <a:t>, </a:t>
            </a:r>
            <a:r>
              <a:rPr lang="he-IL" dirty="0" err="1"/>
              <a:t>Observe</a:t>
            </a:r>
            <a:r>
              <a:rPr lang="he-IL" dirty="0"/>
              <a:t>, </a:t>
            </a:r>
            <a:r>
              <a:rPr lang="he-IL" dirty="0" err="1"/>
              <a:t>Update</a:t>
            </a:r>
            <a:r>
              <a:rPr lang="he-IL" dirty="0"/>
              <a:t> </a:t>
            </a:r>
            <a:r>
              <a:rPr lang="he-IL" dirty="0" err="1"/>
              <a:t>State</a:t>
            </a:r>
            <a:r>
              <a:rPr lang="he-IL" dirty="0"/>
              <a:t>, ואז </a:t>
            </a:r>
            <a:r>
              <a:rPr lang="he-IL" dirty="0" err="1"/>
              <a:t>Replan</a:t>
            </a:r>
            <a:r>
              <a:rPr lang="he-IL" dirty="0"/>
              <a:t> או </a:t>
            </a:r>
            <a:r>
              <a:rPr lang="he-IL" dirty="0" err="1"/>
              <a:t>Stop</a:t>
            </a:r>
            <a:r>
              <a:rPr lang="he-IL" dirty="0"/>
              <a:t>.</a:t>
            </a:r>
          </a:p>
          <a:p>
            <a:r>
              <a:rPr lang="he-IL" dirty="0"/>
              <a:t>מסביבו יש כלים שהוא יכול לבחור דינמית:</a:t>
            </a:r>
            <a:br>
              <a:rPr lang="he-IL" dirty="0"/>
            </a:br>
            <a:r>
              <a:rPr lang="he-IL" dirty="0"/>
              <a:t>כלים של </a:t>
            </a:r>
            <a:r>
              <a:rPr lang="he-IL" dirty="0" err="1"/>
              <a:t>listing</a:t>
            </a:r>
            <a:r>
              <a:rPr lang="he-IL" dirty="0"/>
              <a:t>, כלים של ביקורות RAG, </a:t>
            </a:r>
            <a:r>
              <a:rPr lang="he-IL" dirty="0" err="1"/>
              <a:t>Google</a:t>
            </a:r>
            <a:r>
              <a:rPr lang="he-IL" dirty="0"/>
              <a:t> </a:t>
            </a:r>
            <a:r>
              <a:rPr lang="he-IL" dirty="0" err="1"/>
              <a:t>Places</a:t>
            </a:r>
            <a:r>
              <a:rPr lang="he-IL" dirty="0"/>
              <a:t>, וכלי עריכה והחלטה.</a:t>
            </a:r>
          </a:p>
          <a:p>
            <a:r>
              <a:rPr lang="he-IL" dirty="0"/>
              <a:t>הסוכן לא מפעיל את כולם תמיד. הוא בוחר לפי המצב הנוכחי ולפי </a:t>
            </a:r>
            <a:r>
              <a:rPr lang="he-IL" dirty="0" err="1"/>
              <a:t>ה־gap</a:t>
            </a:r>
            <a:r>
              <a:rPr lang="he-IL" dirty="0"/>
              <a:t> </a:t>
            </a:r>
            <a:r>
              <a:rPr lang="he-IL" dirty="0" err="1"/>
              <a:t>hypothesis</a:t>
            </a:r>
            <a:r>
              <a:rPr lang="he-IL" dirty="0"/>
              <a:t> שהוא בונה.</a:t>
            </a:r>
          </a:p>
          <a:p>
            <a:r>
              <a:rPr lang="he-IL" dirty="0"/>
              <a:t>אם נוצרת פעולה מוצעת, למשל שינוי בתיאור, היא עוברת </a:t>
            </a:r>
            <a:r>
              <a:rPr lang="he-IL" dirty="0" err="1"/>
              <a:t>ל־Supervisor</a:t>
            </a:r>
            <a:r>
              <a:rPr lang="he-IL" dirty="0"/>
              <a:t>.</a:t>
            </a:r>
            <a:br>
              <a:rPr lang="he-IL" dirty="0"/>
            </a:br>
            <a:r>
              <a:rPr lang="he-IL" dirty="0" err="1"/>
              <a:t>ה־Supervisor</a:t>
            </a:r>
            <a:r>
              <a:rPr lang="he-IL" dirty="0"/>
              <a:t> יכול לאשר, להחזיר לתכנון מחדש, או לחסום.</a:t>
            </a:r>
          </a:p>
          <a:p>
            <a:r>
              <a:rPr lang="he-IL" dirty="0"/>
              <a:t>רק אחרי אישור של </a:t>
            </a:r>
            <a:r>
              <a:rPr lang="he-IL" dirty="0" err="1"/>
              <a:t>Supervisor</a:t>
            </a:r>
            <a:r>
              <a:rPr lang="he-IL" dirty="0"/>
              <a:t> מתבצע עדכון בפועל ונכתב </a:t>
            </a:r>
            <a:r>
              <a:rPr lang="he-IL" dirty="0" err="1"/>
              <a:t>audit</a:t>
            </a:r>
            <a:r>
              <a:rPr lang="he-IL" dirty="0"/>
              <a:t> </a:t>
            </a:r>
            <a:r>
              <a:rPr lang="he-IL" dirty="0" err="1"/>
              <a:t>log</a:t>
            </a:r>
            <a:r>
              <a:rPr lang="he-IL" dirty="0"/>
              <a:t>.”</a:t>
            </a:r>
          </a:p>
          <a:p>
            <a:r>
              <a:rPr lang="he-IL" dirty="0"/>
              <a:t>דגש:</a:t>
            </a:r>
            <a:br>
              <a:rPr lang="he-IL" dirty="0"/>
            </a:br>
            <a:r>
              <a:rPr lang="he-IL" dirty="0"/>
              <a:t>“זה לא </a:t>
            </a:r>
            <a:r>
              <a:rPr lang="he-IL" dirty="0" err="1"/>
              <a:t>workflow</a:t>
            </a:r>
            <a:r>
              <a:rPr lang="he-IL" dirty="0"/>
              <a:t> קבוע. זו לולאה שבה תצפיות חדשות משפיעות על הפעולה הבאה.”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6 - </a:t>
            </a:r>
            <a:r>
              <a:rPr lang="he-IL" b="1" dirty="0" err="1"/>
              <a:t>Example</a:t>
            </a:r>
            <a:r>
              <a:rPr lang="he-IL" b="1" dirty="0"/>
              <a:t>: </a:t>
            </a:r>
            <a:r>
              <a:rPr lang="he-IL" b="1" dirty="0" err="1"/>
              <a:t>From</a:t>
            </a:r>
            <a:r>
              <a:rPr lang="he-IL" b="1" dirty="0"/>
              <a:t> </a:t>
            </a:r>
            <a:r>
              <a:rPr lang="he-IL" b="1" dirty="0" err="1"/>
              <a:t>Evidence</a:t>
            </a:r>
            <a:r>
              <a:rPr lang="he-IL" b="1" dirty="0"/>
              <a:t> </a:t>
            </a:r>
            <a:r>
              <a:rPr lang="he-IL" b="1" dirty="0" err="1"/>
              <a:t>to</a:t>
            </a:r>
            <a:r>
              <a:rPr lang="he-IL" b="1" dirty="0"/>
              <a:t> </a:t>
            </a:r>
            <a:r>
              <a:rPr lang="he-IL" b="1" dirty="0" err="1"/>
              <a:t>Approved</a:t>
            </a:r>
            <a:r>
              <a:rPr lang="he-IL" b="1" dirty="0"/>
              <a:t> </a:t>
            </a:r>
            <a:r>
              <a:rPr lang="he-IL" b="1" dirty="0" err="1"/>
              <a:t>Listing</a:t>
            </a:r>
            <a:r>
              <a:rPr lang="he-IL" b="1" dirty="0"/>
              <a:t> </a:t>
            </a:r>
            <a:r>
              <a:rPr lang="he-IL" b="1" dirty="0" err="1"/>
              <a:t>Edit</a:t>
            </a:r>
            <a:endParaRPr lang="he-IL" b="1" dirty="0"/>
          </a:p>
          <a:p>
            <a:r>
              <a:rPr lang="he-IL" b="1" dirty="0"/>
              <a:t>זמן: דקה</a:t>
            </a:r>
            <a:endParaRPr lang="he-IL" dirty="0"/>
          </a:p>
          <a:p>
            <a:r>
              <a:rPr lang="he-IL" dirty="0"/>
              <a:t>“כאן אנחנו מראים דוגמה קונקרטית.</a:t>
            </a:r>
          </a:p>
          <a:p>
            <a:r>
              <a:rPr lang="he-IL" dirty="0" err="1"/>
              <a:t>ה־listing</a:t>
            </a:r>
            <a:r>
              <a:rPr lang="he-IL" dirty="0"/>
              <a:t> </a:t>
            </a:r>
            <a:r>
              <a:rPr lang="he-IL" dirty="0" err="1"/>
              <a:t>claim</a:t>
            </a:r>
            <a:r>
              <a:rPr lang="he-IL" dirty="0"/>
              <a:t> הוא:</a:t>
            </a:r>
            <a:br>
              <a:rPr lang="he-IL" dirty="0"/>
            </a:br>
            <a:r>
              <a:rPr lang="he-IL" dirty="0"/>
              <a:t>‘</a:t>
            </a:r>
            <a:r>
              <a:rPr lang="he-IL" dirty="0" err="1"/>
              <a:t>Quiet</a:t>
            </a:r>
            <a:r>
              <a:rPr lang="he-IL" dirty="0"/>
              <a:t> </a:t>
            </a:r>
            <a:r>
              <a:rPr lang="he-IL" dirty="0" err="1"/>
              <a:t>apartment</a:t>
            </a:r>
            <a:r>
              <a:rPr lang="he-IL" dirty="0"/>
              <a:t>, </a:t>
            </a:r>
            <a:r>
              <a:rPr lang="he-IL" dirty="0" err="1"/>
              <a:t>perfect</a:t>
            </a:r>
            <a:r>
              <a:rPr lang="he-IL" dirty="0"/>
              <a:t> for </a:t>
            </a:r>
            <a:r>
              <a:rPr lang="he-IL" dirty="0" err="1"/>
              <a:t>families</a:t>
            </a:r>
            <a:r>
              <a:rPr lang="he-IL" dirty="0"/>
              <a:t>.’</a:t>
            </a:r>
          </a:p>
          <a:p>
            <a:r>
              <a:rPr lang="he-IL" dirty="0"/>
              <a:t>אבל הראיות אומרות משהו אחר: ביקורות חוזרות מזכירות </a:t>
            </a:r>
            <a:r>
              <a:rPr lang="he-IL" dirty="0" err="1"/>
              <a:t>street</a:t>
            </a:r>
            <a:r>
              <a:rPr lang="he-IL" dirty="0"/>
              <a:t> </a:t>
            </a:r>
            <a:r>
              <a:rPr lang="he-IL" dirty="0" err="1"/>
              <a:t>noise</a:t>
            </a:r>
            <a:r>
              <a:rPr lang="he-IL" dirty="0"/>
              <a:t>, אורחים מזכירים </a:t>
            </a:r>
            <a:r>
              <a:rPr lang="he-IL" dirty="0" err="1"/>
              <a:t>bar</a:t>
            </a:r>
            <a:r>
              <a:rPr lang="he-IL" dirty="0"/>
              <a:t> </a:t>
            </a:r>
            <a:r>
              <a:rPr lang="he-IL" dirty="0" err="1"/>
              <a:t>downstairs</a:t>
            </a:r>
            <a:r>
              <a:rPr lang="he-IL" dirty="0"/>
              <a:t>, </a:t>
            </a:r>
            <a:r>
              <a:rPr lang="he-IL" dirty="0" err="1"/>
              <a:t>ו־Google</a:t>
            </a:r>
            <a:r>
              <a:rPr lang="he-IL" dirty="0"/>
              <a:t> </a:t>
            </a:r>
            <a:r>
              <a:rPr lang="he-IL" dirty="0" err="1"/>
              <a:t>Places</a:t>
            </a:r>
            <a:r>
              <a:rPr lang="he-IL" dirty="0"/>
              <a:t> מאשר שיש ברים ומסעדות קרובים.</a:t>
            </a:r>
          </a:p>
          <a:p>
            <a:r>
              <a:rPr lang="he-IL" dirty="0"/>
              <a:t>הסוכן מזהה שיש כאן פער בין ההבטחה בדף לבין המציאות.</a:t>
            </a:r>
          </a:p>
          <a:p>
            <a:r>
              <a:rPr lang="he-IL" dirty="0"/>
              <a:t>במקום להציג את הדירה כשקטה, הוא מציע ניסוח יותר שקוף:</a:t>
            </a:r>
            <a:br>
              <a:rPr lang="he-IL" dirty="0"/>
            </a:br>
            <a:r>
              <a:rPr lang="he-IL" dirty="0"/>
              <a:t>הדירה נמצאת באזור תוסס בליסבון, קרובה למסעדות וברים, וייתכן רעש רחוב בלילה.</a:t>
            </a:r>
          </a:p>
          <a:p>
            <a:r>
              <a:rPr lang="he-IL" dirty="0"/>
              <a:t>זה לא ניסוח שלילי - זה ניסוח שמיישר ציפיות.”</a:t>
            </a:r>
          </a:p>
          <a:p>
            <a:r>
              <a:rPr lang="he-IL" dirty="0"/>
              <a:t>דגש:</a:t>
            </a:r>
            <a:br>
              <a:rPr lang="he-IL" dirty="0"/>
            </a:br>
            <a:r>
              <a:rPr lang="he-IL" dirty="0"/>
              <a:t>“הסוכן לא מסתיר את החיסרון, אלא הופך אותו לציפייה מדויקת יותר.”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7 - The </a:t>
            </a:r>
            <a:r>
              <a:rPr lang="he-IL" b="1" dirty="0" err="1"/>
              <a:t>Control</a:t>
            </a:r>
            <a:r>
              <a:rPr lang="he-IL" b="1" dirty="0"/>
              <a:t> </a:t>
            </a:r>
            <a:r>
              <a:rPr lang="he-IL" b="1" dirty="0" err="1"/>
              <a:t>Layer</a:t>
            </a:r>
            <a:endParaRPr lang="he-IL" b="1" dirty="0"/>
          </a:p>
          <a:p>
            <a:r>
              <a:rPr lang="he-IL" b="1" dirty="0"/>
              <a:t>זמן: דקה</a:t>
            </a:r>
            <a:endParaRPr lang="he-IL" dirty="0"/>
          </a:p>
          <a:p>
            <a:r>
              <a:rPr lang="he-IL" dirty="0"/>
              <a:t>“כאן רואים את שכבת הבקרה.</a:t>
            </a:r>
          </a:p>
          <a:p>
            <a:r>
              <a:rPr lang="he-IL" dirty="0" err="1"/>
              <a:t>ה־Supervisor</a:t>
            </a:r>
            <a:r>
              <a:rPr lang="he-IL" dirty="0"/>
              <a:t> לא מחליף את הסוכן הראשי. הסוכן הראשי עדיין אחראי לחשיבה, איסוף ראיות ותכנון מחדש.</a:t>
            </a:r>
          </a:p>
          <a:p>
            <a:r>
              <a:rPr lang="he-IL" dirty="0"/>
              <a:t>התפקיד של </a:t>
            </a:r>
            <a:r>
              <a:rPr lang="he-IL" dirty="0" err="1"/>
              <a:t>ה־Supervisor</a:t>
            </a:r>
            <a:r>
              <a:rPr lang="he-IL" dirty="0"/>
              <a:t> הוא להחליט האם פעולה מוצעת יכולה להגיע לדף הנכס.</a:t>
            </a:r>
          </a:p>
          <a:p>
            <a:r>
              <a:rPr lang="he-IL" dirty="0"/>
              <a:t>אם יש ראיות חזקות, ניסוח הוגן והפעולה בתוך הסקופ - הוא מאשר.</a:t>
            </a:r>
          </a:p>
          <a:p>
            <a:r>
              <a:rPr lang="he-IL" dirty="0"/>
              <a:t>אם צריך עוד ראיות או תיקון ניסוח - הוא מחזיר את הסוכן לתכנון מחדש.</a:t>
            </a:r>
          </a:p>
          <a:p>
            <a:r>
              <a:rPr lang="he-IL" dirty="0"/>
              <a:t>אם הראיות חלשות, יש עובדות שהומצאו, או שהבקשה מחוץ לסקופ - הוא חוסם.</a:t>
            </a:r>
          </a:p>
          <a:p>
            <a:r>
              <a:rPr lang="he-IL" dirty="0"/>
              <a:t>זה חשוב כי הסוכן אוטונומי, אבל לא בלתי מוגבל.”</a:t>
            </a:r>
          </a:p>
          <a:p>
            <a:r>
              <a:rPr lang="he-IL" dirty="0"/>
              <a:t>משפט חזק:</a:t>
            </a:r>
            <a:br>
              <a:rPr lang="he-IL" dirty="0"/>
            </a:br>
            <a:r>
              <a:rPr lang="he-IL" dirty="0"/>
              <a:t>“</a:t>
            </a:r>
            <a:r>
              <a:rPr lang="he-IL" dirty="0" err="1"/>
              <a:t>Autonomous</a:t>
            </a:r>
            <a:r>
              <a:rPr lang="he-IL" dirty="0"/>
              <a:t> </a:t>
            </a:r>
            <a:r>
              <a:rPr lang="he-IL" dirty="0" err="1"/>
              <a:t>does</a:t>
            </a:r>
            <a:r>
              <a:rPr lang="he-IL" dirty="0"/>
              <a:t> </a:t>
            </a:r>
            <a:r>
              <a:rPr lang="he-IL" dirty="0" err="1"/>
              <a:t>not</a:t>
            </a:r>
            <a:r>
              <a:rPr lang="he-IL" dirty="0"/>
              <a:t> </a:t>
            </a:r>
            <a:r>
              <a:rPr lang="he-IL" dirty="0" err="1"/>
              <a:t>mean</a:t>
            </a:r>
            <a:r>
              <a:rPr lang="he-IL" dirty="0"/>
              <a:t> </a:t>
            </a:r>
            <a:r>
              <a:rPr lang="he-IL" dirty="0" err="1"/>
              <a:t>uncontrolled</a:t>
            </a:r>
            <a:r>
              <a:rPr lang="he-IL" dirty="0"/>
              <a:t>. </a:t>
            </a:r>
            <a:r>
              <a:rPr lang="he-IL" dirty="0" err="1"/>
              <a:t>It</a:t>
            </a:r>
            <a:r>
              <a:rPr lang="he-IL" dirty="0"/>
              <a:t> </a:t>
            </a:r>
            <a:r>
              <a:rPr lang="he-IL" dirty="0" err="1"/>
              <a:t>means</a:t>
            </a:r>
            <a:r>
              <a:rPr lang="he-IL" dirty="0"/>
              <a:t> </a:t>
            </a:r>
            <a:r>
              <a:rPr lang="he-IL" dirty="0" err="1"/>
              <a:t>goal-driven</a:t>
            </a:r>
            <a:r>
              <a:rPr lang="he-IL" dirty="0"/>
              <a:t> </a:t>
            </a:r>
            <a:r>
              <a:rPr lang="he-IL" dirty="0" err="1"/>
              <a:t>action</a:t>
            </a:r>
            <a:r>
              <a:rPr lang="he-IL" dirty="0"/>
              <a:t> </a:t>
            </a:r>
            <a:r>
              <a:rPr lang="he-IL" dirty="0" err="1"/>
              <a:t>within</a:t>
            </a:r>
            <a:r>
              <a:rPr lang="he-IL" dirty="0"/>
              <a:t> </a:t>
            </a:r>
            <a:r>
              <a:rPr lang="he-IL" dirty="0" err="1"/>
              <a:t>clear</a:t>
            </a:r>
            <a:r>
              <a:rPr lang="he-IL" dirty="0"/>
              <a:t> </a:t>
            </a:r>
            <a:r>
              <a:rPr lang="he-IL" dirty="0" err="1"/>
              <a:t>boundaries</a:t>
            </a:r>
            <a:r>
              <a:rPr lang="he-IL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שקף 8 </a:t>
            </a:r>
            <a:r>
              <a:rPr lang="en-US" b="1" dirty="0"/>
              <a:t>-</a:t>
            </a:r>
            <a:r>
              <a:rPr lang="he-IL" b="1" dirty="0"/>
              <a:t> </a:t>
            </a:r>
            <a:r>
              <a:rPr lang="he-IL" b="1" dirty="0" err="1"/>
              <a:t>Why</a:t>
            </a:r>
            <a:r>
              <a:rPr lang="he-IL" b="1" dirty="0"/>
              <a:t> </a:t>
            </a:r>
            <a:r>
              <a:rPr lang="he-IL" b="1" dirty="0" err="1"/>
              <a:t>This</a:t>
            </a:r>
            <a:r>
              <a:rPr lang="he-IL" b="1" dirty="0"/>
              <a:t> </a:t>
            </a:r>
            <a:r>
              <a:rPr lang="he-IL" b="1" dirty="0" err="1"/>
              <a:t>Is</a:t>
            </a:r>
            <a:r>
              <a:rPr lang="he-IL" b="1" dirty="0"/>
              <a:t> </a:t>
            </a:r>
            <a:r>
              <a:rPr lang="he-IL" b="1" dirty="0" err="1"/>
              <a:t>Autonomy</a:t>
            </a:r>
            <a:r>
              <a:rPr lang="he-IL" b="1" dirty="0"/>
              <a:t>, </a:t>
            </a:r>
            <a:r>
              <a:rPr lang="he-IL" b="1" dirty="0" err="1"/>
              <a:t>Not</a:t>
            </a:r>
            <a:r>
              <a:rPr lang="he-IL" b="1" dirty="0"/>
              <a:t> </a:t>
            </a:r>
            <a:r>
              <a:rPr lang="he-IL" b="1" dirty="0" err="1"/>
              <a:t>Automation</a:t>
            </a:r>
            <a:endParaRPr lang="he-IL" b="1" dirty="0"/>
          </a:p>
          <a:p>
            <a:r>
              <a:rPr lang="he-IL" b="1" dirty="0"/>
              <a:t>זמן: דקה</a:t>
            </a:r>
            <a:endParaRPr lang="he-IL" dirty="0"/>
          </a:p>
          <a:p>
            <a:r>
              <a:rPr lang="he-IL" dirty="0"/>
              <a:t>“בשקף האחרון אנחנו מסכמים את ההבדל בין </a:t>
            </a:r>
            <a:r>
              <a:rPr lang="he-IL" dirty="0" err="1"/>
              <a:t>automation</a:t>
            </a:r>
            <a:r>
              <a:rPr lang="he-IL" dirty="0"/>
              <a:t> לבין </a:t>
            </a:r>
            <a:r>
              <a:rPr lang="he-IL" dirty="0" err="1"/>
              <a:t>autonomy</a:t>
            </a:r>
            <a:r>
              <a:rPr lang="he-IL" dirty="0"/>
              <a:t>.</a:t>
            </a:r>
          </a:p>
          <a:p>
            <a:r>
              <a:rPr lang="he-IL" dirty="0" err="1"/>
              <a:t>ב־Fixed</a:t>
            </a:r>
            <a:r>
              <a:rPr lang="he-IL" dirty="0"/>
              <a:t> AI </a:t>
            </a:r>
            <a:r>
              <a:rPr lang="he-IL" dirty="0" err="1"/>
              <a:t>Workflow</a:t>
            </a:r>
            <a:r>
              <a:rPr lang="he-IL" dirty="0"/>
              <a:t> יש שלבים מוגדרים מראש, וכל מקרה עובר אותו מסלול. אין תכנון מחדש ואין עצירה חכמה.</a:t>
            </a:r>
          </a:p>
          <a:p>
            <a:r>
              <a:rPr lang="he-IL" dirty="0"/>
              <a:t>אצלנו הסוכן הוא </a:t>
            </a:r>
            <a:r>
              <a:rPr lang="he-IL" dirty="0" err="1"/>
              <a:t>goal-driven</a:t>
            </a:r>
            <a:r>
              <a:rPr lang="he-IL" dirty="0"/>
              <a:t>. הוא בוחר כלים דינמית, מתבונן בראיות, מעדכן </a:t>
            </a:r>
            <a:r>
              <a:rPr lang="he-IL" dirty="0" err="1"/>
              <a:t>state</a:t>
            </a:r>
            <a:r>
              <a:rPr lang="he-IL" dirty="0"/>
              <a:t>, ויכול לתכנן מחדש, לעצור או לבצע פעולה רק אחרי אישור </a:t>
            </a:r>
            <a:r>
              <a:rPr lang="he-IL" dirty="0" err="1"/>
              <a:t>Supervisor</a:t>
            </a:r>
            <a:r>
              <a:rPr lang="he-IL" dirty="0"/>
              <a:t>.</a:t>
            </a:r>
          </a:p>
          <a:p>
            <a:r>
              <a:rPr lang="he-IL" dirty="0"/>
              <a:t>המשפט המרכזי הוא:</a:t>
            </a:r>
            <a:br>
              <a:rPr lang="he-IL" dirty="0"/>
            </a:br>
            <a:r>
              <a:rPr lang="he-IL" dirty="0"/>
              <a:t>The </a:t>
            </a:r>
            <a:r>
              <a:rPr lang="he-IL" dirty="0" err="1"/>
              <a:t>agent</a:t>
            </a:r>
            <a:r>
              <a:rPr lang="he-IL" dirty="0"/>
              <a:t> </a:t>
            </a:r>
            <a:r>
              <a:rPr lang="he-IL" dirty="0" err="1"/>
              <a:t>does</a:t>
            </a:r>
            <a:r>
              <a:rPr lang="he-IL" dirty="0"/>
              <a:t> </a:t>
            </a:r>
            <a:r>
              <a:rPr lang="he-IL" dirty="0" err="1"/>
              <a:t>not</a:t>
            </a:r>
            <a:r>
              <a:rPr lang="he-IL" dirty="0"/>
              <a:t> </a:t>
            </a:r>
            <a:r>
              <a:rPr lang="he-IL" dirty="0" err="1"/>
              <a:t>just</a:t>
            </a:r>
            <a:r>
              <a:rPr lang="he-IL" dirty="0"/>
              <a:t> </a:t>
            </a:r>
            <a:r>
              <a:rPr lang="he-IL" dirty="0" err="1"/>
              <a:t>analyze</a:t>
            </a:r>
            <a:r>
              <a:rPr lang="he-IL" dirty="0"/>
              <a:t> </a:t>
            </a:r>
            <a:r>
              <a:rPr lang="he-IL" dirty="0" err="1"/>
              <a:t>listings</a:t>
            </a:r>
            <a:r>
              <a:rPr lang="he-IL" dirty="0"/>
              <a:t> </a:t>
            </a:r>
            <a:r>
              <a:rPr lang="en-US" dirty="0"/>
              <a:t>-</a:t>
            </a:r>
            <a:r>
              <a:rPr lang="he-IL" dirty="0"/>
              <a:t> </a:t>
            </a:r>
            <a:r>
              <a:rPr lang="he-IL" dirty="0" err="1"/>
              <a:t>it</a:t>
            </a:r>
            <a:r>
              <a:rPr lang="he-IL" dirty="0"/>
              <a:t> </a:t>
            </a:r>
            <a:r>
              <a:rPr lang="he-IL" dirty="0" err="1"/>
              <a:t>maintains</a:t>
            </a:r>
            <a:r>
              <a:rPr lang="he-IL" dirty="0"/>
              <a:t> </a:t>
            </a:r>
            <a:r>
              <a:rPr lang="he-IL" dirty="0" err="1"/>
              <a:t>them</a:t>
            </a:r>
            <a:r>
              <a:rPr lang="he-IL" dirty="0"/>
              <a:t>.</a:t>
            </a:r>
          </a:p>
          <a:p>
            <a:r>
              <a:rPr lang="he-IL" dirty="0"/>
              <a:t>כלומר, זה לא רק כלי שמסכם ביקורות. זה סוכן שמתחזק את אמינות דף הנכס לאורך זמן.”</a:t>
            </a:r>
          </a:p>
          <a:p>
            <a:r>
              <a:rPr lang="he-IL" dirty="0"/>
              <a:t>סיום:</a:t>
            </a:r>
            <a:br>
              <a:rPr lang="he-IL" dirty="0"/>
            </a:br>
            <a:r>
              <a:rPr lang="he-IL" dirty="0"/>
              <a:t>“לכן הפרויקט שלנו מתמקד באוטונומיה ולא באוטומציה: הסוכן מקבל מטרה, כלים וגבולות פעולה — ולא רצף קבוע של צעדים.”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מלבן 84">
            <a:extLst>
              <a:ext uri="{FF2B5EF4-FFF2-40B4-BE49-F238E27FC236}">
                <a16:creationId xmlns:a16="http://schemas.microsoft.com/office/drawing/2014/main" id="{839125F9-C26C-C24B-8873-CA327B6114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7" name="מלבן 86">
            <a:extLst>
              <a:ext uri="{FF2B5EF4-FFF2-40B4-BE49-F238E27FC236}">
                <a16:creationId xmlns:a16="http://schemas.microsoft.com/office/drawing/2014/main" id="{72E3FA85-E220-EE42-BE64-39CD09A5C523}"/>
              </a:ext>
            </a:extLst>
          </p:cNvPr>
          <p:cNvSpPr/>
          <p:nvPr/>
        </p:nvSpPr>
        <p:spPr>
          <a:xfrm>
            <a:off x="304800" y="2260600"/>
            <a:ext cx="965200" cy="38100"/>
          </a:xfrm>
          <a:prstGeom prst="rect">
            <a:avLst/>
          </a:prstGeom>
          <a:solidFill>
            <a:srgbClr val="3C22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8" name="תיבת טקסט 87">
            <a:extLst>
              <a:ext uri="{FF2B5EF4-FFF2-40B4-BE49-F238E27FC236}">
                <a16:creationId xmlns:a16="http://schemas.microsoft.com/office/drawing/2014/main" id="{11F2FA0A-8815-9848-9D44-2DCD8A78F24A}"/>
              </a:ext>
            </a:extLst>
          </p:cNvPr>
          <p:cNvSpPr txBox="1"/>
          <p:nvPr/>
        </p:nvSpPr>
        <p:spPr>
          <a:xfrm>
            <a:off x="304800" y="787400"/>
            <a:ext cx="4318000" cy="11684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3000" b="1" dirty="0">
                <a:solidFill>
                  <a:srgbClr val="14205C"/>
                </a:solidFill>
                <a:latin typeface="Aptos Display"/>
              </a:rPr>
              <a:t>Autonomous Lisbon
Airbnb Listing Editor</a:t>
            </a:r>
            <a:endParaRPr lang="he-IL" sz="3000" b="1" dirty="0">
              <a:solidFill>
                <a:srgbClr val="14205C"/>
              </a:solidFill>
              <a:latin typeface="Aptos Display"/>
            </a:endParaRPr>
          </a:p>
        </p:txBody>
      </p:sp>
      <p:sp>
        <p:nvSpPr>
          <p:cNvPr id="89" name="תיבת טקסט 88">
            <a:extLst>
              <a:ext uri="{FF2B5EF4-FFF2-40B4-BE49-F238E27FC236}">
                <a16:creationId xmlns:a16="http://schemas.microsoft.com/office/drawing/2014/main" id="{D133D1A5-9A20-1749-8A6D-37E43F4E9848}"/>
              </a:ext>
            </a:extLst>
          </p:cNvPr>
          <p:cNvSpPr txBox="1"/>
          <p:nvPr/>
        </p:nvSpPr>
        <p:spPr>
          <a:xfrm>
            <a:off x="304800" y="2603500"/>
            <a:ext cx="4292600" cy="7874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600" dirty="0">
                <a:solidFill>
                  <a:srgbClr val="1F2947"/>
                </a:solidFill>
                <a:latin typeface="Aptos"/>
              </a:rPr>
              <a:t>A goal-driven AI agent that keeps Airbnb listing pages aligned with real guest experience.</a:t>
            </a:r>
            <a:endParaRPr lang="he-IL" sz="1600" dirty="0">
              <a:solidFill>
                <a:srgbClr val="1F2947"/>
              </a:solidFill>
              <a:latin typeface="Aptos"/>
            </a:endParaRPr>
          </a:p>
        </p:txBody>
      </p:sp>
      <p:sp>
        <p:nvSpPr>
          <p:cNvPr id="90" name="אליפסה 89">
            <a:extLst>
              <a:ext uri="{FF2B5EF4-FFF2-40B4-BE49-F238E27FC236}">
                <a16:creationId xmlns:a16="http://schemas.microsoft.com/office/drawing/2014/main" id="{93CBC90A-BCC1-6345-909D-000255D98ECC}"/>
              </a:ext>
            </a:extLst>
          </p:cNvPr>
          <p:cNvSpPr/>
          <p:nvPr/>
        </p:nvSpPr>
        <p:spPr>
          <a:xfrm>
            <a:off x="279400" y="4038600"/>
            <a:ext cx="546100" cy="546100"/>
          </a:xfrm>
          <a:prstGeom prst="ellipse">
            <a:avLst/>
          </a:prstGeom>
          <a:solidFill>
            <a:srgbClr val="F0E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1" name="אליפסה 90">
            <a:extLst>
              <a:ext uri="{FF2B5EF4-FFF2-40B4-BE49-F238E27FC236}">
                <a16:creationId xmlns:a16="http://schemas.microsoft.com/office/drawing/2014/main" id="{58E38E01-913F-364E-B382-596166C569E7}"/>
              </a:ext>
            </a:extLst>
          </p:cNvPr>
          <p:cNvSpPr/>
          <p:nvPr/>
        </p:nvSpPr>
        <p:spPr>
          <a:xfrm>
            <a:off x="349250" y="4165600"/>
            <a:ext cx="114300" cy="114300"/>
          </a:xfrm>
          <a:prstGeom prst="ellipse">
            <a:avLst/>
          </a:prstGeom>
          <a:solidFill>
            <a:srgbClr val="F0EEFF"/>
          </a:solidFill>
          <a:ln w="12700" cap="flat" cmpd="sng" algn="ctr">
            <a:solidFill>
              <a:srgbClr val="3C2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2" name="אליפסה 91">
            <a:extLst>
              <a:ext uri="{FF2B5EF4-FFF2-40B4-BE49-F238E27FC236}">
                <a16:creationId xmlns:a16="http://schemas.microsoft.com/office/drawing/2014/main" id="{FC47E6B5-C6B2-C74F-A32B-0DEEEB615EC7}"/>
              </a:ext>
            </a:extLst>
          </p:cNvPr>
          <p:cNvSpPr/>
          <p:nvPr/>
        </p:nvSpPr>
        <p:spPr>
          <a:xfrm>
            <a:off x="501650" y="4114800"/>
            <a:ext cx="127000" cy="127000"/>
          </a:xfrm>
          <a:prstGeom prst="ellipse">
            <a:avLst/>
          </a:prstGeom>
          <a:solidFill>
            <a:srgbClr val="F0EEFF"/>
          </a:solidFill>
          <a:ln w="12700" cap="flat" cmpd="sng" algn="ctr">
            <a:solidFill>
              <a:srgbClr val="3C2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3" name="אליפסה 92">
            <a:extLst>
              <a:ext uri="{FF2B5EF4-FFF2-40B4-BE49-F238E27FC236}">
                <a16:creationId xmlns:a16="http://schemas.microsoft.com/office/drawing/2014/main" id="{F2641AD4-21D2-424E-9104-3C349DC75719}"/>
              </a:ext>
            </a:extLst>
          </p:cNvPr>
          <p:cNvSpPr/>
          <p:nvPr/>
        </p:nvSpPr>
        <p:spPr>
          <a:xfrm>
            <a:off x="666750" y="4165600"/>
            <a:ext cx="114300" cy="114300"/>
          </a:xfrm>
          <a:prstGeom prst="ellipse">
            <a:avLst/>
          </a:prstGeom>
          <a:solidFill>
            <a:srgbClr val="F0EEFF"/>
          </a:solidFill>
          <a:ln w="12700" cap="flat" cmpd="sng" algn="ctr">
            <a:solidFill>
              <a:srgbClr val="3C2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4" name="מלבן מעוגל 93">
            <a:extLst>
              <a:ext uri="{FF2B5EF4-FFF2-40B4-BE49-F238E27FC236}">
                <a16:creationId xmlns:a16="http://schemas.microsoft.com/office/drawing/2014/main" id="{A5097AF9-DFEE-924A-A8F6-8E8BAB78DCF7}"/>
              </a:ext>
            </a:extLst>
          </p:cNvPr>
          <p:cNvSpPr/>
          <p:nvPr/>
        </p:nvSpPr>
        <p:spPr>
          <a:xfrm>
            <a:off x="311150" y="4318000"/>
            <a:ext cx="177800" cy="127000"/>
          </a:xfrm>
          <a:prstGeom prst="roundRect">
            <a:avLst/>
          </a:prstGeom>
          <a:solidFill>
            <a:srgbClr val="F0EEFF"/>
          </a:solidFill>
          <a:ln w="10160" cap="flat" cmpd="sng" algn="ctr">
            <a:solidFill>
              <a:srgbClr val="3C2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5" name="מלבן מעוגל 94">
            <a:extLst>
              <a:ext uri="{FF2B5EF4-FFF2-40B4-BE49-F238E27FC236}">
                <a16:creationId xmlns:a16="http://schemas.microsoft.com/office/drawing/2014/main" id="{AE2FA99F-97F7-D44A-A595-225B41A324F5}"/>
              </a:ext>
            </a:extLst>
          </p:cNvPr>
          <p:cNvSpPr/>
          <p:nvPr/>
        </p:nvSpPr>
        <p:spPr>
          <a:xfrm>
            <a:off x="463550" y="4292600"/>
            <a:ext cx="228600" cy="165100"/>
          </a:xfrm>
          <a:prstGeom prst="roundRect">
            <a:avLst/>
          </a:prstGeom>
          <a:solidFill>
            <a:srgbClr val="F0EEFF"/>
          </a:solidFill>
          <a:ln w="10160" cap="flat" cmpd="sng" algn="ctr">
            <a:solidFill>
              <a:srgbClr val="3C2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6" name="מלבן מעוגל 95">
            <a:extLst>
              <a:ext uri="{FF2B5EF4-FFF2-40B4-BE49-F238E27FC236}">
                <a16:creationId xmlns:a16="http://schemas.microsoft.com/office/drawing/2014/main" id="{85483343-8578-6C41-99B5-4D1054AEF0F2}"/>
              </a:ext>
            </a:extLst>
          </p:cNvPr>
          <p:cNvSpPr/>
          <p:nvPr/>
        </p:nvSpPr>
        <p:spPr>
          <a:xfrm>
            <a:off x="654050" y="4318000"/>
            <a:ext cx="177800" cy="127000"/>
          </a:xfrm>
          <a:prstGeom prst="roundRect">
            <a:avLst/>
          </a:prstGeom>
          <a:solidFill>
            <a:srgbClr val="F0EEFF"/>
          </a:solidFill>
          <a:ln w="10160" cap="flat" cmpd="sng" algn="ctr">
            <a:solidFill>
              <a:srgbClr val="3C22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7" name="תיבת טקסט 96">
            <a:extLst>
              <a:ext uri="{FF2B5EF4-FFF2-40B4-BE49-F238E27FC236}">
                <a16:creationId xmlns:a16="http://schemas.microsoft.com/office/drawing/2014/main" id="{A58E032A-3617-2C49-9FC5-70753DEC624C}"/>
              </a:ext>
            </a:extLst>
          </p:cNvPr>
          <p:cNvSpPr txBox="1"/>
          <p:nvPr/>
        </p:nvSpPr>
        <p:spPr>
          <a:xfrm>
            <a:off x="965200" y="4064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400" b="1" dirty="0">
                <a:solidFill>
                  <a:srgbClr val="3C22C8"/>
                </a:solidFill>
                <a:latin typeface="Aptos"/>
              </a:rPr>
              <a:t>Team:</a:t>
            </a:r>
            <a:endParaRPr lang="he-IL" sz="1400" b="1" dirty="0">
              <a:solidFill>
                <a:srgbClr val="3C22C8"/>
              </a:solidFill>
              <a:latin typeface="Aptos"/>
            </a:endParaRPr>
          </a:p>
        </p:txBody>
      </p:sp>
      <p:sp>
        <p:nvSpPr>
          <p:cNvPr id="98" name="תיבת טקסט 97">
            <a:extLst>
              <a:ext uri="{FF2B5EF4-FFF2-40B4-BE49-F238E27FC236}">
                <a16:creationId xmlns:a16="http://schemas.microsoft.com/office/drawing/2014/main" id="{DA892E18-77B8-B743-B659-A130FF87C642}"/>
              </a:ext>
            </a:extLst>
          </p:cNvPr>
          <p:cNvSpPr txBox="1"/>
          <p:nvPr/>
        </p:nvSpPr>
        <p:spPr>
          <a:xfrm>
            <a:off x="965200" y="4330700"/>
            <a:ext cx="3708400" cy="3810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1200" dirty="0">
                <a:solidFill>
                  <a:srgbClr val="14205C"/>
                </a:solidFill>
                <a:latin typeface="Aptos"/>
              </a:rPr>
              <a:t>Daniel Elhadif-Kaminer, Shoval Zvieli, Opal Zvieli</a:t>
            </a:r>
            <a:endParaRPr lang="he-IL" sz="1200" dirty="0">
              <a:solidFill>
                <a:srgbClr val="14205C"/>
              </a:solidFill>
              <a:latin typeface="Aptos"/>
            </a:endParaRPr>
          </a:p>
        </p:txBody>
      </p:sp>
      <p:sp>
        <p:nvSpPr>
          <p:cNvPr id="99" name="מלבן 98">
            <a:extLst>
              <a:ext uri="{FF2B5EF4-FFF2-40B4-BE49-F238E27FC236}">
                <a16:creationId xmlns:a16="http://schemas.microsoft.com/office/drawing/2014/main" id="{D30216F6-5683-2846-A362-1AD5B26ABD4F}"/>
              </a:ext>
            </a:extLst>
          </p:cNvPr>
          <p:cNvSpPr/>
          <p:nvPr/>
        </p:nvSpPr>
        <p:spPr>
          <a:xfrm>
            <a:off x="0" y="4775200"/>
            <a:ext cx="4800600" cy="368300"/>
          </a:xfrm>
          <a:prstGeom prst="rect">
            <a:avLst/>
          </a:prstGeom>
          <a:solidFill>
            <a:srgbClr val="EAF3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00" name="מלבן 99">
            <a:extLst>
              <a:ext uri="{FF2B5EF4-FFF2-40B4-BE49-F238E27FC236}">
                <a16:creationId xmlns:a16="http://schemas.microsoft.com/office/drawing/2014/main" id="{749BC5A2-F26F-7D4E-80DE-D8C3D6D1E71D}"/>
              </a:ext>
            </a:extLst>
          </p:cNvPr>
          <p:cNvSpPr/>
          <p:nvPr/>
        </p:nvSpPr>
        <p:spPr>
          <a:xfrm>
            <a:off x="0" y="4889500"/>
            <a:ext cx="444500" cy="2540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1" name="מלבן 100">
            <a:extLst>
              <a:ext uri="{FF2B5EF4-FFF2-40B4-BE49-F238E27FC236}">
                <a16:creationId xmlns:a16="http://schemas.microsoft.com/office/drawing/2014/main" id="{E9A11263-8026-5242-8FDB-B0A13555E4E6}"/>
              </a:ext>
            </a:extLst>
          </p:cNvPr>
          <p:cNvSpPr/>
          <p:nvPr/>
        </p:nvSpPr>
        <p:spPr>
          <a:xfrm>
            <a:off x="482600" y="4826000"/>
            <a:ext cx="381000" cy="3175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2" name="מלבן 101">
            <a:extLst>
              <a:ext uri="{FF2B5EF4-FFF2-40B4-BE49-F238E27FC236}">
                <a16:creationId xmlns:a16="http://schemas.microsoft.com/office/drawing/2014/main" id="{C94BD3FC-AF50-F443-975B-8D268D6DF612}"/>
              </a:ext>
            </a:extLst>
          </p:cNvPr>
          <p:cNvSpPr/>
          <p:nvPr/>
        </p:nvSpPr>
        <p:spPr>
          <a:xfrm>
            <a:off x="914400" y="4927600"/>
            <a:ext cx="533400" cy="2159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03" name="מלבן 102">
            <a:extLst>
              <a:ext uri="{FF2B5EF4-FFF2-40B4-BE49-F238E27FC236}">
                <a16:creationId xmlns:a16="http://schemas.microsoft.com/office/drawing/2014/main" id="{A9020384-1C0C-5945-BED9-9366A7B2273E}"/>
              </a:ext>
            </a:extLst>
          </p:cNvPr>
          <p:cNvSpPr/>
          <p:nvPr/>
        </p:nvSpPr>
        <p:spPr>
          <a:xfrm>
            <a:off x="1498600" y="4775200"/>
            <a:ext cx="444500" cy="3683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04" name="מלבן 103">
            <a:extLst>
              <a:ext uri="{FF2B5EF4-FFF2-40B4-BE49-F238E27FC236}">
                <a16:creationId xmlns:a16="http://schemas.microsoft.com/office/drawing/2014/main" id="{67D11877-5722-0548-B5CF-BDD99710D99F}"/>
              </a:ext>
            </a:extLst>
          </p:cNvPr>
          <p:cNvSpPr/>
          <p:nvPr/>
        </p:nvSpPr>
        <p:spPr>
          <a:xfrm>
            <a:off x="2006600" y="4876800"/>
            <a:ext cx="355600" cy="2667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5" name="מלבן 104">
            <a:extLst>
              <a:ext uri="{FF2B5EF4-FFF2-40B4-BE49-F238E27FC236}">
                <a16:creationId xmlns:a16="http://schemas.microsoft.com/office/drawing/2014/main" id="{DC28F154-7DC4-3D47-A30F-9E24C724A191}"/>
              </a:ext>
            </a:extLst>
          </p:cNvPr>
          <p:cNvSpPr/>
          <p:nvPr/>
        </p:nvSpPr>
        <p:spPr>
          <a:xfrm>
            <a:off x="2413000" y="4800600"/>
            <a:ext cx="571500" cy="3429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06" name="מלבן 105">
            <a:extLst>
              <a:ext uri="{FF2B5EF4-FFF2-40B4-BE49-F238E27FC236}">
                <a16:creationId xmlns:a16="http://schemas.microsoft.com/office/drawing/2014/main" id="{9B851913-895E-2342-BD2A-AB91DA20B916}"/>
              </a:ext>
            </a:extLst>
          </p:cNvPr>
          <p:cNvSpPr/>
          <p:nvPr/>
        </p:nvSpPr>
        <p:spPr>
          <a:xfrm>
            <a:off x="3048000" y="4902200"/>
            <a:ext cx="431800" cy="2413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7" name="מלבן 106">
            <a:extLst>
              <a:ext uri="{FF2B5EF4-FFF2-40B4-BE49-F238E27FC236}">
                <a16:creationId xmlns:a16="http://schemas.microsoft.com/office/drawing/2014/main" id="{1834EAF8-0F9F-414F-9CFB-272595B5EA6B}"/>
              </a:ext>
            </a:extLst>
          </p:cNvPr>
          <p:cNvSpPr/>
          <p:nvPr/>
        </p:nvSpPr>
        <p:spPr>
          <a:xfrm>
            <a:off x="3543300" y="4826000"/>
            <a:ext cx="558800" cy="3175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8" name="מלבן 107">
            <a:extLst>
              <a:ext uri="{FF2B5EF4-FFF2-40B4-BE49-F238E27FC236}">
                <a16:creationId xmlns:a16="http://schemas.microsoft.com/office/drawing/2014/main" id="{E0E25E7F-BECC-5E47-837E-562B480726FF}"/>
              </a:ext>
            </a:extLst>
          </p:cNvPr>
          <p:cNvSpPr/>
          <p:nvPr/>
        </p:nvSpPr>
        <p:spPr>
          <a:xfrm>
            <a:off x="4152900" y="4940300"/>
            <a:ext cx="647700" cy="203200"/>
          </a:xfrm>
          <a:prstGeom prst="rect">
            <a:avLst/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9" name="אליפסה 108">
            <a:extLst>
              <a:ext uri="{FF2B5EF4-FFF2-40B4-BE49-F238E27FC236}">
                <a16:creationId xmlns:a16="http://schemas.microsoft.com/office/drawing/2014/main" id="{69EDB2CF-4CBC-6244-BFD3-17143AAE9CC2}"/>
              </a:ext>
            </a:extLst>
          </p:cNvPr>
          <p:cNvSpPr/>
          <p:nvPr/>
        </p:nvSpPr>
        <p:spPr>
          <a:xfrm>
            <a:off x="3670300" y="4813300"/>
            <a:ext cx="228600" cy="228600"/>
          </a:xfrm>
          <a:prstGeom prst="ellipse">
            <a:avLst/>
          </a:prstGeom>
          <a:solidFill>
            <a:srgbClr val="3C22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0" name="משולש 109">
            <a:extLst>
              <a:ext uri="{FF2B5EF4-FFF2-40B4-BE49-F238E27FC236}">
                <a16:creationId xmlns:a16="http://schemas.microsoft.com/office/drawing/2014/main" id="{C4F603DA-32C4-DD46-B653-17A76402979A}"/>
              </a:ext>
            </a:extLst>
          </p:cNvPr>
          <p:cNvSpPr/>
          <p:nvPr/>
        </p:nvSpPr>
        <p:spPr>
          <a:xfrm rot="10800000">
            <a:off x="3721100" y="4978400"/>
            <a:ext cx="127000" cy="127000"/>
          </a:xfrm>
          <a:prstGeom prst="triangle">
            <a:avLst/>
          </a:prstGeom>
          <a:solidFill>
            <a:srgbClr val="3C22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1" name="אליפסה 110">
            <a:extLst>
              <a:ext uri="{FF2B5EF4-FFF2-40B4-BE49-F238E27FC236}">
                <a16:creationId xmlns:a16="http://schemas.microsoft.com/office/drawing/2014/main" id="{F86B258B-F482-974D-A0EA-864E1B36B1E9}"/>
              </a:ext>
            </a:extLst>
          </p:cNvPr>
          <p:cNvSpPr/>
          <p:nvPr/>
        </p:nvSpPr>
        <p:spPr>
          <a:xfrm>
            <a:off x="3746500" y="4876800"/>
            <a:ext cx="76200" cy="76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2" name="תיבת טקסט 111">
            <a:extLst>
              <a:ext uri="{FF2B5EF4-FFF2-40B4-BE49-F238E27FC236}">
                <a16:creationId xmlns:a16="http://schemas.microsoft.com/office/drawing/2014/main" id="{D5000DB8-4A3B-1D4E-B607-35CFAA67115B}"/>
              </a:ext>
            </a:extLst>
          </p:cNvPr>
          <p:cNvSpPr txBox="1"/>
          <p:nvPr/>
        </p:nvSpPr>
        <p:spPr>
          <a:xfrm>
            <a:off x="3949700" y="4851400"/>
            <a:ext cx="635000" cy="1778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950" b="1">
                <a:solidFill>
                  <a:srgbClr val="14205C"/>
                </a:solidFill>
                <a:latin typeface="Aptos"/>
              </a:rPr>
              <a:t>Lisbon</a:t>
            </a:r>
            <a:endParaRPr lang="he-IL" sz="950" b="1">
              <a:solidFill>
                <a:srgbClr val="14205C"/>
              </a:solidFill>
              <a:latin typeface="Aptos"/>
            </a:endParaRPr>
          </a:p>
        </p:txBody>
      </p:sp>
      <p:sp>
        <p:nvSpPr>
          <p:cNvPr id="180" name="מלבן 179">
            <a:extLst>
              <a:ext uri="{FF2B5EF4-FFF2-40B4-BE49-F238E27FC236}">
                <a16:creationId xmlns:a16="http://schemas.microsoft.com/office/drawing/2014/main" id="{6005AEE7-8602-7440-898C-7614FD7F7623}"/>
              </a:ext>
            </a:extLst>
          </p:cNvPr>
          <p:cNvSpPr/>
          <p:nvPr/>
        </p:nvSpPr>
        <p:spPr>
          <a:xfrm>
            <a:off x="4800600" y="0"/>
            <a:ext cx="4343400" cy="5143500"/>
          </a:xfrm>
          <a:prstGeom prst="rect">
            <a:avLst/>
          </a:prstGeom>
          <a:solidFill>
            <a:srgbClr val="F5F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81" name="מלבן מעוגל 180">
            <a:extLst>
              <a:ext uri="{FF2B5EF4-FFF2-40B4-BE49-F238E27FC236}">
                <a16:creationId xmlns:a16="http://schemas.microsoft.com/office/drawing/2014/main" id="{24C6BE5B-AC8A-7346-800E-2624D0BF60FE}"/>
              </a:ext>
            </a:extLst>
          </p:cNvPr>
          <p:cNvSpPr/>
          <p:nvPr/>
        </p:nvSpPr>
        <p:spPr>
          <a:xfrm>
            <a:off x="4965700" y="342900"/>
            <a:ext cx="1244600" cy="1295400"/>
          </a:xfrm>
          <a:prstGeom prst="roundRect">
            <a:avLst/>
          </a:prstGeom>
          <a:solidFill>
            <a:srgbClr val="E5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2" name="מלבן מעוגל 181">
            <a:extLst>
              <a:ext uri="{FF2B5EF4-FFF2-40B4-BE49-F238E27FC236}">
                <a16:creationId xmlns:a16="http://schemas.microsoft.com/office/drawing/2014/main" id="{6FAEC97E-BED5-CF41-A14D-60B8D551FB69}"/>
              </a:ext>
            </a:extLst>
          </p:cNvPr>
          <p:cNvSpPr/>
          <p:nvPr/>
        </p:nvSpPr>
        <p:spPr>
          <a:xfrm>
            <a:off x="4940300" y="304800"/>
            <a:ext cx="1244600" cy="1295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83" name="אליפסה 182">
            <a:extLst>
              <a:ext uri="{FF2B5EF4-FFF2-40B4-BE49-F238E27FC236}">
                <a16:creationId xmlns:a16="http://schemas.microsoft.com/office/drawing/2014/main" id="{CEA037D9-CF24-234C-ABC2-1ADB043815C0}"/>
              </a:ext>
            </a:extLst>
          </p:cNvPr>
          <p:cNvSpPr/>
          <p:nvPr/>
        </p:nvSpPr>
        <p:spPr>
          <a:xfrm>
            <a:off x="5346700" y="431800"/>
            <a:ext cx="431800" cy="431800"/>
          </a:xfrm>
          <a:prstGeom prst="ellipse">
            <a:avLst/>
          </a:prstGeom>
          <a:solidFill>
            <a:srgbClr val="EE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4" name="תיבת טקסט 183">
            <a:extLst>
              <a:ext uri="{FF2B5EF4-FFF2-40B4-BE49-F238E27FC236}">
                <a16:creationId xmlns:a16="http://schemas.microsoft.com/office/drawing/2014/main" id="{1D24E9C4-6F41-7844-8015-43C08BC7274D}"/>
              </a:ext>
            </a:extLst>
          </p:cNvPr>
          <p:cNvSpPr txBox="1"/>
          <p:nvPr/>
        </p:nvSpPr>
        <p:spPr>
          <a:xfrm>
            <a:off x="5016500" y="1041400"/>
            <a:ext cx="1092200" cy="431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4B2CE3"/>
                </a:solidFill>
                <a:latin typeface="Aptos"/>
              </a:rPr>
              <a:t>Airbnb Listing Page</a:t>
            </a:r>
            <a:endParaRPr lang="he-IL" sz="1100" b="1">
              <a:solidFill>
                <a:srgbClr val="4B2CE3"/>
              </a:solidFill>
              <a:latin typeface="Aptos"/>
            </a:endParaRPr>
          </a:p>
        </p:txBody>
      </p:sp>
      <p:sp>
        <p:nvSpPr>
          <p:cNvPr id="185" name="מלבן מעוגל 184">
            <a:extLst>
              <a:ext uri="{FF2B5EF4-FFF2-40B4-BE49-F238E27FC236}">
                <a16:creationId xmlns:a16="http://schemas.microsoft.com/office/drawing/2014/main" id="{D44429E6-7B78-D341-BD46-4315153867A6}"/>
              </a:ext>
            </a:extLst>
          </p:cNvPr>
          <p:cNvSpPr/>
          <p:nvPr/>
        </p:nvSpPr>
        <p:spPr>
          <a:xfrm>
            <a:off x="6375400" y="342900"/>
            <a:ext cx="1244600" cy="1295400"/>
          </a:xfrm>
          <a:prstGeom prst="roundRect">
            <a:avLst/>
          </a:prstGeom>
          <a:solidFill>
            <a:srgbClr val="E5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6" name="מלבן מעוגל 185">
            <a:extLst>
              <a:ext uri="{FF2B5EF4-FFF2-40B4-BE49-F238E27FC236}">
                <a16:creationId xmlns:a16="http://schemas.microsoft.com/office/drawing/2014/main" id="{6700F784-C96C-E04D-A3F3-275A5C88227B}"/>
              </a:ext>
            </a:extLst>
          </p:cNvPr>
          <p:cNvSpPr/>
          <p:nvPr/>
        </p:nvSpPr>
        <p:spPr>
          <a:xfrm>
            <a:off x="6350000" y="304800"/>
            <a:ext cx="1244600" cy="1295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7" name="אליפסה 186">
            <a:extLst>
              <a:ext uri="{FF2B5EF4-FFF2-40B4-BE49-F238E27FC236}">
                <a16:creationId xmlns:a16="http://schemas.microsoft.com/office/drawing/2014/main" id="{B38E80A2-8C72-8348-BBC3-47B6B906F00C}"/>
              </a:ext>
            </a:extLst>
          </p:cNvPr>
          <p:cNvSpPr/>
          <p:nvPr/>
        </p:nvSpPr>
        <p:spPr>
          <a:xfrm>
            <a:off x="6756400" y="431800"/>
            <a:ext cx="431800" cy="431800"/>
          </a:xfrm>
          <a:prstGeom prst="ellipse">
            <a:avLst/>
          </a:prstGeom>
          <a:solidFill>
            <a:srgbClr val="E5F6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8" name="תיבת טקסט 187">
            <a:extLst>
              <a:ext uri="{FF2B5EF4-FFF2-40B4-BE49-F238E27FC236}">
                <a16:creationId xmlns:a16="http://schemas.microsoft.com/office/drawing/2014/main" id="{233BBB73-5043-614A-A91B-E30E29257409}"/>
              </a:ext>
            </a:extLst>
          </p:cNvPr>
          <p:cNvSpPr txBox="1"/>
          <p:nvPr/>
        </p:nvSpPr>
        <p:spPr>
          <a:xfrm>
            <a:off x="6426200" y="1041400"/>
            <a:ext cx="1092200" cy="431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16A060"/>
                </a:solidFill>
                <a:latin typeface="Aptos"/>
              </a:rPr>
              <a:t>Guest Reviews</a:t>
            </a:r>
            <a:endParaRPr lang="he-IL" sz="1100" b="1">
              <a:solidFill>
                <a:srgbClr val="16A060"/>
              </a:solidFill>
              <a:latin typeface="Aptos"/>
            </a:endParaRPr>
          </a:p>
        </p:txBody>
      </p:sp>
      <p:sp>
        <p:nvSpPr>
          <p:cNvPr id="189" name="מלבן מעוגל 188">
            <a:extLst>
              <a:ext uri="{FF2B5EF4-FFF2-40B4-BE49-F238E27FC236}">
                <a16:creationId xmlns:a16="http://schemas.microsoft.com/office/drawing/2014/main" id="{91C47C0F-2724-334D-98DC-E4C77E16E155}"/>
              </a:ext>
            </a:extLst>
          </p:cNvPr>
          <p:cNvSpPr/>
          <p:nvPr/>
        </p:nvSpPr>
        <p:spPr>
          <a:xfrm>
            <a:off x="7785100" y="342900"/>
            <a:ext cx="1244600" cy="1295400"/>
          </a:xfrm>
          <a:prstGeom prst="roundRect">
            <a:avLst/>
          </a:prstGeom>
          <a:solidFill>
            <a:srgbClr val="E5EA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0" name="מלבן מעוגל 189">
            <a:extLst>
              <a:ext uri="{FF2B5EF4-FFF2-40B4-BE49-F238E27FC236}">
                <a16:creationId xmlns:a16="http://schemas.microsoft.com/office/drawing/2014/main" id="{FA52E6D3-1223-F544-96D9-73499EE5F9EE}"/>
              </a:ext>
            </a:extLst>
          </p:cNvPr>
          <p:cNvSpPr/>
          <p:nvPr/>
        </p:nvSpPr>
        <p:spPr>
          <a:xfrm>
            <a:off x="7759700" y="304800"/>
            <a:ext cx="1244600" cy="1295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1" name="אליפסה 190">
            <a:extLst>
              <a:ext uri="{FF2B5EF4-FFF2-40B4-BE49-F238E27FC236}">
                <a16:creationId xmlns:a16="http://schemas.microsoft.com/office/drawing/2014/main" id="{74A2A847-BD50-8243-941F-0311330EF71D}"/>
              </a:ext>
            </a:extLst>
          </p:cNvPr>
          <p:cNvSpPr/>
          <p:nvPr/>
        </p:nvSpPr>
        <p:spPr>
          <a:xfrm>
            <a:off x="8166100" y="431800"/>
            <a:ext cx="431800" cy="431800"/>
          </a:xfrm>
          <a:prstGeom prst="ellipse">
            <a:avLst/>
          </a:prstGeom>
          <a:solidFill>
            <a:srgbClr val="E7F2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2" name="תיבת טקסט 191">
            <a:extLst>
              <a:ext uri="{FF2B5EF4-FFF2-40B4-BE49-F238E27FC236}">
                <a16:creationId xmlns:a16="http://schemas.microsoft.com/office/drawing/2014/main" id="{1BE8BCAD-A18F-F944-AE6D-C0F1F436BDA2}"/>
              </a:ext>
            </a:extLst>
          </p:cNvPr>
          <p:cNvSpPr txBox="1"/>
          <p:nvPr/>
        </p:nvSpPr>
        <p:spPr>
          <a:xfrm>
            <a:off x="7835900" y="1041400"/>
            <a:ext cx="1092200" cy="431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1473D1"/>
                </a:solidFill>
                <a:latin typeface="Aptos"/>
              </a:rPr>
              <a:t>Google Maps Context</a:t>
            </a:r>
            <a:endParaRPr lang="he-IL" sz="1100" b="1">
              <a:solidFill>
                <a:srgbClr val="1473D1"/>
              </a:solidFill>
              <a:latin typeface="Aptos"/>
            </a:endParaRPr>
          </a:p>
        </p:txBody>
      </p:sp>
      <p:sp>
        <p:nvSpPr>
          <p:cNvPr id="193" name="מלבן מעוגל 192">
            <a:extLst>
              <a:ext uri="{FF2B5EF4-FFF2-40B4-BE49-F238E27FC236}">
                <a16:creationId xmlns:a16="http://schemas.microsoft.com/office/drawing/2014/main" id="{FEDB80CC-B101-944B-B1EE-BA3D10B20DC7}"/>
              </a:ext>
            </a:extLst>
          </p:cNvPr>
          <p:cNvSpPr/>
          <p:nvPr/>
        </p:nvSpPr>
        <p:spPr>
          <a:xfrm>
            <a:off x="5410200" y="508000"/>
            <a:ext cx="304800" cy="304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4B2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4" name="מלבן 193">
            <a:extLst>
              <a:ext uri="{FF2B5EF4-FFF2-40B4-BE49-F238E27FC236}">
                <a16:creationId xmlns:a16="http://schemas.microsoft.com/office/drawing/2014/main" id="{F01DBD55-6E15-CD4D-88F9-682F4EC442F6}"/>
              </a:ext>
            </a:extLst>
          </p:cNvPr>
          <p:cNvSpPr/>
          <p:nvPr/>
        </p:nvSpPr>
        <p:spPr>
          <a:xfrm>
            <a:off x="5473700" y="596900"/>
            <a:ext cx="1778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5" name="מלבן 194">
            <a:extLst>
              <a:ext uri="{FF2B5EF4-FFF2-40B4-BE49-F238E27FC236}">
                <a16:creationId xmlns:a16="http://schemas.microsoft.com/office/drawing/2014/main" id="{F422044C-0771-9A44-93DB-C8ED14BBFB2A}"/>
              </a:ext>
            </a:extLst>
          </p:cNvPr>
          <p:cNvSpPr/>
          <p:nvPr/>
        </p:nvSpPr>
        <p:spPr>
          <a:xfrm>
            <a:off x="5473700" y="673100"/>
            <a:ext cx="1397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6" name="מלבן 195">
            <a:extLst>
              <a:ext uri="{FF2B5EF4-FFF2-40B4-BE49-F238E27FC236}">
                <a16:creationId xmlns:a16="http://schemas.microsoft.com/office/drawing/2014/main" id="{F94557A5-0760-F240-8EF9-8D1E047C4386}"/>
              </a:ext>
            </a:extLst>
          </p:cNvPr>
          <p:cNvSpPr/>
          <p:nvPr/>
        </p:nvSpPr>
        <p:spPr>
          <a:xfrm>
            <a:off x="5473700" y="749300"/>
            <a:ext cx="1651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7" name="מלבן מעוגל 196">
            <a:extLst>
              <a:ext uri="{FF2B5EF4-FFF2-40B4-BE49-F238E27FC236}">
                <a16:creationId xmlns:a16="http://schemas.microsoft.com/office/drawing/2014/main" id="{652C316C-694D-9E44-BA84-1DDE1AE6122B}"/>
              </a:ext>
            </a:extLst>
          </p:cNvPr>
          <p:cNvSpPr/>
          <p:nvPr/>
        </p:nvSpPr>
        <p:spPr>
          <a:xfrm>
            <a:off x="6743700" y="520700"/>
            <a:ext cx="457200" cy="292100"/>
          </a:xfrm>
          <a:prstGeom prst="roundRect">
            <a:avLst/>
          </a:prstGeom>
          <a:solidFill>
            <a:srgbClr val="16A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8" name="אליפסה 197">
            <a:extLst>
              <a:ext uri="{FF2B5EF4-FFF2-40B4-BE49-F238E27FC236}">
                <a16:creationId xmlns:a16="http://schemas.microsoft.com/office/drawing/2014/main" id="{7AEE8A86-C36D-FF43-8039-2BC308F7FF5E}"/>
              </a:ext>
            </a:extLst>
          </p:cNvPr>
          <p:cNvSpPr/>
          <p:nvPr/>
        </p:nvSpPr>
        <p:spPr>
          <a:xfrm>
            <a:off x="6845300" y="635000"/>
            <a:ext cx="44450" cy="4445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9" name="אליפסה 198">
            <a:extLst>
              <a:ext uri="{FF2B5EF4-FFF2-40B4-BE49-F238E27FC236}">
                <a16:creationId xmlns:a16="http://schemas.microsoft.com/office/drawing/2014/main" id="{FFD4CE11-3B8B-F04D-BDA0-F2E54D0478AC}"/>
              </a:ext>
            </a:extLst>
          </p:cNvPr>
          <p:cNvSpPr/>
          <p:nvPr/>
        </p:nvSpPr>
        <p:spPr>
          <a:xfrm>
            <a:off x="6959600" y="635000"/>
            <a:ext cx="44450" cy="4445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0" name="אליפסה 199">
            <a:extLst>
              <a:ext uri="{FF2B5EF4-FFF2-40B4-BE49-F238E27FC236}">
                <a16:creationId xmlns:a16="http://schemas.microsoft.com/office/drawing/2014/main" id="{9C165F36-CC87-1547-A68D-12BB0BE28FCF}"/>
              </a:ext>
            </a:extLst>
          </p:cNvPr>
          <p:cNvSpPr/>
          <p:nvPr/>
        </p:nvSpPr>
        <p:spPr>
          <a:xfrm>
            <a:off x="7073900" y="635000"/>
            <a:ext cx="44450" cy="4445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1" name="אליפסה 200">
            <a:extLst>
              <a:ext uri="{FF2B5EF4-FFF2-40B4-BE49-F238E27FC236}">
                <a16:creationId xmlns:a16="http://schemas.microsoft.com/office/drawing/2014/main" id="{C90EC037-E3B6-324F-BA31-46FDC28BE7B3}"/>
              </a:ext>
            </a:extLst>
          </p:cNvPr>
          <p:cNvSpPr/>
          <p:nvPr/>
        </p:nvSpPr>
        <p:spPr>
          <a:xfrm>
            <a:off x="8255000" y="495300"/>
            <a:ext cx="254000" cy="254000"/>
          </a:xfrm>
          <a:prstGeom prst="ellipse">
            <a:avLst/>
          </a:prstGeom>
          <a:solidFill>
            <a:srgbClr val="147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2" name="אליפסה 201">
            <a:extLst>
              <a:ext uri="{FF2B5EF4-FFF2-40B4-BE49-F238E27FC236}">
                <a16:creationId xmlns:a16="http://schemas.microsoft.com/office/drawing/2014/main" id="{274C5A14-3BB1-CA40-BC48-55F2B18EA9E5}"/>
              </a:ext>
            </a:extLst>
          </p:cNvPr>
          <p:cNvSpPr/>
          <p:nvPr/>
        </p:nvSpPr>
        <p:spPr>
          <a:xfrm>
            <a:off x="8331200" y="571500"/>
            <a:ext cx="101600" cy="101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3" name="מלבן 202">
            <a:extLst>
              <a:ext uri="{FF2B5EF4-FFF2-40B4-BE49-F238E27FC236}">
                <a16:creationId xmlns:a16="http://schemas.microsoft.com/office/drawing/2014/main" id="{72374564-BDB4-6147-BD1C-2B8F949AEB0D}"/>
              </a:ext>
            </a:extLst>
          </p:cNvPr>
          <p:cNvSpPr/>
          <p:nvPr/>
        </p:nvSpPr>
        <p:spPr>
          <a:xfrm>
            <a:off x="8369300" y="711200"/>
            <a:ext cx="38100" cy="127000"/>
          </a:xfrm>
          <a:prstGeom prst="rect">
            <a:avLst/>
          </a:prstGeom>
          <a:solidFill>
            <a:srgbClr val="147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4" name="מלבן 203">
            <a:extLst>
              <a:ext uri="{FF2B5EF4-FFF2-40B4-BE49-F238E27FC236}">
                <a16:creationId xmlns:a16="http://schemas.microsoft.com/office/drawing/2014/main" id="{0A76C95C-2D57-B141-8DCB-712BF0B82C41}"/>
              </a:ext>
            </a:extLst>
          </p:cNvPr>
          <p:cNvSpPr/>
          <p:nvPr/>
        </p:nvSpPr>
        <p:spPr>
          <a:xfrm>
            <a:off x="5562600" y="1600200"/>
            <a:ext cx="25400" cy="2286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5" name="מלבן 204">
            <a:extLst>
              <a:ext uri="{FF2B5EF4-FFF2-40B4-BE49-F238E27FC236}">
                <a16:creationId xmlns:a16="http://schemas.microsoft.com/office/drawing/2014/main" id="{29F2CD32-C382-B140-BD8D-FCE00227D1C4}"/>
              </a:ext>
            </a:extLst>
          </p:cNvPr>
          <p:cNvSpPr/>
          <p:nvPr/>
        </p:nvSpPr>
        <p:spPr>
          <a:xfrm>
            <a:off x="6972300" y="1600200"/>
            <a:ext cx="25400" cy="228600"/>
          </a:xfrm>
          <a:prstGeom prst="rect">
            <a:avLst/>
          </a:prstGeom>
          <a:solidFill>
            <a:srgbClr val="16A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6" name="מלבן 205">
            <a:extLst>
              <a:ext uri="{FF2B5EF4-FFF2-40B4-BE49-F238E27FC236}">
                <a16:creationId xmlns:a16="http://schemas.microsoft.com/office/drawing/2014/main" id="{784345D7-FB83-F44E-AAB4-D9519355BF7F}"/>
              </a:ext>
            </a:extLst>
          </p:cNvPr>
          <p:cNvSpPr/>
          <p:nvPr/>
        </p:nvSpPr>
        <p:spPr>
          <a:xfrm>
            <a:off x="8382000" y="1600200"/>
            <a:ext cx="25400" cy="228600"/>
          </a:xfrm>
          <a:prstGeom prst="rect">
            <a:avLst/>
          </a:prstGeom>
          <a:solidFill>
            <a:srgbClr val="147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7" name="מלבן 206">
            <a:extLst>
              <a:ext uri="{FF2B5EF4-FFF2-40B4-BE49-F238E27FC236}">
                <a16:creationId xmlns:a16="http://schemas.microsoft.com/office/drawing/2014/main" id="{DB98981E-A257-BD48-AD1F-A8A376BA35FE}"/>
              </a:ext>
            </a:extLst>
          </p:cNvPr>
          <p:cNvSpPr/>
          <p:nvPr/>
        </p:nvSpPr>
        <p:spPr>
          <a:xfrm>
            <a:off x="5562600" y="1803400"/>
            <a:ext cx="28448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8" name="חץ למטה 207">
            <a:extLst>
              <a:ext uri="{FF2B5EF4-FFF2-40B4-BE49-F238E27FC236}">
                <a16:creationId xmlns:a16="http://schemas.microsoft.com/office/drawing/2014/main" id="{7FC47066-D807-B848-8ABD-2C85AA2C911D}"/>
              </a:ext>
            </a:extLst>
          </p:cNvPr>
          <p:cNvSpPr/>
          <p:nvPr/>
        </p:nvSpPr>
        <p:spPr>
          <a:xfrm>
            <a:off x="6870700" y="1778000"/>
            <a:ext cx="228600" cy="279400"/>
          </a:xfrm>
          <a:prstGeom prst="downArrow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9" name="אליפסה 208">
            <a:extLst>
              <a:ext uri="{FF2B5EF4-FFF2-40B4-BE49-F238E27FC236}">
                <a16:creationId xmlns:a16="http://schemas.microsoft.com/office/drawing/2014/main" id="{AD01E39D-3E09-A54C-96F6-9164626F5C75}"/>
              </a:ext>
            </a:extLst>
          </p:cNvPr>
          <p:cNvSpPr/>
          <p:nvPr/>
        </p:nvSpPr>
        <p:spPr>
          <a:xfrm>
            <a:off x="6337300" y="1993900"/>
            <a:ext cx="1270000" cy="1270000"/>
          </a:xfrm>
          <a:prstGeom prst="ellipse">
            <a:avLst/>
          </a:prstGeom>
          <a:solidFill>
            <a:srgbClr val="E7E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0" name="אליפסה 209">
            <a:extLst>
              <a:ext uri="{FF2B5EF4-FFF2-40B4-BE49-F238E27FC236}">
                <a16:creationId xmlns:a16="http://schemas.microsoft.com/office/drawing/2014/main" id="{E0F0D43E-DF27-6C47-AD53-425B70E87451}"/>
              </a:ext>
            </a:extLst>
          </p:cNvPr>
          <p:cNvSpPr/>
          <p:nvPr/>
        </p:nvSpPr>
        <p:spPr>
          <a:xfrm>
            <a:off x="6438900" y="2095500"/>
            <a:ext cx="1066800" cy="1066800"/>
          </a:xfrm>
          <a:prstGeom prst="ellipse">
            <a:avLst/>
          </a:prstGeom>
          <a:solidFill>
            <a:srgbClr val="FFFFFF"/>
          </a:solidFill>
          <a:ln w="10160" cap="flat" cmpd="sng" algn="ctr">
            <a:solidFill>
              <a:srgbClr val="B9AE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1" name="מלבן מעוגל 210">
            <a:extLst>
              <a:ext uri="{FF2B5EF4-FFF2-40B4-BE49-F238E27FC236}">
                <a16:creationId xmlns:a16="http://schemas.microsoft.com/office/drawing/2014/main" id="{0D3E382C-6295-DC4F-8C8A-13D93F7B86C9}"/>
              </a:ext>
            </a:extLst>
          </p:cNvPr>
          <p:cNvSpPr/>
          <p:nvPr/>
        </p:nvSpPr>
        <p:spPr>
          <a:xfrm>
            <a:off x="6642100" y="2413000"/>
            <a:ext cx="660400" cy="457200"/>
          </a:xfrm>
          <a:prstGeom prst="roundRect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2" name="מלבן מעוגל 211">
            <a:extLst>
              <a:ext uri="{FF2B5EF4-FFF2-40B4-BE49-F238E27FC236}">
                <a16:creationId xmlns:a16="http://schemas.microsoft.com/office/drawing/2014/main" id="{CF169635-3A48-EB4F-8A1A-B477500BF3ED}"/>
              </a:ext>
            </a:extLst>
          </p:cNvPr>
          <p:cNvSpPr/>
          <p:nvPr/>
        </p:nvSpPr>
        <p:spPr>
          <a:xfrm>
            <a:off x="6565900" y="2527300"/>
            <a:ext cx="88900" cy="228600"/>
          </a:xfrm>
          <a:prstGeom prst="roundRect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3" name="מלבן מעוגל 212">
            <a:extLst>
              <a:ext uri="{FF2B5EF4-FFF2-40B4-BE49-F238E27FC236}">
                <a16:creationId xmlns:a16="http://schemas.microsoft.com/office/drawing/2014/main" id="{6FC49169-B7B5-7B4C-822B-DBBFEB063D34}"/>
              </a:ext>
            </a:extLst>
          </p:cNvPr>
          <p:cNvSpPr/>
          <p:nvPr/>
        </p:nvSpPr>
        <p:spPr>
          <a:xfrm>
            <a:off x="7289800" y="2527300"/>
            <a:ext cx="88900" cy="228600"/>
          </a:xfrm>
          <a:prstGeom prst="roundRect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4" name="מלבן 213">
            <a:extLst>
              <a:ext uri="{FF2B5EF4-FFF2-40B4-BE49-F238E27FC236}">
                <a16:creationId xmlns:a16="http://schemas.microsoft.com/office/drawing/2014/main" id="{8705875E-15C1-824E-AFB8-00924C74C838}"/>
              </a:ext>
            </a:extLst>
          </p:cNvPr>
          <p:cNvSpPr/>
          <p:nvPr/>
        </p:nvSpPr>
        <p:spPr>
          <a:xfrm>
            <a:off x="6959600" y="2247900"/>
            <a:ext cx="38100" cy="177800"/>
          </a:xfrm>
          <a:prstGeom prst="rect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5" name="אליפסה 214">
            <a:extLst>
              <a:ext uri="{FF2B5EF4-FFF2-40B4-BE49-F238E27FC236}">
                <a16:creationId xmlns:a16="http://schemas.microsoft.com/office/drawing/2014/main" id="{12493BD8-80FE-6849-B7F1-C2AA70F4F94C}"/>
              </a:ext>
            </a:extLst>
          </p:cNvPr>
          <p:cNvSpPr/>
          <p:nvPr/>
        </p:nvSpPr>
        <p:spPr>
          <a:xfrm>
            <a:off x="6915150" y="2184400"/>
            <a:ext cx="127000" cy="127000"/>
          </a:xfrm>
          <a:prstGeom prst="ellipse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6" name="אליפסה 215">
            <a:extLst>
              <a:ext uri="{FF2B5EF4-FFF2-40B4-BE49-F238E27FC236}">
                <a16:creationId xmlns:a16="http://schemas.microsoft.com/office/drawing/2014/main" id="{0BAFC9F1-5349-954B-A9D7-25EF778E4BD2}"/>
              </a:ext>
            </a:extLst>
          </p:cNvPr>
          <p:cNvSpPr/>
          <p:nvPr/>
        </p:nvSpPr>
        <p:spPr>
          <a:xfrm>
            <a:off x="6794500" y="2565400"/>
            <a:ext cx="114300" cy="1143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7" name="אליפסה 216">
            <a:extLst>
              <a:ext uri="{FF2B5EF4-FFF2-40B4-BE49-F238E27FC236}">
                <a16:creationId xmlns:a16="http://schemas.microsoft.com/office/drawing/2014/main" id="{460CC93F-35FF-374D-82BF-6AE4D8EEA1D4}"/>
              </a:ext>
            </a:extLst>
          </p:cNvPr>
          <p:cNvSpPr/>
          <p:nvPr/>
        </p:nvSpPr>
        <p:spPr>
          <a:xfrm>
            <a:off x="7035800" y="2565400"/>
            <a:ext cx="114300" cy="1143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8" name="מלבן 217">
            <a:extLst>
              <a:ext uri="{FF2B5EF4-FFF2-40B4-BE49-F238E27FC236}">
                <a16:creationId xmlns:a16="http://schemas.microsoft.com/office/drawing/2014/main" id="{FA289240-B2AA-D24B-BEB7-9FDF423730DA}"/>
              </a:ext>
            </a:extLst>
          </p:cNvPr>
          <p:cNvSpPr/>
          <p:nvPr/>
        </p:nvSpPr>
        <p:spPr>
          <a:xfrm>
            <a:off x="6883400" y="2755900"/>
            <a:ext cx="190500" cy="25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9" name="תיבת טקסט 218">
            <a:extLst>
              <a:ext uri="{FF2B5EF4-FFF2-40B4-BE49-F238E27FC236}">
                <a16:creationId xmlns:a16="http://schemas.microsoft.com/office/drawing/2014/main" id="{C289B63F-03D6-6742-8CC2-7DCD62F5569A}"/>
              </a:ext>
            </a:extLst>
          </p:cNvPr>
          <p:cNvSpPr txBox="1"/>
          <p:nvPr/>
        </p:nvSpPr>
        <p:spPr>
          <a:xfrm>
            <a:off x="5930900" y="3302000"/>
            <a:ext cx="2082800" cy="228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CE3"/>
                </a:solidFill>
                <a:latin typeface="Aptos"/>
              </a:rPr>
              <a:t>Autonomous AI Agent</a:t>
            </a:r>
            <a:endParaRPr lang="he-IL" sz="1300" b="1">
              <a:solidFill>
                <a:srgbClr val="4B2CE3"/>
              </a:solidFill>
              <a:latin typeface="Aptos"/>
            </a:endParaRPr>
          </a:p>
        </p:txBody>
      </p:sp>
      <p:sp>
        <p:nvSpPr>
          <p:cNvPr id="220" name="תיבת טקסט 219">
            <a:extLst>
              <a:ext uri="{FF2B5EF4-FFF2-40B4-BE49-F238E27FC236}">
                <a16:creationId xmlns:a16="http://schemas.microsoft.com/office/drawing/2014/main" id="{33B0DA40-975F-2A4C-8C07-2F0DCA1C0480}"/>
              </a:ext>
            </a:extLst>
          </p:cNvPr>
          <p:cNvSpPr txBox="1"/>
          <p:nvPr/>
        </p:nvSpPr>
        <p:spPr>
          <a:xfrm>
            <a:off x="6019800" y="3556000"/>
            <a:ext cx="1905000" cy="203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50">
                <a:solidFill>
                  <a:srgbClr val="526078"/>
                </a:solidFill>
                <a:latin typeface="Aptos"/>
              </a:rPr>
              <a:t>Reasons and chooses actions</a:t>
            </a:r>
            <a:endParaRPr lang="he-IL" sz="1050">
              <a:solidFill>
                <a:srgbClr val="526078"/>
              </a:solidFill>
              <a:latin typeface="Aptos"/>
            </a:endParaRPr>
          </a:p>
        </p:txBody>
      </p:sp>
      <p:sp>
        <p:nvSpPr>
          <p:cNvPr id="221" name="חץ למטה 220">
            <a:extLst>
              <a:ext uri="{FF2B5EF4-FFF2-40B4-BE49-F238E27FC236}">
                <a16:creationId xmlns:a16="http://schemas.microsoft.com/office/drawing/2014/main" id="{3FD69F12-E19E-1049-80C5-7CC816293303}"/>
              </a:ext>
            </a:extLst>
          </p:cNvPr>
          <p:cNvSpPr/>
          <p:nvPr/>
        </p:nvSpPr>
        <p:spPr>
          <a:xfrm>
            <a:off x="6870700" y="3810000"/>
            <a:ext cx="228600" cy="304800"/>
          </a:xfrm>
          <a:prstGeom prst="downArrow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2" name="מלבן מעוגל 221">
            <a:extLst>
              <a:ext uri="{FF2B5EF4-FFF2-40B4-BE49-F238E27FC236}">
                <a16:creationId xmlns:a16="http://schemas.microsoft.com/office/drawing/2014/main" id="{FD0AF1F5-FA64-5C44-AC05-14344B594F9D}"/>
              </a:ext>
            </a:extLst>
          </p:cNvPr>
          <p:cNvSpPr/>
          <p:nvPr/>
        </p:nvSpPr>
        <p:spPr>
          <a:xfrm>
            <a:off x="5194300" y="4191000"/>
            <a:ext cx="3657600" cy="749300"/>
          </a:xfrm>
          <a:prstGeom prst="roundRect">
            <a:avLst/>
          </a:prstGeom>
          <a:solidFill>
            <a:srgbClr val="E3E9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3" name="מלבן מעוגל 222">
            <a:extLst>
              <a:ext uri="{FF2B5EF4-FFF2-40B4-BE49-F238E27FC236}">
                <a16:creationId xmlns:a16="http://schemas.microsoft.com/office/drawing/2014/main" id="{FD8C647E-D654-BC4C-9407-25DA55D6F858}"/>
              </a:ext>
            </a:extLst>
          </p:cNvPr>
          <p:cNvSpPr/>
          <p:nvPr/>
        </p:nvSpPr>
        <p:spPr>
          <a:xfrm>
            <a:off x="5168900" y="4152900"/>
            <a:ext cx="3657600" cy="7493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A9E0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4" name="אליפסה 223">
            <a:extLst>
              <a:ext uri="{FF2B5EF4-FFF2-40B4-BE49-F238E27FC236}">
                <a16:creationId xmlns:a16="http://schemas.microsoft.com/office/drawing/2014/main" id="{C35F1618-3A78-7E4D-A474-27FC446B38A9}"/>
              </a:ext>
            </a:extLst>
          </p:cNvPr>
          <p:cNvSpPr/>
          <p:nvPr/>
        </p:nvSpPr>
        <p:spPr>
          <a:xfrm>
            <a:off x="5321300" y="4279900"/>
            <a:ext cx="508000" cy="508000"/>
          </a:xfrm>
          <a:prstGeom prst="ellipse">
            <a:avLst/>
          </a:prstGeom>
          <a:solidFill>
            <a:srgbClr val="E5F6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5" name="מלבן מעוגל 224">
            <a:extLst>
              <a:ext uri="{FF2B5EF4-FFF2-40B4-BE49-F238E27FC236}">
                <a16:creationId xmlns:a16="http://schemas.microsoft.com/office/drawing/2014/main" id="{8EB228A1-6181-3347-A610-2369C897721D}"/>
              </a:ext>
            </a:extLst>
          </p:cNvPr>
          <p:cNvSpPr/>
          <p:nvPr/>
        </p:nvSpPr>
        <p:spPr>
          <a:xfrm>
            <a:off x="5448300" y="4356100"/>
            <a:ext cx="254000" cy="3175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16A0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6" name="מלבן 225">
            <a:extLst>
              <a:ext uri="{FF2B5EF4-FFF2-40B4-BE49-F238E27FC236}">
                <a16:creationId xmlns:a16="http://schemas.microsoft.com/office/drawing/2014/main" id="{40455E9A-AA1F-CD4C-89C6-58E042B0DBF0}"/>
              </a:ext>
            </a:extLst>
          </p:cNvPr>
          <p:cNvSpPr/>
          <p:nvPr/>
        </p:nvSpPr>
        <p:spPr>
          <a:xfrm>
            <a:off x="5499100" y="4457700"/>
            <a:ext cx="139700" cy="19050"/>
          </a:xfrm>
          <a:prstGeom prst="rect">
            <a:avLst/>
          </a:prstGeom>
          <a:solidFill>
            <a:srgbClr val="16A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7" name="מלבן 226">
            <a:extLst>
              <a:ext uri="{FF2B5EF4-FFF2-40B4-BE49-F238E27FC236}">
                <a16:creationId xmlns:a16="http://schemas.microsoft.com/office/drawing/2014/main" id="{9533E94B-AD0A-D34C-8CE7-27DEB763984D}"/>
              </a:ext>
            </a:extLst>
          </p:cNvPr>
          <p:cNvSpPr/>
          <p:nvPr/>
        </p:nvSpPr>
        <p:spPr>
          <a:xfrm>
            <a:off x="5499100" y="4533900"/>
            <a:ext cx="114300" cy="19050"/>
          </a:xfrm>
          <a:prstGeom prst="rect">
            <a:avLst/>
          </a:prstGeom>
          <a:solidFill>
            <a:srgbClr val="16A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8" name="אליפסה 227">
            <a:extLst>
              <a:ext uri="{FF2B5EF4-FFF2-40B4-BE49-F238E27FC236}">
                <a16:creationId xmlns:a16="http://schemas.microsoft.com/office/drawing/2014/main" id="{E5CB80D3-5221-214A-B450-91BEA831C7E9}"/>
              </a:ext>
            </a:extLst>
          </p:cNvPr>
          <p:cNvSpPr/>
          <p:nvPr/>
        </p:nvSpPr>
        <p:spPr>
          <a:xfrm>
            <a:off x="5613400" y="4508500"/>
            <a:ext cx="190500" cy="190500"/>
          </a:xfrm>
          <a:prstGeom prst="ellipse">
            <a:avLst/>
          </a:prstGeom>
          <a:solidFill>
            <a:srgbClr val="FFFFFF"/>
          </a:solidFill>
          <a:ln w="10160" cap="flat" cmpd="sng" algn="ctr">
            <a:solidFill>
              <a:srgbClr val="16A0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9" name="מלבן 228">
            <a:extLst>
              <a:ext uri="{FF2B5EF4-FFF2-40B4-BE49-F238E27FC236}">
                <a16:creationId xmlns:a16="http://schemas.microsoft.com/office/drawing/2014/main" id="{08A504F6-0AE3-5B4F-842C-FF300DC9A3F1}"/>
              </a:ext>
            </a:extLst>
          </p:cNvPr>
          <p:cNvSpPr/>
          <p:nvPr/>
        </p:nvSpPr>
        <p:spPr>
          <a:xfrm>
            <a:off x="5664200" y="4597400"/>
            <a:ext cx="114300" cy="25400"/>
          </a:xfrm>
          <a:prstGeom prst="rect">
            <a:avLst/>
          </a:prstGeom>
          <a:solidFill>
            <a:srgbClr val="16A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0" name="תיבת טקסט 229">
            <a:extLst>
              <a:ext uri="{FF2B5EF4-FFF2-40B4-BE49-F238E27FC236}">
                <a16:creationId xmlns:a16="http://schemas.microsoft.com/office/drawing/2014/main" id="{3551C205-5266-454B-B876-D1543BA1851A}"/>
              </a:ext>
            </a:extLst>
          </p:cNvPr>
          <p:cNvSpPr txBox="1"/>
          <p:nvPr/>
        </p:nvSpPr>
        <p:spPr>
          <a:xfrm>
            <a:off x="5943600" y="42799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6A060"/>
                </a:solidFill>
                <a:latin typeface="Aptos"/>
              </a:rPr>
              <a:t>Updated Listing Page</a:t>
            </a:r>
            <a:endParaRPr lang="he-IL" sz="1300" b="1">
              <a:solidFill>
                <a:srgbClr val="16A060"/>
              </a:solidFill>
              <a:latin typeface="Aptos"/>
            </a:endParaRPr>
          </a:p>
        </p:txBody>
      </p:sp>
      <p:sp>
        <p:nvSpPr>
          <p:cNvPr id="231" name="תיבת טקסט 230">
            <a:extLst>
              <a:ext uri="{FF2B5EF4-FFF2-40B4-BE49-F238E27FC236}">
                <a16:creationId xmlns:a16="http://schemas.microsoft.com/office/drawing/2014/main" id="{8939B9B7-6D29-6E46-AA3A-6907A6CF110E}"/>
              </a:ext>
            </a:extLst>
          </p:cNvPr>
          <p:cNvSpPr txBox="1"/>
          <p:nvPr/>
        </p:nvSpPr>
        <p:spPr>
          <a:xfrm>
            <a:off x="5943600" y="4546600"/>
            <a:ext cx="2692400" cy="203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50">
                <a:solidFill>
                  <a:srgbClr val="526078"/>
                </a:solidFill>
                <a:latin typeface="Aptos"/>
              </a:rPr>
              <a:t>Aligned with real guest experience</a:t>
            </a:r>
            <a:endParaRPr lang="he-IL" sz="1050">
              <a:solidFill>
                <a:srgbClr val="526078"/>
              </a:solidFill>
              <a:latin typeface="Aptos"/>
            </a:endParaRPr>
          </a:p>
        </p:txBody>
      </p:sp>
      <p:sp>
        <p:nvSpPr>
          <p:cNvPr id="232" name="BSD_Header">
            <a:extLst>
              <a:ext uri="{FF2B5EF4-FFF2-40B4-BE49-F238E27FC236}">
                <a16:creationId xmlns:a16="http://schemas.microsoft.com/office/drawing/2014/main" id="{833AF835-0DE6-244B-B5F8-B876A02EA2C5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  <p:extLst>
      <p:ext uri="{BB962C8B-B14F-4D97-AF65-F5344CB8AC3E}">
        <p14:creationId xmlns:p14="http://schemas.microsoft.com/office/powerpoint/2010/main" val="38323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604C4588-972D-8649-8FAC-381CC03C3E7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2BD0590-9E80-4F47-BD20-CC7FF17849D2}"/>
              </a:ext>
            </a:extLst>
          </p:cNvPr>
          <p:cNvSpPr txBox="1"/>
          <p:nvPr/>
        </p:nvSpPr>
        <p:spPr>
          <a:xfrm>
            <a:off x="482600" y="3048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2400" b="1">
                <a:solidFill>
                  <a:srgbClr val="14235F"/>
                </a:solidFill>
                <a:latin typeface="Aptos"/>
              </a:rPr>
              <a:t>A Listing Page Is a Promise</a:t>
            </a:r>
            <a:endParaRPr lang="he-IL" sz="2400" b="1">
              <a:solidFill>
                <a:srgbClr val="14235F"/>
              </a:solidFill>
              <a:latin typeface="Aptos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0AC9E51D-1D7C-AA4F-80B6-F5660ABE90B8}"/>
              </a:ext>
            </a:extLst>
          </p:cNvPr>
          <p:cNvSpPr/>
          <p:nvPr/>
        </p:nvSpPr>
        <p:spPr>
          <a:xfrm>
            <a:off x="482600" y="914400"/>
            <a:ext cx="939800" cy="381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" name="מלבן מעוגל 12">
            <a:extLst>
              <a:ext uri="{FF2B5EF4-FFF2-40B4-BE49-F238E27FC236}">
                <a16:creationId xmlns:a16="http://schemas.microsoft.com/office/drawing/2014/main" id="{39CA7E11-4B1D-6043-9DF0-B2E647635AC9}"/>
              </a:ext>
            </a:extLst>
          </p:cNvPr>
          <p:cNvSpPr/>
          <p:nvPr/>
        </p:nvSpPr>
        <p:spPr>
          <a:xfrm>
            <a:off x="508000" y="1257300"/>
            <a:ext cx="3708400" cy="26670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מלבן מעוגל 13">
            <a:extLst>
              <a:ext uri="{FF2B5EF4-FFF2-40B4-BE49-F238E27FC236}">
                <a16:creationId xmlns:a16="http://schemas.microsoft.com/office/drawing/2014/main" id="{68701E34-F1FE-B740-B6AD-30410B9EF5BE}"/>
              </a:ext>
            </a:extLst>
          </p:cNvPr>
          <p:cNvSpPr/>
          <p:nvPr/>
        </p:nvSpPr>
        <p:spPr>
          <a:xfrm>
            <a:off x="482600" y="1219200"/>
            <a:ext cx="3708400" cy="26670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C70B2521-BA4C-9D41-8C09-4B6ABFA9EA00}"/>
              </a:ext>
            </a:extLst>
          </p:cNvPr>
          <p:cNvSpPr/>
          <p:nvPr/>
        </p:nvSpPr>
        <p:spPr>
          <a:xfrm>
            <a:off x="711200" y="1447800"/>
            <a:ext cx="533400" cy="533400"/>
          </a:xfrm>
          <a:prstGeom prst="ellipse">
            <a:avLst/>
          </a:prstGeom>
          <a:solidFill>
            <a:srgbClr val="EE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" name="מלבן מעוגל 15">
            <a:extLst>
              <a:ext uri="{FF2B5EF4-FFF2-40B4-BE49-F238E27FC236}">
                <a16:creationId xmlns:a16="http://schemas.microsoft.com/office/drawing/2014/main" id="{27E50B0D-57C7-384E-844D-35BCFBDD3568}"/>
              </a:ext>
            </a:extLst>
          </p:cNvPr>
          <p:cNvSpPr/>
          <p:nvPr/>
        </p:nvSpPr>
        <p:spPr>
          <a:xfrm>
            <a:off x="850900" y="1587500"/>
            <a:ext cx="254000" cy="279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4B2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6D7DE5AC-AF1B-D94E-9A0E-B332AEB8778D}"/>
              </a:ext>
            </a:extLst>
          </p:cNvPr>
          <p:cNvSpPr/>
          <p:nvPr/>
        </p:nvSpPr>
        <p:spPr>
          <a:xfrm>
            <a:off x="901700" y="1663700"/>
            <a:ext cx="1524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2CC97F1F-1AE0-564F-B34C-7755C1F53A19}"/>
              </a:ext>
            </a:extLst>
          </p:cNvPr>
          <p:cNvSpPr/>
          <p:nvPr/>
        </p:nvSpPr>
        <p:spPr>
          <a:xfrm>
            <a:off x="901700" y="1739900"/>
            <a:ext cx="1270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BC3DE7E2-84C5-6C44-8BDC-7AEC622A7964}"/>
              </a:ext>
            </a:extLst>
          </p:cNvPr>
          <p:cNvSpPr txBox="1"/>
          <p:nvPr/>
        </p:nvSpPr>
        <p:spPr>
          <a:xfrm>
            <a:off x="1397000" y="14478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4B2CE3"/>
                </a:solidFill>
                <a:latin typeface="Aptos"/>
              </a:rPr>
              <a:t>The Listing Says</a:t>
            </a:r>
            <a:endParaRPr lang="he-IL" sz="1400" b="1">
              <a:solidFill>
                <a:srgbClr val="4B2CE3"/>
              </a:solidFill>
              <a:latin typeface="Aptos"/>
            </a:endParaRPr>
          </a:p>
        </p:txBody>
      </p:sp>
      <p:sp>
        <p:nvSpPr>
          <p:cNvPr id="20" name="מלבן מעוגל 19">
            <a:extLst>
              <a:ext uri="{FF2B5EF4-FFF2-40B4-BE49-F238E27FC236}">
                <a16:creationId xmlns:a16="http://schemas.microsoft.com/office/drawing/2014/main" id="{6F86E741-473F-0F4B-A4B2-41B6AE0553ED}"/>
              </a:ext>
            </a:extLst>
          </p:cNvPr>
          <p:cNvSpPr/>
          <p:nvPr/>
        </p:nvSpPr>
        <p:spPr>
          <a:xfrm>
            <a:off x="711200" y="2108200"/>
            <a:ext cx="3251200" cy="1168400"/>
          </a:xfrm>
          <a:prstGeom prst="roundRect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20648B20-BF61-E04F-96CE-AEFE9C1DF75B}"/>
              </a:ext>
            </a:extLst>
          </p:cNvPr>
          <p:cNvSpPr txBox="1"/>
          <p:nvPr/>
        </p:nvSpPr>
        <p:spPr>
          <a:xfrm>
            <a:off x="952500" y="2336800"/>
            <a:ext cx="2768600" cy="685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  <a:latin typeface="Aptos"/>
              </a:rPr>
              <a:t>“Quiet apartment</a:t>
            </a:r>
            <a:r>
              <a:rPr lang="he-IL" sz="1700" dirty="0">
                <a:solidFill>
                  <a:srgbClr val="FFFFFF"/>
                </a:solidFill>
                <a:latin typeface="Aptos"/>
              </a:rPr>
              <a:t>,</a:t>
            </a:r>
            <a:r>
              <a:rPr lang="en-US" sz="1700" dirty="0">
                <a:solidFill>
                  <a:srgbClr val="FFFFFF"/>
                </a:solidFill>
                <a:latin typeface="Aptos"/>
              </a:rPr>
              <a:t> perfect for families”</a:t>
            </a:r>
            <a:endParaRPr lang="he-IL" sz="17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מלבן מעוגל 21">
            <a:extLst>
              <a:ext uri="{FF2B5EF4-FFF2-40B4-BE49-F238E27FC236}">
                <a16:creationId xmlns:a16="http://schemas.microsoft.com/office/drawing/2014/main" id="{F77205A7-221D-D54C-8364-464A88CD1E9D}"/>
              </a:ext>
            </a:extLst>
          </p:cNvPr>
          <p:cNvSpPr/>
          <p:nvPr/>
        </p:nvSpPr>
        <p:spPr>
          <a:xfrm>
            <a:off x="4470400" y="1257300"/>
            <a:ext cx="4216400" cy="26670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" name="מלבן מעוגל 22">
            <a:extLst>
              <a:ext uri="{FF2B5EF4-FFF2-40B4-BE49-F238E27FC236}">
                <a16:creationId xmlns:a16="http://schemas.microsoft.com/office/drawing/2014/main" id="{A7617A56-E6D6-5F4F-8B7E-164FAF61009A}"/>
              </a:ext>
            </a:extLst>
          </p:cNvPr>
          <p:cNvSpPr/>
          <p:nvPr/>
        </p:nvSpPr>
        <p:spPr>
          <a:xfrm>
            <a:off x="4445000" y="1219200"/>
            <a:ext cx="4216400" cy="26670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F765DBF1-AF46-4043-AF25-667C30092771}"/>
              </a:ext>
            </a:extLst>
          </p:cNvPr>
          <p:cNvSpPr/>
          <p:nvPr/>
        </p:nvSpPr>
        <p:spPr>
          <a:xfrm>
            <a:off x="4673600" y="1447800"/>
            <a:ext cx="533400" cy="533400"/>
          </a:xfrm>
          <a:prstGeom prst="ellipse">
            <a:avLst/>
          </a:prstGeom>
          <a:solidFill>
            <a:srgbClr val="E5F6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5" name="מלבן מעוגל 24">
            <a:extLst>
              <a:ext uri="{FF2B5EF4-FFF2-40B4-BE49-F238E27FC236}">
                <a16:creationId xmlns:a16="http://schemas.microsoft.com/office/drawing/2014/main" id="{491F4867-D30C-7E4C-8CC0-84B7D2A76480}"/>
              </a:ext>
            </a:extLst>
          </p:cNvPr>
          <p:cNvSpPr/>
          <p:nvPr/>
        </p:nvSpPr>
        <p:spPr>
          <a:xfrm>
            <a:off x="4800600" y="1600200"/>
            <a:ext cx="279400" cy="203200"/>
          </a:xfrm>
          <a:prstGeom prst="roundRect">
            <a:avLst/>
          </a:prstGeom>
          <a:solidFill>
            <a:srgbClr val="16A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6" name="אליפסה 25">
            <a:extLst>
              <a:ext uri="{FF2B5EF4-FFF2-40B4-BE49-F238E27FC236}">
                <a16:creationId xmlns:a16="http://schemas.microsoft.com/office/drawing/2014/main" id="{1C433A13-732D-064F-8D1F-A1A2C06C251D}"/>
              </a:ext>
            </a:extLst>
          </p:cNvPr>
          <p:cNvSpPr/>
          <p:nvPr/>
        </p:nvSpPr>
        <p:spPr>
          <a:xfrm>
            <a:off x="4864100" y="1676400"/>
            <a:ext cx="38100" cy="381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7" name="אליפסה 26">
            <a:extLst>
              <a:ext uri="{FF2B5EF4-FFF2-40B4-BE49-F238E27FC236}">
                <a16:creationId xmlns:a16="http://schemas.microsoft.com/office/drawing/2014/main" id="{BA29EE7B-3330-9D47-A59E-B0B856633840}"/>
              </a:ext>
            </a:extLst>
          </p:cNvPr>
          <p:cNvSpPr/>
          <p:nvPr/>
        </p:nvSpPr>
        <p:spPr>
          <a:xfrm>
            <a:off x="4940300" y="1676400"/>
            <a:ext cx="38100" cy="381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8" name="אליפסה 27">
            <a:extLst>
              <a:ext uri="{FF2B5EF4-FFF2-40B4-BE49-F238E27FC236}">
                <a16:creationId xmlns:a16="http://schemas.microsoft.com/office/drawing/2014/main" id="{A146A2C9-1D92-9648-9C1D-FCA7E5CB9D83}"/>
              </a:ext>
            </a:extLst>
          </p:cNvPr>
          <p:cNvSpPr/>
          <p:nvPr/>
        </p:nvSpPr>
        <p:spPr>
          <a:xfrm>
            <a:off x="5016500" y="1676400"/>
            <a:ext cx="38100" cy="381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2913AFB5-2AC4-5F47-8F39-C612634A78F5}"/>
              </a:ext>
            </a:extLst>
          </p:cNvPr>
          <p:cNvSpPr txBox="1"/>
          <p:nvPr/>
        </p:nvSpPr>
        <p:spPr>
          <a:xfrm>
            <a:off x="5359400" y="14478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6A060"/>
                </a:solidFill>
                <a:latin typeface="Aptos"/>
              </a:rPr>
              <a:t>Guest Reviews Reveal</a:t>
            </a:r>
            <a:endParaRPr lang="he-IL" sz="1400" b="1">
              <a:solidFill>
                <a:srgbClr val="16A060"/>
              </a:solidFill>
              <a:latin typeface="Aptos"/>
            </a:endParaRP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055644EE-2DB5-9645-AF15-EFCDE12626C1}"/>
              </a:ext>
            </a:extLst>
          </p:cNvPr>
          <p:cNvSpPr txBox="1"/>
          <p:nvPr/>
        </p:nvSpPr>
        <p:spPr>
          <a:xfrm>
            <a:off x="4724400" y="2082800"/>
            <a:ext cx="3581400" cy="1117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300" dirty="0">
                <a:solidFill>
                  <a:srgbClr val="526078"/>
                </a:solidFill>
                <a:latin typeface="Aptos"/>
              </a:rPr>
              <a:t>•  “Street noise at night”
•  “Bar directly downstairs”
•  “Not ideal </a:t>
            </a:r>
            <a:r>
              <a:rPr lang="he-IL" sz="1300" dirty="0">
                <a:solidFill>
                  <a:srgbClr val="526078"/>
                </a:solidFill>
                <a:latin typeface="Aptos"/>
              </a:rPr>
              <a:t>for</a:t>
            </a:r>
            <a:r>
              <a:rPr lang="en-US" sz="1300" dirty="0">
                <a:solidFill>
                  <a:srgbClr val="526078"/>
                </a:solidFill>
                <a:latin typeface="Aptos"/>
              </a:rPr>
              <a:t> small children”</a:t>
            </a:r>
            <a:endParaRPr lang="he-IL" sz="13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31" name="מלבן מעוגל 30">
            <a:extLst>
              <a:ext uri="{FF2B5EF4-FFF2-40B4-BE49-F238E27FC236}">
                <a16:creationId xmlns:a16="http://schemas.microsoft.com/office/drawing/2014/main" id="{A5D046A8-389E-884C-A88E-EC503E69AAEE}"/>
              </a:ext>
            </a:extLst>
          </p:cNvPr>
          <p:cNvSpPr/>
          <p:nvPr/>
        </p:nvSpPr>
        <p:spPr>
          <a:xfrm>
            <a:off x="482600" y="4140200"/>
            <a:ext cx="8178800" cy="622300"/>
          </a:xfrm>
          <a:prstGeom prst="roundRect">
            <a:avLst/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E6ECCB4A-0E11-3347-9FC8-FEC0AEA220F9}"/>
              </a:ext>
            </a:extLst>
          </p:cNvPr>
          <p:cNvSpPr/>
          <p:nvPr/>
        </p:nvSpPr>
        <p:spPr>
          <a:xfrm>
            <a:off x="482600" y="4140200"/>
            <a:ext cx="63500" cy="6223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F701DE6D-D216-EE4B-A076-9E8A113BC7BC}"/>
              </a:ext>
            </a:extLst>
          </p:cNvPr>
          <p:cNvSpPr txBox="1"/>
          <p:nvPr/>
        </p:nvSpPr>
        <p:spPr>
          <a:xfrm>
            <a:off x="736600" y="4241800"/>
            <a:ext cx="7670800" cy="406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200" b="1" dirty="0">
                <a:solidFill>
                  <a:srgbClr val="14235F"/>
                </a:solidFill>
                <a:latin typeface="Aptos"/>
              </a:rPr>
              <a:t>When the listing promise and </a:t>
            </a:r>
            <a:r>
              <a:rPr lang="he-IL" sz="1200" b="1" dirty="0">
                <a:solidFill>
                  <a:srgbClr val="14235F"/>
                </a:solidFill>
                <a:latin typeface="Aptos"/>
              </a:rPr>
              <a:t>the </a:t>
            </a:r>
            <a:r>
              <a:rPr lang="en-US" sz="1200" b="1" dirty="0">
                <a:solidFill>
                  <a:srgbClr val="14235F"/>
                </a:solidFill>
                <a:latin typeface="Aptos"/>
              </a:rPr>
              <a:t>real experience diverge, guests leave disappointed - and trust erodes.</a:t>
            </a:r>
            <a:endParaRPr lang="he-IL" sz="1200" b="1" dirty="0">
              <a:solidFill>
                <a:srgbClr val="14235F"/>
              </a:solidFill>
              <a:latin typeface="Aptos"/>
            </a:endParaRPr>
          </a:p>
        </p:txBody>
      </p:sp>
      <p:sp>
        <p:nvSpPr>
          <p:cNvPr id="34" name="BSD_Header">
            <a:extLst>
              <a:ext uri="{FF2B5EF4-FFF2-40B4-BE49-F238E27FC236}">
                <a16:creationId xmlns:a16="http://schemas.microsoft.com/office/drawing/2014/main" id="{5C9E1561-05BE-4D43-9C4A-D2A99690FE7B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73" name="מלבן מעוגל 72">
            <a:extLst>
              <a:ext uri="{FF2B5EF4-FFF2-40B4-BE49-F238E27FC236}">
                <a16:creationId xmlns:a16="http://schemas.microsoft.com/office/drawing/2014/main" id="{15AA2366-B8C2-F545-939B-68897C0FE30A}"/>
              </a:ext>
            </a:extLst>
          </p:cNvPr>
          <p:cNvSpPr/>
          <p:nvPr/>
        </p:nvSpPr>
        <p:spPr>
          <a:xfrm>
            <a:off x="228600" y="317500"/>
            <a:ext cx="3721100" cy="4508500"/>
          </a:xfrm>
          <a:prstGeom prst="roundRect">
            <a:avLst/>
          </a:prstGeom>
          <a:solidFill>
            <a:srgbClr val="E9EE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6" name="אליפסה 95">
            <a:extLst>
              <a:ext uri="{FF2B5EF4-FFF2-40B4-BE49-F238E27FC236}">
                <a16:creationId xmlns:a16="http://schemas.microsoft.com/office/drawing/2014/main" id="{1EEBBDBE-B1FD-154D-9F12-DB365FFC0D9A}"/>
              </a:ext>
            </a:extLst>
          </p:cNvPr>
          <p:cNvSpPr/>
          <p:nvPr/>
        </p:nvSpPr>
        <p:spPr>
          <a:xfrm>
            <a:off x="2895600" y="42037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7" name="אליפסה 96">
            <a:extLst>
              <a:ext uri="{FF2B5EF4-FFF2-40B4-BE49-F238E27FC236}">
                <a16:creationId xmlns:a16="http://schemas.microsoft.com/office/drawing/2014/main" id="{031EBFB5-1F24-244B-B938-19D195D4EC81}"/>
              </a:ext>
            </a:extLst>
          </p:cNvPr>
          <p:cNvSpPr/>
          <p:nvPr/>
        </p:nvSpPr>
        <p:spPr>
          <a:xfrm>
            <a:off x="2921000" y="42291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4" name="אליפסה 93">
            <a:extLst>
              <a:ext uri="{FF2B5EF4-FFF2-40B4-BE49-F238E27FC236}">
                <a16:creationId xmlns:a16="http://schemas.microsoft.com/office/drawing/2014/main" id="{3010F07E-1C9F-3E42-89FE-E252708B903C}"/>
              </a:ext>
            </a:extLst>
          </p:cNvPr>
          <p:cNvSpPr/>
          <p:nvPr/>
        </p:nvSpPr>
        <p:spPr>
          <a:xfrm>
            <a:off x="939800" y="42799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5" name="אליפסה 94">
            <a:extLst>
              <a:ext uri="{FF2B5EF4-FFF2-40B4-BE49-F238E27FC236}">
                <a16:creationId xmlns:a16="http://schemas.microsoft.com/office/drawing/2014/main" id="{957F2E53-B261-814C-A6C8-CDD63D60C865}"/>
              </a:ext>
            </a:extLst>
          </p:cNvPr>
          <p:cNvSpPr/>
          <p:nvPr/>
        </p:nvSpPr>
        <p:spPr>
          <a:xfrm>
            <a:off x="965200" y="43053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2" name="אליפסה 91">
            <a:extLst>
              <a:ext uri="{FF2B5EF4-FFF2-40B4-BE49-F238E27FC236}">
                <a16:creationId xmlns:a16="http://schemas.microsoft.com/office/drawing/2014/main" id="{49A8077D-86B1-6047-9CB3-B962BA1F4C3C}"/>
              </a:ext>
            </a:extLst>
          </p:cNvPr>
          <p:cNvSpPr/>
          <p:nvPr/>
        </p:nvSpPr>
        <p:spPr>
          <a:xfrm>
            <a:off x="3441700" y="30988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3" name="אליפסה 92">
            <a:extLst>
              <a:ext uri="{FF2B5EF4-FFF2-40B4-BE49-F238E27FC236}">
                <a16:creationId xmlns:a16="http://schemas.microsoft.com/office/drawing/2014/main" id="{9D096630-EFC2-4747-B736-A0A49C541C4A}"/>
              </a:ext>
            </a:extLst>
          </p:cNvPr>
          <p:cNvSpPr/>
          <p:nvPr/>
        </p:nvSpPr>
        <p:spPr>
          <a:xfrm>
            <a:off x="3467100" y="31242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0" name="אליפסה 89">
            <a:extLst>
              <a:ext uri="{FF2B5EF4-FFF2-40B4-BE49-F238E27FC236}">
                <a16:creationId xmlns:a16="http://schemas.microsoft.com/office/drawing/2014/main" id="{300EDBC0-EFB5-6C4B-BD30-B4A1CE70823A}"/>
              </a:ext>
            </a:extLst>
          </p:cNvPr>
          <p:cNvSpPr/>
          <p:nvPr/>
        </p:nvSpPr>
        <p:spPr>
          <a:xfrm>
            <a:off x="596900" y="28702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1" name="אליפסה 90">
            <a:extLst>
              <a:ext uri="{FF2B5EF4-FFF2-40B4-BE49-F238E27FC236}">
                <a16:creationId xmlns:a16="http://schemas.microsoft.com/office/drawing/2014/main" id="{966FC28A-6F0C-7847-97C1-84505FEB5C54}"/>
              </a:ext>
            </a:extLst>
          </p:cNvPr>
          <p:cNvSpPr/>
          <p:nvPr/>
        </p:nvSpPr>
        <p:spPr>
          <a:xfrm>
            <a:off x="622300" y="28956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8" name="אליפסה 87">
            <a:extLst>
              <a:ext uri="{FF2B5EF4-FFF2-40B4-BE49-F238E27FC236}">
                <a16:creationId xmlns:a16="http://schemas.microsoft.com/office/drawing/2014/main" id="{4660AAA1-1BAE-EB40-B047-28DDED7524C9}"/>
              </a:ext>
            </a:extLst>
          </p:cNvPr>
          <p:cNvSpPr/>
          <p:nvPr/>
        </p:nvSpPr>
        <p:spPr>
          <a:xfrm>
            <a:off x="3276600" y="5207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9" name="אליפסה 88">
            <a:extLst>
              <a:ext uri="{FF2B5EF4-FFF2-40B4-BE49-F238E27FC236}">
                <a16:creationId xmlns:a16="http://schemas.microsoft.com/office/drawing/2014/main" id="{6E6A949C-9494-A04D-8495-3EA2A4E2C9C9}"/>
              </a:ext>
            </a:extLst>
          </p:cNvPr>
          <p:cNvSpPr/>
          <p:nvPr/>
        </p:nvSpPr>
        <p:spPr>
          <a:xfrm>
            <a:off x="3302000" y="5461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6" name="אליפסה 85">
            <a:extLst>
              <a:ext uri="{FF2B5EF4-FFF2-40B4-BE49-F238E27FC236}">
                <a16:creationId xmlns:a16="http://schemas.microsoft.com/office/drawing/2014/main" id="{85762FDE-1E90-7442-B45D-D0EF83639992}"/>
              </a:ext>
            </a:extLst>
          </p:cNvPr>
          <p:cNvSpPr/>
          <p:nvPr/>
        </p:nvSpPr>
        <p:spPr>
          <a:xfrm>
            <a:off x="2146300" y="6858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7" name="אליפסה 86">
            <a:extLst>
              <a:ext uri="{FF2B5EF4-FFF2-40B4-BE49-F238E27FC236}">
                <a16:creationId xmlns:a16="http://schemas.microsoft.com/office/drawing/2014/main" id="{0046E404-A847-0747-92A9-FF55A17B08B0}"/>
              </a:ext>
            </a:extLst>
          </p:cNvPr>
          <p:cNvSpPr/>
          <p:nvPr/>
        </p:nvSpPr>
        <p:spPr>
          <a:xfrm>
            <a:off x="2171700" y="7112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4" name="אליפסה 83">
            <a:extLst>
              <a:ext uri="{FF2B5EF4-FFF2-40B4-BE49-F238E27FC236}">
                <a16:creationId xmlns:a16="http://schemas.microsoft.com/office/drawing/2014/main" id="{5D745B68-FACB-084B-8250-E92C69B9EA3A}"/>
              </a:ext>
            </a:extLst>
          </p:cNvPr>
          <p:cNvSpPr/>
          <p:nvPr/>
        </p:nvSpPr>
        <p:spPr>
          <a:xfrm>
            <a:off x="1193800" y="4191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5" name="אליפסה 84">
            <a:extLst>
              <a:ext uri="{FF2B5EF4-FFF2-40B4-BE49-F238E27FC236}">
                <a16:creationId xmlns:a16="http://schemas.microsoft.com/office/drawing/2014/main" id="{3751A719-EFDB-AD45-AD32-3133B08A8CBB}"/>
              </a:ext>
            </a:extLst>
          </p:cNvPr>
          <p:cNvSpPr/>
          <p:nvPr/>
        </p:nvSpPr>
        <p:spPr>
          <a:xfrm>
            <a:off x="1219200" y="4445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2" name="אליפסה 81">
            <a:extLst>
              <a:ext uri="{FF2B5EF4-FFF2-40B4-BE49-F238E27FC236}">
                <a16:creationId xmlns:a16="http://schemas.microsoft.com/office/drawing/2014/main" id="{B2678842-FC76-3346-B835-D0341B586D7D}"/>
              </a:ext>
            </a:extLst>
          </p:cNvPr>
          <p:cNvSpPr/>
          <p:nvPr/>
        </p:nvSpPr>
        <p:spPr>
          <a:xfrm>
            <a:off x="431800" y="596900"/>
            <a:ext cx="101600" cy="101600"/>
          </a:xfrm>
          <a:prstGeom prst="ellipse">
            <a:avLst/>
          </a:prstGeom>
          <a:solidFill>
            <a:srgbClr val="E2D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3" name="אליפסה 82">
            <a:extLst>
              <a:ext uri="{FF2B5EF4-FFF2-40B4-BE49-F238E27FC236}">
                <a16:creationId xmlns:a16="http://schemas.microsoft.com/office/drawing/2014/main" id="{178A2128-00EE-7E48-9A16-60B56A63F00F}"/>
              </a:ext>
            </a:extLst>
          </p:cNvPr>
          <p:cNvSpPr/>
          <p:nvPr/>
        </p:nvSpPr>
        <p:spPr>
          <a:xfrm>
            <a:off x="457200" y="622300"/>
            <a:ext cx="50800" cy="50800"/>
          </a:xfrm>
          <a:prstGeom prst="ellipse">
            <a:avLst/>
          </a:prstGeom>
          <a:solidFill>
            <a:srgbClr val="6550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4314717" y="450056"/>
            <a:ext cx="44290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363" b="1" dirty="0">
                <a:solidFill>
                  <a:srgbClr val="1A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Agent’s Environment</a:t>
            </a:r>
            <a:endParaRPr lang="en-US" sz="2363" dirty="0"/>
          </a:p>
        </p:txBody>
      </p:sp>
      <p:sp>
        <p:nvSpPr>
          <p:cNvPr id="35" name="Shape 33"/>
          <p:cNvSpPr/>
          <p:nvPr/>
        </p:nvSpPr>
        <p:spPr>
          <a:xfrm>
            <a:off x="4321861" y="914400"/>
            <a:ext cx="1014387" cy="35719"/>
          </a:xfrm>
          <a:prstGeom prst="rect">
            <a:avLst/>
          </a:prstGeom>
          <a:solidFill>
            <a:srgbClr val="4B2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4314718" y="1171575"/>
            <a:ext cx="2128784" cy="1571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FE6F4"/>
            </a:solidFill>
            <a:prstDash val="solid"/>
          </a:ln>
          <a:effectLst>
            <a:outerShdw blurRad="101600" dist="695" dir="5400000" algn="bl" rotWithShape="0">
              <a:srgbClr val="EEF1F8">
                <a:alpha val="100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4500450" y="1357312"/>
            <a:ext cx="414327" cy="414338"/>
          </a:xfrm>
          <a:prstGeom prst="ellipse">
            <a:avLst/>
          </a:prstGeom>
          <a:solidFill>
            <a:srgbClr val="EE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anchor="ctr" anchorCtr="0">
            <a:normAutofit fontScale="92500" lnSpcReduction="10000"/>
          </a:bodyPr>
          <a:lstStyle/>
          <a:p>
            <a:r>
              <a:rPr lang="he-IL" sz="1500" b="1">
                <a:solidFill>
                  <a:srgbClr val="5435F4"/>
                </a:solidFill>
                <a:latin typeface="Aptos"/>
              </a:rPr>
              <a:t>1</a:t>
            </a:r>
          </a:p>
        </p:txBody>
      </p:sp>
      <p:sp>
        <p:nvSpPr>
          <p:cNvPr id="38" name="Text 36"/>
          <p:cNvSpPr/>
          <p:nvPr/>
        </p:nvSpPr>
        <p:spPr>
          <a:xfrm>
            <a:off x="4966019" y="1389459"/>
            <a:ext cx="12144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 lnSpcReduction="10000"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 b="1" dirty="0">
                <a:solidFill>
                  <a:srgbClr val="5435F4"/>
                </a:solidFill>
                <a:latin typeface="Aptos"/>
                <a:ea typeface="Arial" pitchFamily="34" charset="-122"/>
                <a:cs typeface="Arial" pitchFamily="34" charset="-120"/>
              </a:rPr>
              <a:t>Lisbon Airbnb
Listings</a:t>
            </a:r>
            <a:endParaRPr lang="en-US" sz="1250" b="1" dirty="0">
              <a:solidFill>
                <a:srgbClr val="5435F4"/>
              </a:solidFill>
              <a:latin typeface="Apto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29025" y="1935956"/>
            <a:ext cx="17144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  <a:t>Listing claims, amenities,
location, ratings</a:t>
            </a:r>
            <a:endParaRPr lang="en-US" sz="1000" dirty="0">
              <a:solidFill>
                <a:srgbClr val="26365F"/>
              </a:solidFill>
              <a:latin typeface="Apto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29025" y="2478881"/>
            <a:ext cx="17144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1C2B58"/>
                </a:solidFill>
                <a:latin typeface="Aptos"/>
                <a:ea typeface="Arial" pitchFamily="34" charset="-122"/>
                <a:cs typeface="Arial" pitchFamily="34" charset="-120"/>
              </a:rPr>
              <a:t>5,596 listings</a:t>
            </a:r>
            <a:endParaRPr lang="en-US" sz="1000" b="1" dirty="0">
              <a:solidFill>
                <a:srgbClr val="1C2B58"/>
              </a:solidFill>
              <a:latin typeface="Apto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686383" y="1171575"/>
            <a:ext cx="2128784" cy="1571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FE6F4"/>
            </a:solidFill>
            <a:prstDash val="solid"/>
          </a:ln>
          <a:effectLst>
            <a:outerShdw blurRad="101600" dist="695" dir="5400000" algn="bl" rotWithShape="0">
              <a:srgbClr val="EEF1F8">
                <a:alpha val="10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6872116" y="1357312"/>
            <a:ext cx="414327" cy="414338"/>
          </a:xfrm>
          <a:prstGeom prst="ellipse">
            <a:avLst/>
          </a:prstGeom>
          <a:solidFill>
            <a:srgbClr val="E4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anchor="ctr" anchorCtr="0">
            <a:normAutofit fontScale="92500" lnSpcReduction="10000"/>
          </a:bodyPr>
          <a:lstStyle/>
          <a:p>
            <a:r>
              <a:rPr lang="he-IL" sz="1500" b="1">
                <a:solidFill>
                  <a:srgbClr val="208F4E"/>
                </a:solidFill>
                <a:latin typeface="Aptos"/>
              </a:rPr>
              <a:t>2</a:t>
            </a:r>
          </a:p>
        </p:txBody>
      </p:sp>
      <p:sp>
        <p:nvSpPr>
          <p:cNvPr id="43" name="Text 41"/>
          <p:cNvSpPr/>
          <p:nvPr/>
        </p:nvSpPr>
        <p:spPr>
          <a:xfrm>
            <a:off x="7349943" y="1389458"/>
            <a:ext cx="12144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 lnSpcReduction="10000"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 b="1" dirty="0">
                <a:solidFill>
                  <a:srgbClr val="208F4E"/>
                </a:solidFill>
                <a:latin typeface="Aptos"/>
                <a:ea typeface="Arial" pitchFamily="34" charset="-122"/>
                <a:cs typeface="Arial" pitchFamily="34" charset="-120"/>
              </a:rPr>
              <a:t>Guest Review RAG</a:t>
            </a:r>
            <a:endParaRPr lang="en-US" sz="1250" b="1" dirty="0">
              <a:solidFill>
                <a:srgbClr val="208F4E"/>
              </a:solidFill>
              <a:latin typeface="Apto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883443" y="2040134"/>
            <a:ext cx="1714457" cy="43299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 lnSpcReduction="10000"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  <a:t>Guest comments linked to each listing</a:t>
            </a:r>
            <a:br>
              <a:rPr lang="en-US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</a:br>
            <a:endParaRPr lang="en-US" sz="1000" dirty="0">
              <a:solidFill>
                <a:srgbClr val="26365F"/>
              </a:solidFill>
              <a:latin typeface="Apto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00691" y="2478881"/>
            <a:ext cx="17144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1C2B58"/>
                </a:solidFill>
                <a:latin typeface="Aptos"/>
                <a:ea typeface="Arial" pitchFamily="34" charset="-122"/>
                <a:cs typeface="Arial" pitchFamily="34" charset="-120"/>
              </a:rPr>
              <a:t>72,744 reviews</a:t>
            </a:r>
            <a:endParaRPr lang="en-US" sz="1000" b="1" dirty="0">
              <a:solidFill>
                <a:srgbClr val="1C2B58"/>
              </a:solidFill>
              <a:latin typeface="Apto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314718" y="3000375"/>
            <a:ext cx="2128784" cy="1571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FE6F4"/>
            </a:solidFill>
            <a:prstDash val="solid"/>
          </a:ln>
          <a:effectLst>
            <a:outerShdw blurRad="101600" dist="695" dir="5400000" algn="bl" rotWithShape="0">
              <a:srgbClr val="EEF1F8">
                <a:alpha val="10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4500450" y="3186112"/>
            <a:ext cx="414327" cy="414338"/>
          </a:xfrm>
          <a:prstGeom prst="ellipse">
            <a:avLst/>
          </a:prstGeom>
          <a:solidFill>
            <a:srgbClr val="E4F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anchor="ctr" anchorCtr="0">
            <a:normAutofit fontScale="92500" lnSpcReduction="10000"/>
          </a:bodyPr>
          <a:lstStyle/>
          <a:p>
            <a:r>
              <a:rPr lang="he-IL" sz="1500" b="1">
                <a:solidFill>
                  <a:srgbClr val="1A7DD4"/>
                </a:solidFill>
                <a:latin typeface="Aptos"/>
              </a:rPr>
              <a:t>3</a:t>
            </a:r>
          </a:p>
        </p:txBody>
      </p:sp>
      <p:sp>
        <p:nvSpPr>
          <p:cNvPr id="48" name="Text 46"/>
          <p:cNvSpPr/>
          <p:nvPr/>
        </p:nvSpPr>
        <p:spPr>
          <a:xfrm>
            <a:off x="4978277" y="3198095"/>
            <a:ext cx="12144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 lnSpcReduction="10000"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 b="1" dirty="0">
                <a:solidFill>
                  <a:srgbClr val="1A7DD4"/>
                </a:solidFill>
                <a:latin typeface="Aptos"/>
                <a:ea typeface="Arial" pitchFamily="34" charset="-122"/>
                <a:cs typeface="Arial" pitchFamily="34" charset="-120"/>
              </a:rPr>
              <a:t>Google Places
Context</a:t>
            </a:r>
            <a:endParaRPr lang="en-US" sz="1250" b="1" dirty="0">
              <a:solidFill>
                <a:srgbClr val="1A7DD4"/>
              </a:solidFill>
              <a:latin typeface="Apto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29025" y="3764756"/>
            <a:ext cx="17144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  <a:t>Nearby bars, restaurants,
attractions, and services</a:t>
            </a:r>
            <a:endParaRPr lang="en-US" sz="1000" dirty="0">
              <a:solidFill>
                <a:srgbClr val="26365F"/>
              </a:solidFill>
              <a:latin typeface="Apto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529025" y="4307681"/>
            <a:ext cx="17144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1C2B58"/>
                </a:solidFill>
                <a:latin typeface="Aptos"/>
                <a:ea typeface="Arial" pitchFamily="34" charset="-122"/>
                <a:cs typeface="Arial" pitchFamily="34" charset="-120"/>
              </a:rPr>
              <a:t>4,211 places</a:t>
            </a:r>
            <a:endParaRPr lang="en-US" sz="1000" b="1" dirty="0">
              <a:solidFill>
                <a:srgbClr val="1C2B58"/>
              </a:solidFill>
              <a:latin typeface="Apto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686383" y="3000375"/>
            <a:ext cx="2128784" cy="15716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FE6F4"/>
            </a:solidFill>
            <a:prstDash val="solid"/>
          </a:ln>
          <a:effectLst>
            <a:outerShdw blurRad="101600" dist="695" dir="5400000" algn="bl" rotWithShape="0">
              <a:srgbClr val="EEF1F8">
                <a:alpha val="10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6872116" y="3186112"/>
            <a:ext cx="414327" cy="414338"/>
          </a:xfrm>
          <a:prstGeom prst="ellipse">
            <a:avLst/>
          </a:prstGeom>
          <a:solidFill>
            <a:srgbClr val="EE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anchor="ctr" anchorCtr="0">
            <a:normAutofit fontScale="92500" lnSpcReduction="10000"/>
          </a:bodyPr>
          <a:lstStyle/>
          <a:p>
            <a:r>
              <a:rPr lang="he-IL" sz="1500" b="1">
                <a:solidFill>
                  <a:srgbClr val="5435F4"/>
                </a:solidFill>
                <a:latin typeface="Aptos"/>
              </a:rPr>
              <a:t>4</a:t>
            </a:r>
          </a:p>
        </p:txBody>
      </p:sp>
      <p:sp>
        <p:nvSpPr>
          <p:cNvPr id="53" name="Text 51"/>
          <p:cNvSpPr/>
          <p:nvPr/>
        </p:nvSpPr>
        <p:spPr>
          <a:xfrm>
            <a:off x="7348238" y="3198062"/>
            <a:ext cx="12144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 lnSpcReduction="10000"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 b="1" dirty="0">
                <a:solidFill>
                  <a:srgbClr val="5435F4"/>
                </a:solidFill>
                <a:latin typeface="Aptos"/>
                <a:ea typeface="Arial" pitchFamily="34" charset="-122"/>
                <a:cs typeface="Arial" pitchFamily="34" charset="-120"/>
              </a:rPr>
              <a:t>Guest
Expectations</a:t>
            </a:r>
            <a:endParaRPr lang="en-US" sz="1250" b="1" dirty="0">
              <a:solidFill>
                <a:srgbClr val="5435F4"/>
              </a:solidFill>
              <a:latin typeface="Apto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900691" y="3764756"/>
            <a:ext cx="17144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  <a:t>Guest-type expectations inferred</a:t>
            </a:r>
            <a:r>
              <a:rPr lang="he-IL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26365F"/>
                </a:solidFill>
                <a:latin typeface="Aptos"/>
                <a:ea typeface="Arial" pitchFamily="34" charset="-122"/>
                <a:cs typeface="Arial" pitchFamily="34" charset="-120"/>
              </a:rPr>
              <a:t>from reviews and listing claims</a:t>
            </a:r>
            <a:endParaRPr lang="en-US" sz="1000" dirty="0">
              <a:solidFill>
                <a:srgbClr val="26365F"/>
              </a:solidFill>
              <a:latin typeface="Aptos"/>
            </a:endParaRPr>
          </a:p>
        </p:txBody>
      </p:sp>
      <p:sp>
        <p:nvSpPr>
          <p:cNvPr id="55" name="אליפסה 54">
            <a:extLst>
              <a:ext uri="{FF2B5EF4-FFF2-40B4-BE49-F238E27FC236}">
                <a16:creationId xmlns:a16="http://schemas.microsoft.com/office/drawing/2014/main" id="{5D52ADD1-51CE-AD45-918B-87248A53CA76}"/>
              </a:ext>
            </a:extLst>
          </p:cNvPr>
          <p:cNvSpPr/>
          <p:nvPr/>
        </p:nvSpPr>
        <p:spPr>
          <a:xfrm>
            <a:off x="6032500" y="1346200"/>
            <a:ext cx="304800" cy="304800"/>
          </a:xfrm>
          <a:prstGeom prst="ellipse">
            <a:avLst/>
          </a:prstGeom>
          <a:solidFill>
            <a:srgbClr val="ECE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6" name="משולש 55">
            <a:extLst>
              <a:ext uri="{FF2B5EF4-FFF2-40B4-BE49-F238E27FC236}">
                <a16:creationId xmlns:a16="http://schemas.microsoft.com/office/drawing/2014/main" id="{3929678A-45AC-704A-A9AA-C4693C12ED2B}"/>
              </a:ext>
            </a:extLst>
          </p:cNvPr>
          <p:cNvSpPr/>
          <p:nvPr/>
        </p:nvSpPr>
        <p:spPr>
          <a:xfrm>
            <a:off x="6108700" y="1397000"/>
            <a:ext cx="152400" cy="114300"/>
          </a:xfrm>
          <a:prstGeom prst="triangle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7" name="מלבן 56">
            <a:extLst>
              <a:ext uri="{FF2B5EF4-FFF2-40B4-BE49-F238E27FC236}">
                <a16:creationId xmlns:a16="http://schemas.microsoft.com/office/drawing/2014/main" id="{5D6E7F39-A116-294B-9E6F-44179556D604}"/>
              </a:ext>
            </a:extLst>
          </p:cNvPr>
          <p:cNvSpPr/>
          <p:nvPr/>
        </p:nvSpPr>
        <p:spPr>
          <a:xfrm>
            <a:off x="6121400" y="1498600"/>
            <a:ext cx="127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5435F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58" name="אליפסה 57">
            <a:extLst>
              <a:ext uri="{FF2B5EF4-FFF2-40B4-BE49-F238E27FC236}">
                <a16:creationId xmlns:a16="http://schemas.microsoft.com/office/drawing/2014/main" id="{96499E5B-3783-7F43-B5AE-9E4C2B8A966E}"/>
              </a:ext>
            </a:extLst>
          </p:cNvPr>
          <p:cNvSpPr/>
          <p:nvPr/>
        </p:nvSpPr>
        <p:spPr>
          <a:xfrm>
            <a:off x="8407400" y="1346200"/>
            <a:ext cx="304800" cy="304800"/>
          </a:xfrm>
          <a:prstGeom prst="ellipse">
            <a:avLst/>
          </a:prstGeom>
          <a:solidFill>
            <a:srgbClr val="E2F4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9" name="מלבן מעוגל 58">
            <a:extLst>
              <a:ext uri="{FF2B5EF4-FFF2-40B4-BE49-F238E27FC236}">
                <a16:creationId xmlns:a16="http://schemas.microsoft.com/office/drawing/2014/main" id="{E0C2640E-AE3D-8247-B573-9000D0FC95D4}"/>
              </a:ext>
            </a:extLst>
          </p:cNvPr>
          <p:cNvSpPr/>
          <p:nvPr/>
        </p:nvSpPr>
        <p:spPr>
          <a:xfrm>
            <a:off x="8470900" y="1435100"/>
            <a:ext cx="177800" cy="127000"/>
          </a:xfrm>
          <a:prstGeom prst="roundRect">
            <a:avLst/>
          </a:prstGeom>
          <a:solidFill>
            <a:srgbClr val="208F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0" name="אליפסה 59">
            <a:extLst>
              <a:ext uri="{FF2B5EF4-FFF2-40B4-BE49-F238E27FC236}">
                <a16:creationId xmlns:a16="http://schemas.microsoft.com/office/drawing/2014/main" id="{A6180EA9-7D15-E64E-B67F-B5315D678703}"/>
              </a:ext>
            </a:extLst>
          </p:cNvPr>
          <p:cNvSpPr/>
          <p:nvPr/>
        </p:nvSpPr>
        <p:spPr>
          <a:xfrm>
            <a:off x="8509000" y="148590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1" name="אליפסה 60">
            <a:extLst>
              <a:ext uri="{FF2B5EF4-FFF2-40B4-BE49-F238E27FC236}">
                <a16:creationId xmlns:a16="http://schemas.microsoft.com/office/drawing/2014/main" id="{A6A18BDB-ABF4-BF49-B77E-637245EA441A}"/>
              </a:ext>
            </a:extLst>
          </p:cNvPr>
          <p:cNvSpPr/>
          <p:nvPr/>
        </p:nvSpPr>
        <p:spPr>
          <a:xfrm>
            <a:off x="8559800" y="148590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2" name="אליפסה 61">
            <a:extLst>
              <a:ext uri="{FF2B5EF4-FFF2-40B4-BE49-F238E27FC236}">
                <a16:creationId xmlns:a16="http://schemas.microsoft.com/office/drawing/2014/main" id="{6600A0C4-E35B-E341-A14A-17456D1FD44B}"/>
              </a:ext>
            </a:extLst>
          </p:cNvPr>
          <p:cNvSpPr/>
          <p:nvPr/>
        </p:nvSpPr>
        <p:spPr>
          <a:xfrm>
            <a:off x="8610600" y="148590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3" name="אליפסה 62">
            <a:extLst>
              <a:ext uri="{FF2B5EF4-FFF2-40B4-BE49-F238E27FC236}">
                <a16:creationId xmlns:a16="http://schemas.microsoft.com/office/drawing/2014/main" id="{9605C1E5-B908-8441-AF34-1616DD72E18A}"/>
              </a:ext>
            </a:extLst>
          </p:cNvPr>
          <p:cNvSpPr/>
          <p:nvPr/>
        </p:nvSpPr>
        <p:spPr>
          <a:xfrm>
            <a:off x="6032500" y="3175000"/>
            <a:ext cx="304800" cy="304800"/>
          </a:xfrm>
          <a:prstGeom prst="ellipse">
            <a:avLst/>
          </a:prstGeom>
          <a:solidFill>
            <a:srgbClr val="E3F1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4" name="אליפסה 63">
            <a:extLst>
              <a:ext uri="{FF2B5EF4-FFF2-40B4-BE49-F238E27FC236}">
                <a16:creationId xmlns:a16="http://schemas.microsoft.com/office/drawing/2014/main" id="{95AE9649-BEB5-7E4B-A3DF-181390C11FF1}"/>
              </a:ext>
            </a:extLst>
          </p:cNvPr>
          <p:cNvSpPr/>
          <p:nvPr/>
        </p:nvSpPr>
        <p:spPr>
          <a:xfrm>
            <a:off x="6121400" y="3238500"/>
            <a:ext cx="127000" cy="127000"/>
          </a:xfrm>
          <a:prstGeom prst="ellipse">
            <a:avLst/>
          </a:prstGeom>
          <a:solidFill>
            <a:srgbClr val="1A7D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5" name="משולש 64">
            <a:extLst>
              <a:ext uri="{FF2B5EF4-FFF2-40B4-BE49-F238E27FC236}">
                <a16:creationId xmlns:a16="http://schemas.microsoft.com/office/drawing/2014/main" id="{2FF4A43F-2D73-E948-9534-9A389BC34247}"/>
              </a:ext>
            </a:extLst>
          </p:cNvPr>
          <p:cNvSpPr/>
          <p:nvPr/>
        </p:nvSpPr>
        <p:spPr>
          <a:xfrm rot="10800000">
            <a:off x="6146800" y="3340100"/>
            <a:ext cx="76200" cy="88900"/>
          </a:xfrm>
          <a:prstGeom prst="triangle">
            <a:avLst/>
          </a:prstGeom>
          <a:solidFill>
            <a:srgbClr val="1A7D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6" name="אליפסה 65">
            <a:extLst>
              <a:ext uri="{FF2B5EF4-FFF2-40B4-BE49-F238E27FC236}">
                <a16:creationId xmlns:a16="http://schemas.microsoft.com/office/drawing/2014/main" id="{CB0C572F-5AD8-0A46-A081-5A60CFDA0597}"/>
              </a:ext>
            </a:extLst>
          </p:cNvPr>
          <p:cNvSpPr/>
          <p:nvPr/>
        </p:nvSpPr>
        <p:spPr>
          <a:xfrm>
            <a:off x="6159500" y="3276600"/>
            <a:ext cx="50800" cy="508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7" name="אליפסה 66">
            <a:extLst>
              <a:ext uri="{FF2B5EF4-FFF2-40B4-BE49-F238E27FC236}">
                <a16:creationId xmlns:a16="http://schemas.microsoft.com/office/drawing/2014/main" id="{DD280053-3975-D740-B9CA-F2440EFFCE75}"/>
              </a:ext>
            </a:extLst>
          </p:cNvPr>
          <p:cNvSpPr/>
          <p:nvPr/>
        </p:nvSpPr>
        <p:spPr>
          <a:xfrm>
            <a:off x="8407400" y="3175000"/>
            <a:ext cx="304800" cy="304800"/>
          </a:xfrm>
          <a:prstGeom prst="ellipse">
            <a:avLst/>
          </a:prstGeom>
          <a:solidFill>
            <a:srgbClr val="ECE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8" name="אליפסה 67">
            <a:extLst>
              <a:ext uri="{FF2B5EF4-FFF2-40B4-BE49-F238E27FC236}">
                <a16:creationId xmlns:a16="http://schemas.microsoft.com/office/drawing/2014/main" id="{51DDA891-4708-9849-8BC2-C6EC80169AD6}"/>
              </a:ext>
            </a:extLst>
          </p:cNvPr>
          <p:cNvSpPr/>
          <p:nvPr/>
        </p:nvSpPr>
        <p:spPr>
          <a:xfrm>
            <a:off x="8470900" y="3238500"/>
            <a:ext cx="76200" cy="76200"/>
          </a:xfrm>
          <a:prstGeom prst="ellipse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9" name="מלבן מעוגל 68">
            <a:extLst>
              <a:ext uri="{FF2B5EF4-FFF2-40B4-BE49-F238E27FC236}">
                <a16:creationId xmlns:a16="http://schemas.microsoft.com/office/drawing/2014/main" id="{6F08F91D-482E-7443-BE00-518BAF0E673B}"/>
              </a:ext>
            </a:extLst>
          </p:cNvPr>
          <p:cNvSpPr/>
          <p:nvPr/>
        </p:nvSpPr>
        <p:spPr>
          <a:xfrm>
            <a:off x="8458200" y="3327400"/>
            <a:ext cx="114300" cy="88900"/>
          </a:xfrm>
          <a:prstGeom prst="roundRect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0" name="מלבן 69">
            <a:extLst>
              <a:ext uri="{FF2B5EF4-FFF2-40B4-BE49-F238E27FC236}">
                <a16:creationId xmlns:a16="http://schemas.microsoft.com/office/drawing/2014/main" id="{91ACC6E7-F70E-4D45-BE00-800C34B4F2BB}"/>
              </a:ext>
            </a:extLst>
          </p:cNvPr>
          <p:cNvSpPr/>
          <p:nvPr/>
        </p:nvSpPr>
        <p:spPr>
          <a:xfrm>
            <a:off x="8597900" y="3251200"/>
            <a:ext cx="63500" cy="25400"/>
          </a:xfrm>
          <a:prstGeom prst="rect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1" name="מלבן 70">
            <a:extLst>
              <a:ext uri="{FF2B5EF4-FFF2-40B4-BE49-F238E27FC236}">
                <a16:creationId xmlns:a16="http://schemas.microsoft.com/office/drawing/2014/main" id="{BCB3513B-E76B-FA4B-BCCA-4B847BAB3E2E}"/>
              </a:ext>
            </a:extLst>
          </p:cNvPr>
          <p:cNvSpPr/>
          <p:nvPr/>
        </p:nvSpPr>
        <p:spPr>
          <a:xfrm>
            <a:off x="8610600" y="3314700"/>
            <a:ext cx="76200" cy="25400"/>
          </a:xfrm>
          <a:prstGeom prst="rect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2" name="מלבן 71">
            <a:extLst>
              <a:ext uri="{FF2B5EF4-FFF2-40B4-BE49-F238E27FC236}">
                <a16:creationId xmlns:a16="http://schemas.microsoft.com/office/drawing/2014/main" id="{14BB7D52-44A6-4B45-B50D-ED979C056C66}"/>
              </a:ext>
            </a:extLst>
          </p:cNvPr>
          <p:cNvSpPr/>
          <p:nvPr/>
        </p:nvSpPr>
        <p:spPr>
          <a:xfrm>
            <a:off x="8597900" y="3378200"/>
            <a:ext cx="63500" cy="25400"/>
          </a:xfrm>
          <a:prstGeom prst="rect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2" name="מלבן 111">
            <a:extLst>
              <a:ext uri="{FF2B5EF4-FFF2-40B4-BE49-F238E27FC236}">
                <a16:creationId xmlns:a16="http://schemas.microsoft.com/office/drawing/2014/main" id="{8C3D4BB0-1F03-C441-8A0D-968ECBD44FC3}"/>
              </a:ext>
            </a:extLst>
          </p:cNvPr>
          <p:cNvSpPr/>
          <p:nvPr/>
        </p:nvSpPr>
        <p:spPr>
          <a:xfrm>
            <a:off x="228600" y="3733800"/>
            <a:ext cx="3721100" cy="1092200"/>
          </a:xfrm>
          <a:prstGeom prst="rect">
            <a:avLst/>
          </a:prstGeom>
          <a:solidFill>
            <a:srgbClr val="D8E6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3" name="מלבן 112">
            <a:extLst>
              <a:ext uri="{FF2B5EF4-FFF2-40B4-BE49-F238E27FC236}">
                <a16:creationId xmlns:a16="http://schemas.microsoft.com/office/drawing/2014/main" id="{650C4683-B62C-0C41-B41D-14DD94D7F2F8}"/>
              </a:ext>
            </a:extLst>
          </p:cNvPr>
          <p:cNvSpPr/>
          <p:nvPr/>
        </p:nvSpPr>
        <p:spPr>
          <a:xfrm rot="-120000">
            <a:off x="355600" y="3708400"/>
            <a:ext cx="3492500" cy="381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4" name="מלבן 113">
            <a:extLst>
              <a:ext uri="{FF2B5EF4-FFF2-40B4-BE49-F238E27FC236}">
                <a16:creationId xmlns:a16="http://schemas.microsoft.com/office/drawing/2014/main" id="{0CDE23B1-61FE-8042-8B50-2CB26B908C3A}"/>
              </a:ext>
            </a:extLst>
          </p:cNvPr>
          <p:cNvSpPr/>
          <p:nvPr/>
        </p:nvSpPr>
        <p:spPr>
          <a:xfrm rot="-720000">
            <a:off x="254000" y="558800"/>
            <a:ext cx="18415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5" name="מלבן 114">
            <a:extLst>
              <a:ext uri="{FF2B5EF4-FFF2-40B4-BE49-F238E27FC236}">
                <a16:creationId xmlns:a16="http://schemas.microsoft.com/office/drawing/2014/main" id="{7B9FCAB3-9FCE-2449-89E1-8FC117171168}"/>
              </a:ext>
            </a:extLst>
          </p:cNvPr>
          <p:cNvSpPr/>
          <p:nvPr/>
        </p:nvSpPr>
        <p:spPr>
          <a:xfrm rot="1020000">
            <a:off x="1498600" y="355600"/>
            <a:ext cx="23876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6" name="מלבן 115">
            <a:extLst>
              <a:ext uri="{FF2B5EF4-FFF2-40B4-BE49-F238E27FC236}">
                <a16:creationId xmlns:a16="http://schemas.microsoft.com/office/drawing/2014/main" id="{28B8D832-048F-F64C-8594-76A461058160}"/>
              </a:ext>
            </a:extLst>
          </p:cNvPr>
          <p:cNvSpPr/>
          <p:nvPr/>
        </p:nvSpPr>
        <p:spPr>
          <a:xfrm rot="300000">
            <a:off x="457200" y="812800"/>
            <a:ext cx="31242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7" name="מלבן 116">
            <a:extLst>
              <a:ext uri="{FF2B5EF4-FFF2-40B4-BE49-F238E27FC236}">
                <a16:creationId xmlns:a16="http://schemas.microsoft.com/office/drawing/2014/main" id="{5E204AD4-BB2C-CD40-95AF-FF5FE7468282}"/>
              </a:ext>
            </a:extLst>
          </p:cNvPr>
          <p:cNvSpPr/>
          <p:nvPr/>
        </p:nvSpPr>
        <p:spPr>
          <a:xfrm rot="-1200000">
            <a:off x="279400" y="1168400"/>
            <a:ext cx="24130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8" name="מלבן 117">
            <a:extLst>
              <a:ext uri="{FF2B5EF4-FFF2-40B4-BE49-F238E27FC236}">
                <a16:creationId xmlns:a16="http://schemas.microsoft.com/office/drawing/2014/main" id="{95BBB95A-07F4-D24C-A07D-12E8FB04732B}"/>
              </a:ext>
            </a:extLst>
          </p:cNvPr>
          <p:cNvSpPr/>
          <p:nvPr/>
        </p:nvSpPr>
        <p:spPr>
          <a:xfrm rot="1560000">
            <a:off x="1244600" y="1054100"/>
            <a:ext cx="27686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9" name="מלבן 118">
            <a:extLst>
              <a:ext uri="{FF2B5EF4-FFF2-40B4-BE49-F238E27FC236}">
                <a16:creationId xmlns:a16="http://schemas.microsoft.com/office/drawing/2014/main" id="{029538D9-3ACB-904D-B9F2-F53EF985A24C}"/>
              </a:ext>
            </a:extLst>
          </p:cNvPr>
          <p:cNvSpPr/>
          <p:nvPr/>
        </p:nvSpPr>
        <p:spPr>
          <a:xfrm rot="-360000">
            <a:off x="355600" y="1511300"/>
            <a:ext cx="30734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0" name="מלבן 119">
            <a:extLst>
              <a:ext uri="{FF2B5EF4-FFF2-40B4-BE49-F238E27FC236}">
                <a16:creationId xmlns:a16="http://schemas.microsoft.com/office/drawing/2014/main" id="{7AFB492D-DC05-2F4C-A6CE-65F7A8B66078}"/>
              </a:ext>
            </a:extLst>
          </p:cNvPr>
          <p:cNvSpPr/>
          <p:nvPr/>
        </p:nvSpPr>
        <p:spPr>
          <a:xfrm rot="900000">
            <a:off x="965200" y="1358900"/>
            <a:ext cx="29337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1" name="מלבן 120">
            <a:extLst>
              <a:ext uri="{FF2B5EF4-FFF2-40B4-BE49-F238E27FC236}">
                <a16:creationId xmlns:a16="http://schemas.microsoft.com/office/drawing/2014/main" id="{C1272401-3E05-A548-B50F-BC051076BBB1}"/>
              </a:ext>
            </a:extLst>
          </p:cNvPr>
          <p:cNvSpPr/>
          <p:nvPr/>
        </p:nvSpPr>
        <p:spPr>
          <a:xfrm rot="660000">
            <a:off x="254000" y="1917700"/>
            <a:ext cx="22860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2" name="מלבן 121">
            <a:extLst>
              <a:ext uri="{FF2B5EF4-FFF2-40B4-BE49-F238E27FC236}">
                <a16:creationId xmlns:a16="http://schemas.microsoft.com/office/drawing/2014/main" id="{1EFE0855-6531-3C4C-A175-50F1A29E9CA5}"/>
              </a:ext>
            </a:extLst>
          </p:cNvPr>
          <p:cNvSpPr/>
          <p:nvPr/>
        </p:nvSpPr>
        <p:spPr>
          <a:xfrm rot="-1380000">
            <a:off x="1625600" y="1765300"/>
            <a:ext cx="23114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3" name="מלבן 122">
            <a:extLst>
              <a:ext uri="{FF2B5EF4-FFF2-40B4-BE49-F238E27FC236}">
                <a16:creationId xmlns:a16="http://schemas.microsoft.com/office/drawing/2014/main" id="{437C8018-576A-844E-AF9A-659FB8A8C2BB}"/>
              </a:ext>
            </a:extLst>
          </p:cNvPr>
          <p:cNvSpPr/>
          <p:nvPr/>
        </p:nvSpPr>
        <p:spPr>
          <a:xfrm rot="240000">
            <a:off x="381000" y="2260600"/>
            <a:ext cx="32766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4" name="מלבן 123">
            <a:extLst>
              <a:ext uri="{FF2B5EF4-FFF2-40B4-BE49-F238E27FC236}">
                <a16:creationId xmlns:a16="http://schemas.microsoft.com/office/drawing/2014/main" id="{0B7A3F87-B852-A644-BDAD-1361A12FAC09}"/>
              </a:ext>
            </a:extLst>
          </p:cNvPr>
          <p:cNvSpPr/>
          <p:nvPr/>
        </p:nvSpPr>
        <p:spPr>
          <a:xfrm rot="-840000">
            <a:off x="228600" y="2578100"/>
            <a:ext cx="2159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5" name="מלבן 124">
            <a:extLst>
              <a:ext uri="{FF2B5EF4-FFF2-40B4-BE49-F238E27FC236}">
                <a16:creationId xmlns:a16="http://schemas.microsoft.com/office/drawing/2014/main" id="{107669E5-599A-7440-ADA1-FADC0A9F100E}"/>
              </a:ext>
            </a:extLst>
          </p:cNvPr>
          <p:cNvSpPr/>
          <p:nvPr/>
        </p:nvSpPr>
        <p:spPr>
          <a:xfrm rot="1440000">
            <a:off x="1244600" y="2451100"/>
            <a:ext cx="26797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6" name="מלבן 125">
            <a:extLst>
              <a:ext uri="{FF2B5EF4-FFF2-40B4-BE49-F238E27FC236}">
                <a16:creationId xmlns:a16="http://schemas.microsoft.com/office/drawing/2014/main" id="{EDAE032E-9593-164A-9E30-0F104BB9DB1E}"/>
              </a:ext>
            </a:extLst>
          </p:cNvPr>
          <p:cNvSpPr/>
          <p:nvPr/>
        </p:nvSpPr>
        <p:spPr>
          <a:xfrm rot="-180000">
            <a:off x="342900" y="2933700"/>
            <a:ext cx="33528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7" name="מלבן 126">
            <a:extLst>
              <a:ext uri="{FF2B5EF4-FFF2-40B4-BE49-F238E27FC236}">
                <a16:creationId xmlns:a16="http://schemas.microsoft.com/office/drawing/2014/main" id="{FBCDD672-6601-2F41-9F3D-057517B032A0}"/>
              </a:ext>
            </a:extLst>
          </p:cNvPr>
          <p:cNvSpPr/>
          <p:nvPr/>
        </p:nvSpPr>
        <p:spPr>
          <a:xfrm rot="1080000">
            <a:off x="1016000" y="2768600"/>
            <a:ext cx="27432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8" name="מלבן 127">
            <a:extLst>
              <a:ext uri="{FF2B5EF4-FFF2-40B4-BE49-F238E27FC236}">
                <a16:creationId xmlns:a16="http://schemas.microsoft.com/office/drawing/2014/main" id="{3A986D78-686E-8547-A95F-1AF3372A9972}"/>
              </a:ext>
            </a:extLst>
          </p:cNvPr>
          <p:cNvSpPr/>
          <p:nvPr/>
        </p:nvSpPr>
        <p:spPr>
          <a:xfrm rot="540000">
            <a:off x="266700" y="3289300"/>
            <a:ext cx="2413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9" name="מלבן 128">
            <a:extLst>
              <a:ext uri="{FF2B5EF4-FFF2-40B4-BE49-F238E27FC236}">
                <a16:creationId xmlns:a16="http://schemas.microsoft.com/office/drawing/2014/main" id="{843032A2-8DB0-B045-8632-A45348B66152}"/>
              </a:ext>
            </a:extLst>
          </p:cNvPr>
          <p:cNvSpPr/>
          <p:nvPr/>
        </p:nvSpPr>
        <p:spPr>
          <a:xfrm rot="-1200000">
            <a:off x="1587500" y="3136900"/>
            <a:ext cx="22860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0" name="מלבן 129">
            <a:extLst>
              <a:ext uri="{FF2B5EF4-FFF2-40B4-BE49-F238E27FC236}">
                <a16:creationId xmlns:a16="http://schemas.microsoft.com/office/drawing/2014/main" id="{BBEC6B4A-EE7B-4249-80C3-EBCB4DC0DC88}"/>
              </a:ext>
            </a:extLst>
          </p:cNvPr>
          <p:cNvSpPr/>
          <p:nvPr/>
        </p:nvSpPr>
        <p:spPr>
          <a:xfrm rot="300000">
            <a:off x="571500" y="3543300"/>
            <a:ext cx="2984500" cy="25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1" name="מלבן 130">
            <a:extLst>
              <a:ext uri="{FF2B5EF4-FFF2-40B4-BE49-F238E27FC236}">
                <a16:creationId xmlns:a16="http://schemas.microsoft.com/office/drawing/2014/main" id="{41AE2212-CDD4-734A-A5CC-BB5F04D59FEA}"/>
              </a:ext>
            </a:extLst>
          </p:cNvPr>
          <p:cNvSpPr/>
          <p:nvPr/>
        </p:nvSpPr>
        <p:spPr>
          <a:xfrm rot="540000">
            <a:off x="495300" y="482600"/>
            <a:ext cx="25400" cy="27305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2" name="מלבן 131">
            <a:extLst>
              <a:ext uri="{FF2B5EF4-FFF2-40B4-BE49-F238E27FC236}">
                <a16:creationId xmlns:a16="http://schemas.microsoft.com/office/drawing/2014/main" id="{293DBC57-632E-CE47-A202-C1811796823B}"/>
              </a:ext>
            </a:extLst>
          </p:cNvPr>
          <p:cNvSpPr/>
          <p:nvPr/>
        </p:nvSpPr>
        <p:spPr>
          <a:xfrm rot="-300000">
            <a:off x="914400" y="330200"/>
            <a:ext cx="25400" cy="31496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3" name="מלבן 132">
            <a:extLst>
              <a:ext uri="{FF2B5EF4-FFF2-40B4-BE49-F238E27FC236}">
                <a16:creationId xmlns:a16="http://schemas.microsoft.com/office/drawing/2014/main" id="{A846E85E-7C4C-A146-AE1B-0BB6C2BA906F}"/>
              </a:ext>
            </a:extLst>
          </p:cNvPr>
          <p:cNvSpPr/>
          <p:nvPr/>
        </p:nvSpPr>
        <p:spPr>
          <a:xfrm rot="720000">
            <a:off x="1384300" y="419100"/>
            <a:ext cx="38100" cy="27940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4" name="מלבן 133">
            <a:extLst>
              <a:ext uri="{FF2B5EF4-FFF2-40B4-BE49-F238E27FC236}">
                <a16:creationId xmlns:a16="http://schemas.microsoft.com/office/drawing/2014/main" id="{52AC66CB-0377-0144-87C4-E9F58DEFBB1A}"/>
              </a:ext>
            </a:extLst>
          </p:cNvPr>
          <p:cNvSpPr/>
          <p:nvPr/>
        </p:nvSpPr>
        <p:spPr>
          <a:xfrm rot="-660000">
            <a:off x="1879600" y="279400"/>
            <a:ext cx="25400" cy="31496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5" name="מלבן 134">
            <a:extLst>
              <a:ext uri="{FF2B5EF4-FFF2-40B4-BE49-F238E27FC236}">
                <a16:creationId xmlns:a16="http://schemas.microsoft.com/office/drawing/2014/main" id="{ACF212E0-0670-CC41-A25F-513553D4E6B5}"/>
              </a:ext>
            </a:extLst>
          </p:cNvPr>
          <p:cNvSpPr/>
          <p:nvPr/>
        </p:nvSpPr>
        <p:spPr>
          <a:xfrm rot="360000">
            <a:off x="2336800" y="406400"/>
            <a:ext cx="38100" cy="2946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6" name="מלבן 135">
            <a:extLst>
              <a:ext uri="{FF2B5EF4-FFF2-40B4-BE49-F238E27FC236}">
                <a16:creationId xmlns:a16="http://schemas.microsoft.com/office/drawing/2014/main" id="{AA44D16E-AA4A-D446-A64A-C8C595CCF5A3}"/>
              </a:ext>
            </a:extLst>
          </p:cNvPr>
          <p:cNvSpPr/>
          <p:nvPr/>
        </p:nvSpPr>
        <p:spPr>
          <a:xfrm rot="-480000">
            <a:off x="2806700" y="304800"/>
            <a:ext cx="25400" cy="30734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7" name="מלבן 136">
            <a:extLst>
              <a:ext uri="{FF2B5EF4-FFF2-40B4-BE49-F238E27FC236}">
                <a16:creationId xmlns:a16="http://schemas.microsoft.com/office/drawing/2014/main" id="{D6AF438F-8FE0-5545-AF40-AD644E7D8A92}"/>
              </a:ext>
            </a:extLst>
          </p:cNvPr>
          <p:cNvSpPr/>
          <p:nvPr/>
        </p:nvSpPr>
        <p:spPr>
          <a:xfrm rot="840000">
            <a:off x="3263900" y="508000"/>
            <a:ext cx="38100" cy="27305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8" name="מלבן 137">
            <a:extLst>
              <a:ext uri="{FF2B5EF4-FFF2-40B4-BE49-F238E27FC236}">
                <a16:creationId xmlns:a16="http://schemas.microsoft.com/office/drawing/2014/main" id="{3F5BF459-A15E-C54E-9DEB-837FB7B6054D}"/>
              </a:ext>
            </a:extLst>
          </p:cNvPr>
          <p:cNvSpPr/>
          <p:nvPr/>
        </p:nvSpPr>
        <p:spPr>
          <a:xfrm rot="-240000">
            <a:off x="3670300" y="393700"/>
            <a:ext cx="25400" cy="29718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9" name="מלבן 138">
            <a:extLst>
              <a:ext uri="{FF2B5EF4-FFF2-40B4-BE49-F238E27FC236}">
                <a16:creationId xmlns:a16="http://schemas.microsoft.com/office/drawing/2014/main" id="{3A018445-EDEF-EA4A-9357-D61142939FA6}"/>
              </a:ext>
            </a:extLst>
          </p:cNvPr>
          <p:cNvSpPr/>
          <p:nvPr/>
        </p:nvSpPr>
        <p:spPr>
          <a:xfrm rot="1860000">
            <a:off x="660400" y="1676400"/>
            <a:ext cx="16256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0" name="מלבן 139">
            <a:extLst>
              <a:ext uri="{FF2B5EF4-FFF2-40B4-BE49-F238E27FC236}">
                <a16:creationId xmlns:a16="http://schemas.microsoft.com/office/drawing/2014/main" id="{C8B8800D-3062-3942-8154-DA33E4EB0181}"/>
              </a:ext>
            </a:extLst>
          </p:cNvPr>
          <p:cNvSpPr/>
          <p:nvPr/>
        </p:nvSpPr>
        <p:spPr>
          <a:xfrm rot="-2040000">
            <a:off x="1930400" y="952500"/>
            <a:ext cx="16764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1" name="מלבן 140">
            <a:extLst>
              <a:ext uri="{FF2B5EF4-FFF2-40B4-BE49-F238E27FC236}">
                <a16:creationId xmlns:a16="http://schemas.microsoft.com/office/drawing/2014/main" id="{1602F253-E756-AD44-9223-F4AB1ED640D6}"/>
              </a:ext>
            </a:extLst>
          </p:cNvPr>
          <p:cNvSpPr/>
          <p:nvPr/>
        </p:nvSpPr>
        <p:spPr>
          <a:xfrm rot="1680000">
            <a:off x="419100" y="2679700"/>
            <a:ext cx="18034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2" name="מלבן 141">
            <a:extLst>
              <a:ext uri="{FF2B5EF4-FFF2-40B4-BE49-F238E27FC236}">
                <a16:creationId xmlns:a16="http://schemas.microsoft.com/office/drawing/2014/main" id="{8BDC3ECC-F894-B046-B289-3DDCF221D8A4}"/>
              </a:ext>
            </a:extLst>
          </p:cNvPr>
          <p:cNvSpPr/>
          <p:nvPr/>
        </p:nvSpPr>
        <p:spPr>
          <a:xfrm rot="2220000">
            <a:off x="2159000" y="2082800"/>
            <a:ext cx="16764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3" name="מלבן 142">
            <a:extLst>
              <a:ext uri="{FF2B5EF4-FFF2-40B4-BE49-F238E27FC236}">
                <a16:creationId xmlns:a16="http://schemas.microsoft.com/office/drawing/2014/main" id="{70AC6C60-556D-7146-AE72-3D9D3CC07FA4}"/>
              </a:ext>
            </a:extLst>
          </p:cNvPr>
          <p:cNvSpPr/>
          <p:nvPr/>
        </p:nvSpPr>
        <p:spPr>
          <a:xfrm rot="-1920000">
            <a:off x="990600" y="3124200"/>
            <a:ext cx="15494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4" name="מלבן 143">
            <a:extLst>
              <a:ext uri="{FF2B5EF4-FFF2-40B4-BE49-F238E27FC236}">
                <a16:creationId xmlns:a16="http://schemas.microsoft.com/office/drawing/2014/main" id="{7671C262-811D-C84F-AEA2-4CF37727ED34}"/>
              </a:ext>
            </a:extLst>
          </p:cNvPr>
          <p:cNvSpPr/>
          <p:nvPr/>
        </p:nvSpPr>
        <p:spPr>
          <a:xfrm rot="1740000">
            <a:off x="2565400" y="1409700"/>
            <a:ext cx="12954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5" name="מלבן 144">
            <a:extLst>
              <a:ext uri="{FF2B5EF4-FFF2-40B4-BE49-F238E27FC236}">
                <a16:creationId xmlns:a16="http://schemas.microsoft.com/office/drawing/2014/main" id="{CD2A73E4-6312-0D40-9F88-D841D918B1AE}"/>
              </a:ext>
            </a:extLst>
          </p:cNvPr>
          <p:cNvSpPr/>
          <p:nvPr/>
        </p:nvSpPr>
        <p:spPr>
          <a:xfrm rot="2280000">
            <a:off x="431800" y="927100"/>
            <a:ext cx="13970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6" name="מלבן 145">
            <a:extLst>
              <a:ext uri="{FF2B5EF4-FFF2-40B4-BE49-F238E27FC236}">
                <a16:creationId xmlns:a16="http://schemas.microsoft.com/office/drawing/2014/main" id="{A52467FE-5C4C-4942-98DB-1381656D5BF8}"/>
              </a:ext>
            </a:extLst>
          </p:cNvPr>
          <p:cNvSpPr/>
          <p:nvPr/>
        </p:nvSpPr>
        <p:spPr>
          <a:xfrm rot="-2280000">
            <a:off x="2413000" y="2819400"/>
            <a:ext cx="1333500" cy="12700"/>
          </a:xfrm>
          <a:prstGeom prst="rect">
            <a:avLst/>
          </a:prstGeom>
          <a:solidFill>
            <a:srgbClr val="F8F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7" name="אליפסה 146">
            <a:extLst>
              <a:ext uri="{FF2B5EF4-FFF2-40B4-BE49-F238E27FC236}">
                <a16:creationId xmlns:a16="http://schemas.microsoft.com/office/drawing/2014/main" id="{13C09702-2FC9-BD4F-987A-8897F0C45A9A}"/>
              </a:ext>
            </a:extLst>
          </p:cNvPr>
          <p:cNvSpPr/>
          <p:nvPr/>
        </p:nvSpPr>
        <p:spPr>
          <a:xfrm>
            <a:off x="393700" y="6604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8" name="אליפסה 147">
            <a:extLst>
              <a:ext uri="{FF2B5EF4-FFF2-40B4-BE49-F238E27FC236}">
                <a16:creationId xmlns:a16="http://schemas.microsoft.com/office/drawing/2014/main" id="{E98B0964-2714-AE45-98A5-2409F8A9A5EE}"/>
              </a:ext>
            </a:extLst>
          </p:cNvPr>
          <p:cNvSpPr/>
          <p:nvPr/>
        </p:nvSpPr>
        <p:spPr>
          <a:xfrm>
            <a:off x="412750" y="6794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9" name="אליפסה 148">
            <a:extLst>
              <a:ext uri="{FF2B5EF4-FFF2-40B4-BE49-F238E27FC236}">
                <a16:creationId xmlns:a16="http://schemas.microsoft.com/office/drawing/2014/main" id="{740A049B-5956-774C-8E30-1C533F750FA3}"/>
              </a:ext>
            </a:extLst>
          </p:cNvPr>
          <p:cNvSpPr/>
          <p:nvPr/>
        </p:nvSpPr>
        <p:spPr>
          <a:xfrm>
            <a:off x="698500" y="10033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0" name="אליפסה 149">
            <a:extLst>
              <a:ext uri="{FF2B5EF4-FFF2-40B4-BE49-F238E27FC236}">
                <a16:creationId xmlns:a16="http://schemas.microsoft.com/office/drawing/2014/main" id="{2A3DADA9-29D7-3B4E-A632-DF207919FC8C}"/>
              </a:ext>
            </a:extLst>
          </p:cNvPr>
          <p:cNvSpPr/>
          <p:nvPr/>
        </p:nvSpPr>
        <p:spPr>
          <a:xfrm>
            <a:off x="717550" y="10223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1" name="אליפסה 150">
            <a:extLst>
              <a:ext uri="{FF2B5EF4-FFF2-40B4-BE49-F238E27FC236}">
                <a16:creationId xmlns:a16="http://schemas.microsoft.com/office/drawing/2014/main" id="{CD64653A-EB41-814F-AF0E-A50534BB7394}"/>
              </a:ext>
            </a:extLst>
          </p:cNvPr>
          <p:cNvSpPr/>
          <p:nvPr/>
        </p:nvSpPr>
        <p:spPr>
          <a:xfrm>
            <a:off x="1054100" y="4572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2" name="אליפסה 151">
            <a:extLst>
              <a:ext uri="{FF2B5EF4-FFF2-40B4-BE49-F238E27FC236}">
                <a16:creationId xmlns:a16="http://schemas.microsoft.com/office/drawing/2014/main" id="{8037358D-C826-BA40-8F3A-D3B740E252A2}"/>
              </a:ext>
            </a:extLst>
          </p:cNvPr>
          <p:cNvSpPr/>
          <p:nvPr/>
        </p:nvSpPr>
        <p:spPr>
          <a:xfrm>
            <a:off x="1073150" y="4762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3" name="אליפסה 152">
            <a:extLst>
              <a:ext uri="{FF2B5EF4-FFF2-40B4-BE49-F238E27FC236}">
                <a16:creationId xmlns:a16="http://schemas.microsoft.com/office/drawing/2014/main" id="{3930E3F9-6B10-5449-B483-E28D95CE3192}"/>
              </a:ext>
            </a:extLst>
          </p:cNvPr>
          <p:cNvSpPr/>
          <p:nvPr/>
        </p:nvSpPr>
        <p:spPr>
          <a:xfrm>
            <a:off x="1320800" y="13208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4" name="אליפסה 153">
            <a:extLst>
              <a:ext uri="{FF2B5EF4-FFF2-40B4-BE49-F238E27FC236}">
                <a16:creationId xmlns:a16="http://schemas.microsoft.com/office/drawing/2014/main" id="{095FA66A-D2C9-C549-8355-5095C7C39708}"/>
              </a:ext>
            </a:extLst>
          </p:cNvPr>
          <p:cNvSpPr/>
          <p:nvPr/>
        </p:nvSpPr>
        <p:spPr>
          <a:xfrm>
            <a:off x="1339850" y="13398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5" name="אליפסה 154">
            <a:extLst>
              <a:ext uri="{FF2B5EF4-FFF2-40B4-BE49-F238E27FC236}">
                <a16:creationId xmlns:a16="http://schemas.microsoft.com/office/drawing/2014/main" id="{E6A407C2-E2C2-FC4F-BDD1-2EF2599733EC}"/>
              </a:ext>
            </a:extLst>
          </p:cNvPr>
          <p:cNvSpPr/>
          <p:nvPr/>
        </p:nvSpPr>
        <p:spPr>
          <a:xfrm>
            <a:off x="1676400" y="7874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6" name="אליפסה 155">
            <a:extLst>
              <a:ext uri="{FF2B5EF4-FFF2-40B4-BE49-F238E27FC236}">
                <a16:creationId xmlns:a16="http://schemas.microsoft.com/office/drawing/2014/main" id="{B5A3A0CE-CB4F-FA4A-8739-56CB5FBE30B4}"/>
              </a:ext>
            </a:extLst>
          </p:cNvPr>
          <p:cNvSpPr/>
          <p:nvPr/>
        </p:nvSpPr>
        <p:spPr>
          <a:xfrm>
            <a:off x="1695450" y="8064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7" name="אליפסה 156">
            <a:extLst>
              <a:ext uri="{FF2B5EF4-FFF2-40B4-BE49-F238E27FC236}">
                <a16:creationId xmlns:a16="http://schemas.microsoft.com/office/drawing/2014/main" id="{3E5E3DCB-B559-2C48-9C6C-6909A5D89779}"/>
              </a:ext>
            </a:extLst>
          </p:cNvPr>
          <p:cNvSpPr/>
          <p:nvPr/>
        </p:nvSpPr>
        <p:spPr>
          <a:xfrm>
            <a:off x="2006600" y="5461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8" name="אליפסה 157">
            <a:extLst>
              <a:ext uri="{FF2B5EF4-FFF2-40B4-BE49-F238E27FC236}">
                <a16:creationId xmlns:a16="http://schemas.microsoft.com/office/drawing/2014/main" id="{D33C82F0-C9EB-8346-BAA4-1376CBEAC1D7}"/>
              </a:ext>
            </a:extLst>
          </p:cNvPr>
          <p:cNvSpPr/>
          <p:nvPr/>
        </p:nvSpPr>
        <p:spPr>
          <a:xfrm>
            <a:off x="2025650" y="5651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9" name="אליפסה 158">
            <a:extLst>
              <a:ext uri="{FF2B5EF4-FFF2-40B4-BE49-F238E27FC236}">
                <a16:creationId xmlns:a16="http://schemas.microsoft.com/office/drawing/2014/main" id="{FA437CCF-931C-C24C-BD8F-3B6F4803D696}"/>
              </a:ext>
            </a:extLst>
          </p:cNvPr>
          <p:cNvSpPr/>
          <p:nvPr/>
        </p:nvSpPr>
        <p:spPr>
          <a:xfrm>
            <a:off x="2400300" y="11557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0" name="אליפסה 159">
            <a:extLst>
              <a:ext uri="{FF2B5EF4-FFF2-40B4-BE49-F238E27FC236}">
                <a16:creationId xmlns:a16="http://schemas.microsoft.com/office/drawing/2014/main" id="{11D809DA-083A-464A-9E89-E823347D3C29}"/>
              </a:ext>
            </a:extLst>
          </p:cNvPr>
          <p:cNvSpPr/>
          <p:nvPr/>
        </p:nvSpPr>
        <p:spPr>
          <a:xfrm>
            <a:off x="2419350" y="11747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1" name="אליפסה 160">
            <a:extLst>
              <a:ext uri="{FF2B5EF4-FFF2-40B4-BE49-F238E27FC236}">
                <a16:creationId xmlns:a16="http://schemas.microsoft.com/office/drawing/2014/main" id="{75C828C0-A45C-8841-A7C9-F126EEDD82FB}"/>
              </a:ext>
            </a:extLst>
          </p:cNvPr>
          <p:cNvSpPr/>
          <p:nvPr/>
        </p:nvSpPr>
        <p:spPr>
          <a:xfrm>
            <a:off x="2717800" y="6985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2" name="אליפסה 161">
            <a:extLst>
              <a:ext uri="{FF2B5EF4-FFF2-40B4-BE49-F238E27FC236}">
                <a16:creationId xmlns:a16="http://schemas.microsoft.com/office/drawing/2014/main" id="{07F2A37E-27BB-9C4C-8E9D-3C6FBD43DFD8}"/>
              </a:ext>
            </a:extLst>
          </p:cNvPr>
          <p:cNvSpPr/>
          <p:nvPr/>
        </p:nvSpPr>
        <p:spPr>
          <a:xfrm>
            <a:off x="2736850" y="7175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3" name="אליפסה 162">
            <a:extLst>
              <a:ext uri="{FF2B5EF4-FFF2-40B4-BE49-F238E27FC236}">
                <a16:creationId xmlns:a16="http://schemas.microsoft.com/office/drawing/2014/main" id="{F791A191-2847-6743-AD3E-0AE924555F53}"/>
              </a:ext>
            </a:extLst>
          </p:cNvPr>
          <p:cNvSpPr/>
          <p:nvPr/>
        </p:nvSpPr>
        <p:spPr>
          <a:xfrm>
            <a:off x="3098800" y="10541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4" name="אליפסה 163">
            <a:extLst>
              <a:ext uri="{FF2B5EF4-FFF2-40B4-BE49-F238E27FC236}">
                <a16:creationId xmlns:a16="http://schemas.microsoft.com/office/drawing/2014/main" id="{81C48CB0-B28B-5040-A064-FC1348B9B422}"/>
              </a:ext>
            </a:extLst>
          </p:cNvPr>
          <p:cNvSpPr/>
          <p:nvPr/>
        </p:nvSpPr>
        <p:spPr>
          <a:xfrm>
            <a:off x="3117850" y="10731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5" name="אליפסה 164">
            <a:extLst>
              <a:ext uri="{FF2B5EF4-FFF2-40B4-BE49-F238E27FC236}">
                <a16:creationId xmlns:a16="http://schemas.microsoft.com/office/drawing/2014/main" id="{C6C432BE-9953-494A-BC8F-B3E1EBBB16A9}"/>
              </a:ext>
            </a:extLst>
          </p:cNvPr>
          <p:cNvSpPr/>
          <p:nvPr/>
        </p:nvSpPr>
        <p:spPr>
          <a:xfrm>
            <a:off x="3505200" y="5715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6" name="אליפסה 165">
            <a:extLst>
              <a:ext uri="{FF2B5EF4-FFF2-40B4-BE49-F238E27FC236}">
                <a16:creationId xmlns:a16="http://schemas.microsoft.com/office/drawing/2014/main" id="{BA2FF306-1DD2-174A-B432-7C788C66D070}"/>
              </a:ext>
            </a:extLst>
          </p:cNvPr>
          <p:cNvSpPr/>
          <p:nvPr/>
        </p:nvSpPr>
        <p:spPr>
          <a:xfrm>
            <a:off x="3524250" y="5905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7" name="אליפסה 166">
            <a:extLst>
              <a:ext uri="{FF2B5EF4-FFF2-40B4-BE49-F238E27FC236}">
                <a16:creationId xmlns:a16="http://schemas.microsoft.com/office/drawing/2014/main" id="{0EDBFB79-F321-514C-8F0F-74212956E529}"/>
              </a:ext>
            </a:extLst>
          </p:cNvPr>
          <p:cNvSpPr/>
          <p:nvPr/>
        </p:nvSpPr>
        <p:spPr>
          <a:xfrm>
            <a:off x="596900" y="18034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8" name="אליפסה 167">
            <a:extLst>
              <a:ext uri="{FF2B5EF4-FFF2-40B4-BE49-F238E27FC236}">
                <a16:creationId xmlns:a16="http://schemas.microsoft.com/office/drawing/2014/main" id="{2158BDC2-D492-AE43-A140-4990AC7CDCBF}"/>
              </a:ext>
            </a:extLst>
          </p:cNvPr>
          <p:cNvSpPr/>
          <p:nvPr/>
        </p:nvSpPr>
        <p:spPr>
          <a:xfrm>
            <a:off x="615950" y="18224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9" name="אליפסה 168">
            <a:extLst>
              <a:ext uri="{FF2B5EF4-FFF2-40B4-BE49-F238E27FC236}">
                <a16:creationId xmlns:a16="http://schemas.microsoft.com/office/drawing/2014/main" id="{4AD52DAE-F805-7E4C-97CD-B1AEBAEE13EA}"/>
              </a:ext>
            </a:extLst>
          </p:cNvPr>
          <p:cNvSpPr/>
          <p:nvPr/>
        </p:nvSpPr>
        <p:spPr>
          <a:xfrm>
            <a:off x="1155700" y="21082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0" name="אליפסה 169">
            <a:extLst>
              <a:ext uri="{FF2B5EF4-FFF2-40B4-BE49-F238E27FC236}">
                <a16:creationId xmlns:a16="http://schemas.microsoft.com/office/drawing/2014/main" id="{56640087-0F3A-6641-AC38-48368BAC04DD}"/>
              </a:ext>
            </a:extLst>
          </p:cNvPr>
          <p:cNvSpPr/>
          <p:nvPr/>
        </p:nvSpPr>
        <p:spPr>
          <a:xfrm>
            <a:off x="1174750" y="21272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1" name="אליפסה 170">
            <a:extLst>
              <a:ext uri="{FF2B5EF4-FFF2-40B4-BE49-F238E27FC236}">
                <a16:creationId xmlns:a16="http://schemas.microsoft.com/office/drawing/2014/main" id="{F4C4E564-425A-9A45-BCF4-237F2BCC6DFB}"/>
              </a:ext>
            </a:extLst>
          </p:cNvPr>
          <p:cNvSpPr/>
          <p:nvPr/>
        </p:nvSpPr>
        <p:spPr>
          <a:xfrm>
            <a:off x="1739900" y="16383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2" name="אליפסה 171">
            <a:extLst>
              <a:ext uri="{FF2B5EF4-FFF2-40B4-BE49-F238E27FC236}">
                <a16:creationId xmlns:a16="http://schemas.microsoft.com/office/drawing/2014/main" id="{7AAE972B-81EA-1B46-8D80-818BF7F46A3A}"/>
              </a:ext>
            </a:extLst>
          </p:cNvPr>
          <p:cNvSpPr/>
          <p:nvPr/>
        </p:nvSpPr>
        <p:spPr>
          <a:xfrm>
            <a:off x="1758950" y="16573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3" name="אליפסה 172">
            <a:extLst>
              <a:ext uri="{FF2B5EF4-FFF2-40B4-BE49-F238E27FC236}">
                <a16:creationId xmlns:a16="http://schemas.microsoft.com/office/drawing/2014/main" id="{A0783AFD-9C39-BE44-94B6-1EE4D9F7BC5B}"/>
              </a:ext>
            </a:extLst>
          </p:cNvPr>
          <p:cNvSpPr/>
          <p:nvPr/>
        </p:nvSpPr>
        <p:spPr>
          <a:xfrm>
            <a:off x="2247900" y="19812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4" name="אליפסה 173">
            <a:extLst>
              <a:ext uri="{FF2B5EF4-FFF2-40B4-BE49-F238E27FC236}">
                <a16:creationId xmlns:a16="http://schemas.microsoft.com/office/drawing/2014/main" id="{B4FFDB7E-E3B2-A54A-891E-E0ACF3FE7E50}"/>
              </a:ext>
            </a:extLst>
          </p:cNvPr>
          <p:cNvSpPr/>
          <p:nvPr/>
        </p:nvSpPr>
        <p:spPr>
          <a:xfrm>
            <a:off x="2266950" y="20002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5" name="אליפסה 174">
            <a:extLst>
              <a:ext uri="{FF2B5EF4-FFF2-40B4-BE49-F238E27FC236}">
                <a16:creationId xmlns:a16="http://schemas.microsoft.com/office/drawing/2014/main" id="{2A66D1B8-B216-F145-ABD1-F792DA82D5BC}"/>
              </a:ext>
            </a:extLst>
          </p:cNvPr>
          <p:cNvSpPr/>
          <p:nvPr/>
        </p:nvSpPr>
        <p:spPr>
          <a:xfrm>
            <a:off x="2933700" y="17653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6" name="אליפסה 175">
            <a:extLst>
              <a:ext uri="{FF2B5EF4-FFF2-40B4-BE49-F238E27FC236}">
                <a16:creationId xmlns:a16="http://schemas.microsoft.com/office/drawing/2014/main" id="{3B162DCC-D31D-F849-8901-D192A1BDF35C}"/>
              </a:ext>
            </a:extLst>
          </p:cNvPr>
          <p:cNvSpPr/>
          <p:nvPr/>
        </p:nvSpPr>
        <p:spPr>
          <a:xfrm>
            <a:off x="2952750" y="17843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7" name="אליפסה 176">
            <a:extLst>
              <a:ext uri="{FF2B5EF4-FFF2-40B4-BE49-F238E27FC236}">
                <a16:creationId xmlns:a16="http://schemas.microsoft.com/office/drawing/2014/main" id="{68DFE557-A4DE-3C43-947A-C825CCC03B13}"/>
              </a:ext>
            </a:extLst>
          </p:cNvPr>
          <p:cNvSpPr/>
          <p:nvPr/>
        </p:nvSpPr>
        <p:spPr>
          <a:xfrm>
            <a:off x="3403600" y="22987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8" name="אליפסה 177">
            <a:extLst>
              <a:ext uri="{FF2B5EF4-FFF2-40B4-BE49-F238E27FC236}">
                <a16:creationId xmlns:a16="http://schemas.microsoft.com/office/drawing/2014/main" id="{3D5DABC1-2867-BF42-A7B7-E36F09D43300}"/>
              </a:ext>
            </a:extLst>
          </p:cNvPr>
          <p:cNvSpPr/>
          <p:nvPr/>
        </p:nvSpPr>
        <p:spPr>
          <a:xfrm>
            <a:off x="3422650" y="23177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9" name="אליפסה 178">
            <a:extLst>
              <a:ext uri="{FF2B5EF4-FFF2-40B4-BE49-F238E27FC236}">
                <a16:creationId xmlns:a16="http://schemas.microsoft.com/office/drawing/2014/main" id="{F502E0AE-B140-BA46-9F4E-7D637DC5D16B}"/>
              </a:ext>
            </a:extLst>
          </p:cNvPr>
          <p:cNvSpPr/>
          <p:nvPr/>
        </p:nvSpPr>
        <p:spPr>
          <a:xfrm>
            <a:off x="444500" y="28321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0" name="אליפסה 179">
            <a:extLst>
              <a:ext uri="{FF2B5EF4-FFF2-40B4-BE49-F238E27FC236}">
                <a16:creationId xmlns:a16="http://schemas.microsoft.com/office/drawing/2014/main" id="{5C0C8E0D-81F1-8743-A5BB-FE9F9D5CF1E4}"/>
              </a:ext>
            </a:extLst>
          </p:cNvPr>
          <p:cNvSpPr/>
          <p:nvPr/>
        </p:nvSpPr>
        <p:spPr>
          <a:xfrm>
            <a:off x="463550" y="28511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1" name="אליפסה 180">
            <a:extLst>
              <a:ext uri="{FF2B5EF4-FFF2-40B4-BE49-F238E27FC236}">
                <a16:creationId xmlns:a16="http://schemas.microsoft.com/office/drawing/2014/main" id="{1652E1E4-A107-0748-A9A5-E9E3ACF95D5A}"/>
              </a:ext>
            </a:extLst>
          </p:cNvPr>
          <p:cNvSpPr/>
          <p:nvPr/>
        </p:nvSpPr>
        <p:spPr>
          <a:xfrm>
            <a:off x="939800" y="30734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2" name="אליפסה 181">
            <a:extLst>
              <a:ext uri="{FF2B5EF4-FFF2-40B4-BE49-F238E27FC236}">
                <a16:creationId xmlns:a16="http://schemas.microsoft.com/office/drawing/2014/main" id="{C49BF7A5-FDAA-0940-BCE3-D2991858D236}"/>
              </a:ext>
            </a:extLst>
          </p:cNvPr>
          <p:cNvSpPr/>
          <p:nvPr/>
        </p:nvSpPr>
        <p:spPr>
          <a:xfrm>
            <a:off x="958850" y="30924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3" name="אליפסה 182">
            <a:extLst>
              <a:ext uri="{FF2B5EF4-FFF2-40B4-BE49-F238E27FC236}">
                <a16:creationId xmlns:a16="http://schemas.microsoft.com/office/drawing/2014/main" id="{8CE8EA3B-965C-9045-983B-DDCD2A7255BE}"/>
              </a:ext>
            </a:extLst>
          </p:cNvPr>
          <p:cNvSpPr/>
          <p:nvPr/>
        </p:nvSpPr>
        <p:spPr>
          <a:xfrm>
            <a:off x="1473200" y="26289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4" name="אליפסה 183">
            <a:extLst>
              <a:ext uri="{FF2B5EF4-FFF2-40B4-BE49-F238E27FC236}">
                <a16:creationId xmlns:a16="http://schemas.microsoft.com/office/drawing/2014/main" id="{0E8C788F-0809-424A-A675-388AC2AB0AD3}"/>
              </a:ext>
            </a:extLst>
          </p:cNvPr>
          <p:cNvSpPr/>
          <p:nvPr/>
        </p:nvSpPr>
        <p:spPr>
          <a:xfrm>
            <a:off x="1492250" y="26479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5" name="אליפסה 184">
            <a:extLst>
              <a:ext uri="{FF2B5EF4-FFF2-40B4-BE49-F238E27FC236}">
                <a16:creationId xmlns:a16="http://schemas.microsoft.com/office/drawing/2014/main" id="{0AD07424-4EFB-EC4D-96B3-73544180CC4E}"/>
              </a:ext>
            </a:extLst>
          </p:cNvPr>
          <p:cNvSpPr/>
          <p:nvPr/>
        </p:nvSpPr>
        <p:spPr>
          <a:xfrm>
            <a:off x="1917700" y="29845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6" name="אליפסה 185">
            <a:extLst>
              <a:ext uri="{FF2B5EF4-FFF2-40B4-BE49-F238E27FC236}">
                <a16:creationId xmlns:a16="http://schemas.microsoft.com/office/drawing/2014/main" id="{558B8C87-D6F1-754A-94AD-67A67DA9BF45}"/>
              </a:ext>
            </a:extLst>
          </p:cNvPr>
          <p:cNvSpPr/>
          <p:nvPr/>
        </p:nvSpPr>
        <p:spPr>
          <a:xfrm>
            <a:off x="1936750" y="30035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7" name="אליפסה 186">
            <a:extLst>
              <a:ext uri="{FF2B5EF4-FFF2-40B4-BE49-F238E27FC236}">
                <a16:creationId xmlns:a16="http://schemas.microsoft.com/office/drawing/2014/main" id="{CF6C16F5-F611-7D44-ABC7-5EDB203FFDB6}"/>
              </a:ext>
            </a:extLst>
          </p:cNvPr>
          <p:cNvSpPr/>
          <p:nvPr/>
        </p:nvSpPr>
        <p:spPr>
          <a:xfrm>
            <a:off x="2565400" y="27305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8" name="אליפסה 187">
            <a:extLst>
              <a:ext uri="{FF2B5EF4-FFF2-40B4-BE49-F238E27FC236}">
                <a16:creationId xmlns:a16="http://schemas.microsoft.com/office/drawing/2014/main" id="{E2149A12-B33D-424C-8388-CF5389D1BC8A}"/>
              </a:ext>
            </a:extLst>
          </p:cNvPr>
          <p:cNvSpPr/>
          <p:nvPr/>
        </p:nvSpPr>
        <p:spPr>
          <a:xfrm>
            <a:off x="2584450" y="27495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9" name="אליפסה 188">
            <a:extLst>
              <a:ext uri="{FF2B5EF4-FFF2-40B4-BE49-F238E27FC236}">
                <a16:creationId xmlns:a16="http://schemas.microsoft.com/office/drawing/2014/main" id="{702994CC-4C96-EC41-BE13-AC9255ACE4E7}"/>
              </a:ext>
            </a:extLst>
          </p:cNvPr>
          <p:cNvSpPr/>
          <p:nvPr/>
        </p:nvSpPr>
        <p:spPr>
          <a:xfrm>
            <a:off x="3187700" y="31750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0" name="אליפסה 189">
            <a:extLst>
              <a:ext uri="{FF2B5EF4-FFF2-40B4-BE49-F238E27FC236}">
                <a16:creationId xmlns:a16="http://schemas.microsoft.com/office/drawing/2014/main" id="{288EF5F0-C455-254C-B6FB-B145844019C2}"/>
              </a:ext>
            </a:extLst>
          </p:cNvPr>
          <p:cNvSpPr/>
          <p:nvPr/>
        </p:nvSpPr>
        <p:spPr>
          <a:xfrm>
            <a:off x="3206750" y="31940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1" name="אליפסה 190">
            <a:extLst>
              <a:ext uri="{FF2B5EF4-FFF2-40B4-BE49-F238E27FC236}">
                <a16:creationId xmlns:a16="http://schemas.microsoft.com/office/drawing/2014/main" id="{488812BF-54E0-464B-9848-18B76F5527D7}"/>
              </a:ext>
            </a:extLst>
          </p:cNvPr>
          <p:cNvSpPr/>
          <p:nvPr/>
        </p:nvSpPr>
        <p:spPr>
          <a:xfrm>
            <a:off x="3644900" y="28702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2" name="אליפסה 191">
            <a:extLst>
              <a:ext uri="{FF2B5EF4-FFF2-40B4-BE49-F238E27FC236}">
                <a16:creationId xmlns:a16="http://schemas.microsoft.com/office/drawing/2014/main" id="{842880D8-332C-704C-8BBA-894ADEF711EE}"/>
              </a:ext>
            </a:extLst>
          </p:cNvPr>
          <p:cNvSpPr/>
          <p:nvPr/>
        </p:nvSpPr>
        <p:spPr>
          <a:xfrm>
            <a:off x="3663950" y="28892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3" name="אליפסה 192">
            <a:extLst>
              <a:ext uri="{FF2B5EF4-FFF2-40B4-BE49-F238E27FC236}">
                <a16:creationId xmlns:a16="http://schemas.microsoft.com/office/drawing/2014/main" id="{30E2A629-629E-904D-914D-E1A4ADA8D2CC}"/>
              </a:ext>
            </a:extLst>
          </p:cNvPr>
          <p:cNvSpPr/>
          <p:nvPr/>
        </p:nvSpPr>
        <p:spPr>
          <a:xfrm>
            <a:off x="850900" y="35052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4" name="אליפסה 193">
            <a:extLst>
              <a:ext uri="{FF2B5EF4-FFF2-40B4-BE49-F238E27FC236}">
                <a16:creationId xmlns:a16="http://schemas.microsoft.com/office/drawing/2014/main" id="{EA272D18-00AC-2249-B55B-1DE71798081B}"/>
              </a:ext>
            </a:extLst>
          </p:cNvPr>
          <p:cNvSpPr/>
          <p:nvPr/>
        </p:nvSpPr>
        <p:spPr>
          <a:xfrm>
            <a:off x="869950" y="35242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5" name="אליפסה 194">
            <a:extLst>
              <a:ext uri="{FF2B5EF4-FFF2-40B4-BE49-F238E27FC236}">
                <a16:creationId xmlns:a16="http://schemas.microsoft.com/office/drawing/2014/main" id="{35AF215E-7F0D-B24E-8A88-994567984939}"/>
              </a:ext>
            </a:extLst>
          </p:cNvPr>
          <p:cNvSpPr/>
          <p:nvPr/>
        </p:nvSpPr>
        <p:spPr>
          <a:xfrm>
            <a:off x="1955800" y="3505200"/>
            <a:ext cx="63500" cy="63500"/>
          </a:xfrm>
          <a:prstGeom prst="ellipse">
            <a:avLst/>
          </a:prstGeom>
          <a:solidFill>
            <a:srgbClr val="6851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6" name="אליפסה 195">
            <a:extLst>
              <a:ext uri="{FF2B5EF4-FFF2-40B4-BE49-F238E27FC236}">
                <a16:creationId xmlns:a16="http://schemas.microsoft.com/office/drawing/2014/main" id="{A7333BA5-A853-214A-8BE7-4703DD0213EF}"/>
              </a:ext>
            </a:extLst>
          </p:cNvPr>
          <p:cNvSpPr/>
          <p:nvPr/>
        </p:nvSpPr>
        <p:spPr>
          <a:xfrm>
            <a:off x="1974850" y="352425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7" name="מלבן 196">
            <a:extLst>
              <a:ext uri="{FF2B5EF4-FFF2-40B4-BE49-F238E27FC236}">
                <a16:creationId xmlns:a16="http://schemas.microsoft.com/office/drawing/2014/main" id="{3D8F6618-C8D0-284C-B178-D1C42D0D8B48}"/>
              </a:ext>
            </a:extLst>
          </p:cNvPr>
          <p:cNvSpPr/>
          <p:nvPr/>
        </p:nvSpPr>
        <p:spPr>
          <a:xfrm>
            <a:off x="3403600" y="2298700"/>
            <a:ext cx="444500" cy="279400"/>
          </a:xfrm>
          <a:prstGeom prst="rect">
            <a:avLst/>
          </a:prstGeom>
          <a:solidFill>
            <a:srgbClr val="C5C9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8" name="מלבן 197">
            <a:extLst>
              <a:ext uri="{FF2B5EF4-FFF2-40B4-BE49-F238E27FC236}">
                <a16:creationId xmlns:a16="http://schemas.microsoft.com/office/drawing/2014/main" id="{2020281F-A4BE-5D44-89E7-EBAD9B4F2C5C}"/>
              </a:ext>
            </a:extLst>
          </p:cNvPr>
          <p:cNvSpPr/>
          <p:nvPr/>
        </p:nvSpPr>
        <p:spPr>
          <a:xfrm>
            <a:off x="3467100" y="2146300"/>
            <a:ext cx="88900" cy="190500"/>
          </a:xfrm>
          <a:prstGeom prst="rect">
            <a:avLst/>
          </a:prstGeom>
          <a:solidFill>
            <a:srgbClr val="B9BF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9" name="מלבן 198">
            <a:extLst>
              <a:ext uri="{FF2B5EF4-FFF2-40B4-BE49-F238E27FC236}">
                <a16:creationId xmlns:a16="http://schemas.microsoft.com/office/drawing/2014/main" id="{8A36793A-8FE9-EC47-9A81-30DFB1EC78D9}"/>
              </a:ext>
            </a:extLst>
          </p:cNvPr>
          <p:cNvSpPr/>
          <p:nvPr/>
        </p:nvSpPr>
        <p:spPr>
          <a:xfrm>
            <a:off x="3695700" y="2108200"/>
            <a:ext cx="88900" cy="228600"/>
          </a:xfrm>
          <a:prstGeom prst="rect">
            <a:avLst/>
          </a:prstGeom>
          <a:solidFill>
            <a:srgbClr val="B9BF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0" name="מלבן 199">
            <a:extLst>
              <a:ext uri="{FF2B5EF4-FFF2-40B4-BE49-F238E27FC236}">
                <a16:creationId xmlns:a16="http://schemas.microsoft.com/office/drawing/2014/main" id="{E8984221-CB22-214B-B975-8F7E9B65398A}"/>
              </a:ext>
            </a:extLst>
          </p:cNvPr>
          <p:cNvSpPr/>
          <p:nvPr/>
        </p:nvSpPr>
        <p:spPr>
          <a:xfrm>
            <a:off x="3568700" y="2209800"/>
            <a:ext cx="127000" cy="368300"/>
          </a:xfrm>
          <a:prstGeom prst="rect">
            <a:avLst/>
          </a:prstGeom>
          <a:solidFill>
            <a:srgbClr val="B3BA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1" name="אליפסה 200">
            <a:extLst>
              <a:ext uri="{FF2B5EF4-FFF2-40B4-BE49-F238E27FC236}">
                <a16:creationId xmlns:a16="http://schemas.microsoft.com/office/drawing/2014/main" id="{2DA9A5AC-D257-FD47-98C7-FB0D168AE231}"/>
              </a:ext>
            </a:extLst>
          </p:cNvPr>
          <p:cNvSpPr/>
          <p:nvPr/>
        </p:nvSpPr>
        <p:spPr>
          <a:xfrm>
            <a:off x="3581400" y="2133600"/>
            <a:ext cx="101600" cy="101600"/>
          </a:xfrm>
          <a:prstGeom prst="ellipse">
            <a:avLst/>
          </a:prstGeom>
          <a:solidFill>
            <a:srgbClr val="AEB6D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2" name="מלבן 201">
            <a:extLst>
              <a:ext uri="{FF2B5EF4-FFF2-40B4-BE49-F238E27FC236}">
                <a16:creationId xmlns:a16="http://schemas.microsoft.com/office/drawing/2014/main" id="{07B93D5B-F369-524C-89EF-FA2FCE75BF9B}"/>
              </a:ext>
            </a:extLst>
          </p:cNvPr>
          <p:cNvSpPr/>
          <p:nvPr/>
        </p:nvSpPr>
        <p:spPr>
          <a:xfrm>
            <a:off x="3619500" y="2057400"/>
            <a:ext cx="25400" cy="101600"/>
          </a:xfrm>
          <a:prstGeom prst="rect">
            <a:avLst/>
          </a:prstGeom>
          <a:solidFill>
            <a:srgbClr val="A5AED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3" name="מלבן 202">
            <a:extLst>
              <a:ext uri="{FF2B5EF4-FFF2-40B4-BE49-F238E27FC236}">
                <a16:creationId xmlns:a16="http://schemas.microsoft.com/office/drawing/2014/main" id="{FAB7EA42-ADBF-4946-B8B5-7D34D727377F}"/>
              </a:ext>
            </a:extLst>
          </p:cNvPr>
          <p:cNvSpPr/>
          <p:nvPr/>
        </p:nvSpPr>
        <p:spPr>
          <a:xfrm rot="-120000">
            <a:off x="431800" y="4203700"/>
            <a:ext cx="2438400" cy="38100"/>
          </a:xfrm>
          <a:prstGeom prst="rect">
            <a:avLst/>
          </a:prstGeom>
          <a:solidFill>
            <a:srgbClr val="8898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4" name="מלבן 203">
            <a:extLst>
              <a:ext uri="{FF2B5EF4-FFF2-40B4-BE49-F238E27FC236}">
                <a16:creationId xmlns:a16="http://schemas.microsoft.com/office/drawing/2014/main" id="{EA442B69-ADF2-584C-9512-1FD112AB9589}"/>
              </a:ext>
            </a:extLst>
          </p:cNvPr>
          <p:cNvSpPr/>
          <p:nvPr/>
        </p:nvSpPr>
        <p:spPr>
          <a:xfrm>
            <a:off x="749300" y="3911600"/>
            <a:ext cx="50800" cy="698500"/>
          </a:xfrm>
          <a:prstGeom prst="rect">
            <a:avLst/>
          </a:prstGeom>
          <a:solidFill>
            <a:srgbClr val="8191C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5" name="מלבן 204">
            <a:extLst>
              <a:ext uri="{FF2B5EF4-FFF2-40B4-BE49-F238E27FC236}">
                <a16:creationId xmlns:a16="http://schemas.microsoft.com/office/drawing/2014/main" id="{BA054FC9-773C-1046-9DE7-353B14FCE56C}"/>
              </a:ext>
            </a:extLst>
          </p:cNvPr>
          <p:cNvSpPr/>
          <p:nvPr/>
        </p:nvSpPr>
        <p:spPr>
          <a:xfrm>
            <a:off x="1993900" y="3835400"/>
            <a:ext cx="50800" cy="774700"/>
          </a:xfrm>
          <a:prstGeom prst="rect">
            <a:avLst/>
          </a:prstGeom>
          <a:solidFill>
            <a:srgbClr val="8191C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6" name="מלבן 205">
            <a:extLst>
              <a:ext uri="{FF2B5EF4-FFF2-40B4-BE49-F238E27FC236}">
                <a16:creationId xmlns:a16="http://schemas.microsoft.com/office/drawing/2014/main" id="{E74801B5-1B30-4E43-A7A8-62A6DBA2DD49}"/>
              </a:ext>
            </a:extLst>
          </p:cNvPr>
          <p:cNvSpPr/>
          <p:nvPr/>
        </p:nvSpPr>
        <p:spPr>
          <a:xfrm>
            <a:off x="698500" y="3937000"/>
            <a:ext cx="152400" cy="38100"/>
          </a:xfrm>
          <a:prstGeom prst="rect">
            <a:avLst/>
          </a:prstGeom>
          <a:solidFill>
            <a:srgbClr val="8191C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7" name="מלבן 206">
            <a:extLst>
              <a:ext uri="{FF2B5EF4-FFF2-40B4-BE49-F238E27FC236}">
                <a16:creationId xmlns:a16="http://schemas.microsoft.com/office/drawing/2014/main" id="{35FC947E-46ED-4743-95FD-D6E57EE4377B}"/>
              </a:ext>
            </a:extLst>
          </p:cNvPr>
          <p:cNvSpPr/>
          <p:nvPr/>
        </p:nvSpPr>
        <p:spPr>
          <a:xfrm>
            <a:off x="1943100" y="3860800"/>
            <a:ext cx="152400" cy="38100"/>
          </a:xfrm>
          <a:prstGeom prst="rect">
            <a:avLst/>
          </a:prstGeom>
          <a:solidFill>
            <a:srgbClr val="8191C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8" name="מלבן 207">
            <a:extLst>
              <a:ext uri="{FF2B5EF4-FFF2-40B4-BE49-F238E27FC236}">
                <a16:creationId xmlns:a16="http://schemas.microsoft.com/office/drawing/2014/main" id="{776A3FC1-A1A0-8F46-A007-1B96BA578BAA}"/>
              </a:ext>
            </a:extLst>
          </p:cNvPr>
          <p:cNvSpPr/>
          <p:nvPr/>
        </p:nvSpPr>
        <p:spPr>
          <a:xfrm rot="-300000">
            <a:off x="482600" y="4051300"/>
            <a:ext cx="1600200" cy="12700"/>
          </a:xfrm>
          <a:prstGeom prst="rect">
            <a:avLst/>
          </a:prstGeom>
          <a:solidFill>
            <a:srgbClr val="9EAB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9" name="מלבן 208">
            <a:extLst>
              <a:ext uri="{FF2B5EF4-FFF2-40B4-BE49-F238E27FC236}">
                <a16:creationId xmlns:a16="http://schemas.microsoft.com/office/drawing/2014/main" id="{9A05CE0F-4BCB-0E4D-807A-C947BFCFE750}"/>
              </a:ext>
            </a:extLst>
          </p:cNvPr>
          <p:cNvSpPr/>
          <p:nvPr/>
        </p:nvSpPr>
        <p:spPr>
          <a:xfrm rot="420000">
            <a:off x="762000" y="3924300"/>
            <a:ext cx="1435100" cy="12700"/>
          </a:xfrm>
          <a:prstGeom prst="rect">
            <a:avLst/>
          </a:prstGeom>
          <a:solidFill>
            <a:srgbClr val="9EAB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0" name="מלבן 209">
            <a:extLst>
              <a:ext uri="{FF2B5EF4-FFF2-40B4-BE49-F238E27FC236}">
                <a16:creationId xmlns:a16="http://schemas.microsoft.com/office/drawing/2014/main" id="{20762037-AF3D-4D41-A4E2-A89311CDF5B5}"/>
              </a:ext>
            </a:extLst>
          </p:cNvPr>
          <p:cNvSpPr/>
          <p:nvPr/>
        </p:nvSpPr>
        <p:spPr>
          <a:xfrm rot="780000">
            <a:off x="2032000" y="3873500"/>
            <a:ext cx="1003300" cy="12700"/>
          </a:xfrm>
          <a:prstGeom prst="rect">
            <a:avLst/>
          </a:prstGeom>
          <a:solidFill>
            <a:srgbClr val="9EAB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1" name="מלבן 210">
            <a:extLst>
              <a:ext uri="{FF2B5EF4-FFF2-40B4-BE49-F238E27FC236}">
                <a16:creationId xmlns:a16="http://schemas.microsoft.com/office/drawing/2014/main" id="{164D1281-2698-F645-8926-00ADFA327D3E}"/>
              </a:ext>
            </a:extLst>
          </p:cNvPr>
          <p:cNvSpPr/>
          <p:nvPr/>
        </p:nvSpPr>
        <p:spPr>
          <a:xfrm rot="-960000">
            <a:off x="304800" y="4165600"/>
            <a:ext cx="495300" cy="12700"/>
          </a:xfrm>
          <a:prstGeom prst="rect">
            <a:avLst/>
          </a:prstGeom>
          <a:solidFill>
            <a:srgbClr val="9EAB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2" name="מלבן 211">
            <a:extLst>
              <a:ext uri="{FF2B5EF4-FFF2-40B4-BE49-F238E27FC236}">
                <a16:creationId xmlns:a16="http://schemas.microsoft.com/office/drawing/2014/main" id="{7675AF07-D3E9-8A40-9157-F8739D8B4305}"/>
              </a:ext>
            </a:extLst>
          </p:cNvPr>
          <p:cNvSpPr/>
          <p:nvPr/>
        </p:nvSpPr>
        <p:spPr>
          <a:xfrm>
            <a:off x="863600" y="4064000"/>
            <a:ext cx="12700" cy="3175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3" name="מלבן 212">
            <a:extLst>
              <a:ext uri="{FF2B5EF4-FFF2-40B4-BE49-F238E27FC236}">
                <a16:creationId xmlns:a16="http://schemas.microsoft.com/office/drawing/2014/main" id="{36C02EDE-FA80-D446-86B4-0DEB56593813}"/>
              </a:ext>
            </a:extLst>
          </p:cNvPr>
          <p:cNvSpPr/>
          <p:nvPr/>
        </p:nvSpPr>
        <p:spPr>
          <a:xfrm>
            <a:off x="1066800" y="4064000"/>
            <a:ext cx="12700" cy="3175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4" name="מלבן 213">
            <a:extLst>
              <a:ext uri="{FF2B5EF4-FFF2-40B4-BE49-F238E27FC236}">
                <a16:creationId xmlns:a16="http://schemas.microsoft.com/office/drawing/2014/main" id="{7F0A1B09-8B0F-0A40-A4BC-1F68127D78BA}"/>
              </a:ext>
            </a:extLst>
          </p:cNvPr>
          <p:cNvSpPr/>
          <p:nvPr/>
        </p:nvSpPr>
        <p:spPr>
          <a:xfrm>
            <a:off x="1270000" y="4064000"/>
            <a:ext cx="12700" cy="3175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5" name="מלבן 214">
            <a:extLst>
              <a:ext uri="{FF2B5EF4-FFF2-40B4-BE49-F238E27FC236}">
                <a16:creationId xmlns:a16="http://schemas.microsoft.com/office/drawing/2014/main" id="{C9CA4716-EB0A-4F4D-94E8-8B3A799BCA00}"/>
              </a:ext>
            </a:extLst>
          </p:cNvPr>
          <p:cNvSpPr/>
          <p:nvPr/>
        </p:nvSpPr>
        <p:spPr>
          <a:xfrm>
            <a:off x="1473200" y="4064000"/>
            <a:ext cx="12700" cy="3175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6" name="מלבן 215">
            <a:extLst>
              <a:ext uri="{FF2B5EF4-FFF2-40B4-BE49-F238E27FC236}">
                <a16:creationId xmlns:a16="http://schemas.microsoft.com/office/drawing/2014/main" id="{26B261FD-E153-5F46-A4B0-A8007A8527EF}"/>
              </a:ext>
            </a:extLst>
          </p:cNvPr>
          <p:cNvSpPr/>
          <p:nvPr/>
        </p:nvSpPr>
        <p:spPr>
          <a:xfrm>
            <a:off x="1676400" y="4064000"/>
            <a:ext cx="12700" cy="3175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7" name="מלבן 216">
            <a:extLst>
              <a:ext uri="{FF2B5EF4-FFF2-40B4-BE49-F238E27FC236}">
                <a16:creationId xmlns:a16="http://schemas.microsoft.com/office/drawing/2014/main" id="{570853DF-4A34-DF4A-A851-79FABEA55F22}"/>
              </a:ext>
            </a:extLst>
          </p:cNvPr>
          <p:cNvSpPr/>
          <p:nvPr/>
        </p:nvSpPr>
        <p:spPr>
          <a:xfrm>
            <a:off x="1879600" y="4064000"/>
            <a:ext cx="12700" cy="3175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8" name="מלבן 217">
            <a:extLst>
              <a:ext uri="{FF2B5EF4-FFF2-40B4-BE49-F238E27FC236}">
                <a16:creationId xmlns:a16="http://schemas.microsoft.com/office/drawing/2014/main" id="{34E52638-E964-E44D-9F62-F51AD654570D}"/>
              </a:ext>
            </a:extLst>
          </p:cNvPr>
          <p:cNvSpPr/>
          <p:nvPr/>
        </p:nvSpPr>
        <p:spPr>
          <a:xfrm>
            <a:off x="2159000" y="4064000"/>
            <a:ext cx="12700" cy="2540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9" name="מלבן 218">
            <a:extLst>
              <a:ext uri="{FF2B5EF4-FFF2-40B4-BE49-F238E27FC236}">
                <a16:creationId xmlns:a16="http://schemas.microsoft.com/office/drawing/2014/main" id="{28330774-A3F5-E447-A224-8465622DF20F}"/>
              </a:ext>
            </a:extLst>
          </p:cNvPr>
          <p:cNvSpPr/>
          <p:nvPr/>
        </p:nvSpPr>
        <p:spPr>
          <a:xfrm>
            <a:off x="2336800" y="4064000"/>
            <a:ext cx="12700" cy="2540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0" name="מלבן 219">
            <a:extLst>
              <a:ext uri="{FF2B5EF4-FFF2-40B4-BE49-F238E27FC236}">
                <a16:creationId xmlns:a16="http://schemas.microsoft.com/office/drawing/2014/main" id="{2A19433E-3384-614E-81ED-AFF40D3EBBB4}"/>
              </a:ext>
            </a:extLst>
          </p:cNvPr>
          <p:cNvSpPr/>
          <p:nvPr/>
        </p:nvSpPr>
        <p:spPr>
          <a:xfrm>
            <a:off x="2514600" y="4064000"/>
            <a:ext cx="12700" cy="2540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1" name="מלבן 220">
            <a:extLst>
              <a:ext uri="{FF2B5EF4-FFF2-40B4-BE49-F238E27FC236}">
                <a16:creationId xmlns:a16="http://schemas.microsoft.com/office/drawing/2014/main" id="{940BEB8B-A985-884D-B132-B5B62A2FC0DF}"/>
              </a:ext>
            </a:extLst>
          </p:cNvPr>
          <p:cNvSpPr/>
          <p:nvPr/>
        </p:nvSpPr>
        <p:spPr>
          <a:xfrm>
            <a:off x="2692400" y="4064000"/>
            <a:ext cx="12700" cy="254000"/>
          </a:xfrm>
          <a:prstGeom prst="rect">
            <a:avLst/>
          </a:prstGeom>
          <a:solidFill>
            <a:srgbClr val="AAB5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2" name="מלבן 221">
            <a:extLst>
              <a:ext uri="{FF2B5EF4-FFF2-40B4-BE49-F238E27FC236}">
                <a16:creationId xmlns:a16="http://schemas.microsoft.com/office/drawing/2014/main" id="{F767D84D-49BB-B248-B9DC-4F5667084753}"/>
              </a:ext>
            </a:extLst>
          </p:cNvPr>
          <p:cNvSpPr/>
          <p:nvPr/>
        </p:nvSpPr>
        <p:spPr>
          <a:xfrm>
            <a:off x="3111500" y="4127500"/>
            <a:ext cx="317500" cy="419100"/>
          </a:xfrm>
          <a:prstGeom prst="rect">
            <a:avLst/>
          </a:prstGeom>
          <a:solidFill>
            <a:srgbClr val="B6BD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3" name="מלבן 222">
            <a:extLst>
              <a:ext uri="{FF2B5EF4-FFF2-40B4-BE49-F238E27FC236}">
                <a16:creationId xmlns:a16="http://schemas.microsoft.com/office/drawing/2014/main" id="{044A1296-444C-2949-B179-88C62A419272}"/>
              </a:ext>
            </a:extLst>
          </p:cNvPr>
          <p:cNvSpPr/>
          <p:nvPr/>
        </p:nvSpPr>
        <p:spPr>
          <a:xfrm>
            <a:off x="3162300" y="4000500"/>
            <a:ext cx="215900" cy="152400"/>
          </a:xfrm>
          <a:prstGeom prst="rect">
            <a:avLst/>
          </a:prstGeom>
          <a:solidFill>
            <a:srgbClr val="AEB6D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4" name="מלבן 223">
            <a:extLst>
              <a:ext uri="{FF2B5EF4-FFF2-40B4-BE49-F238E27FC236}">
                <a16:creationId xmlns:a16="http://schemas.microsoft.com/office/drawing/2014/main" id="{1CEC09A4-B263-2A41-AE1E-C21F84F87604}"/>
              </a:ext>
            </a:extLst>
          </p:cNvPr>
          <p:cNvSpPr/>
          <p:nvPr/>
        </p:nvSpPr>
        <p:spPr>
          <a:xfrm>
            <a:off x="3136900" y="3949700"/>
            <a:ext cx="38100" cy="88900"/>
          </a:xfrm>
          <a:prstGeom prst="rect">
            <a:avLst/>
          </a:prstGeom>
          <a:solidFill>
            <a:srgbClr val="A6AF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5" name="מלבן 224">
            <a:extLst>
              <a:ext uri="{FF2B5EF4-FFF2-40B4-BE49-F238E27FC236}">
                <a16:creationId xmlns:a16="http://schemas.microsoft.com/office/drawing/2014/main" id="{3E369298-E874-E546-A9E2-677F5E8E728C}"/>
              </a:ext>
            </a:extLst>
          </p:cNvPr>
          <p:cNvSpPr/>
          <p:nvPr/>
        </p:nvSpPr>
        <p:spPr>
          <a:xfrm>
            <a:off x="3213100" y="3949700"/>
            <a:ext cx="38100" cy="88900"/>
          </a:xfrm>
          <a:prstGeom prst="rect">
            <a:avLst/>
          </a:prstGeom>
          <a:solidFill>
            <a:srgbClr val="A6AF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6" name="מלבן 225">
            <a:extLst>
              <a:ext uri="{FF2B5EF4-FFF2-40B4-BE49-F238E27FC236}">
                <a16:creationId xmlns:a16="http://schemas.microsoft.com/office/drawing/2014/main" id="{C87E5EF1-0688-6449-9154-3814DAD46F66}"/>
              </a:ext>
            </a:extLst>
          </p:cNvPr>
          <p:cNvSpPr/>
          <p:nvPr/>
        </p:nvSpPr>
        <p:spPr>
          <a:xfrm>
            <a:off x="3289300" y="3949700"/>
            <a:ext cx="38100" cy="88900"/>
          </a:xfrm>
          <a:prstGeom prst="rect">
            <a:avLst/>
          </a:prstGeom>
          <a:solidFill>
            <a:srgbClr val="A6AF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7" name="מלבן 226">
            <a:extLst>
              <a:ext uri="{FF2B5EF4-FFF2-40B4-BE49-F238E27FC236}">
                <a16:creationId xmlns:a16="http://schemas.microsoft.com/office/drawing/2014/main" id="{304A579A-7FC6-3140-981E-5A4B53DD0C6C}"/>
              </a:ext>
            </a:extLst>
          </p:cNvPr>
          <p:cNvSpPr/>
          <p:nvPr/>
        </p:nvSpPr>
        <p:spPr>
          <a:xfrm>
            <a:off x="3365500" y="3949700"/>
            <a:ext cx="38100" cy="88900"/>
          </a:xfrm>
          <a:prstGeom prst="rect">
            <a:avLst/>
          </a:prstGeom>
          <a:solidFill>
            <a:srgbClr val="A6AF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8" name="מלבן 227">
            <a:extLst>
              <a:ext uri="{FF2B5EF4-FFF2-40B4-BE49-F238E27FC236}">
                <a16:creationId xmlns:a16="http://schemas.microsoft.com/office/drawing/2014/main" id="{45BEA580-8015-4A4D-BF33-F34C84AA7062}"/>
              </a:ext>
            </a:extLst>
          </p:cNvPr>
          <p:cNvSpPr/>
          <p:nvPr/>
        </p:nvSpPr>
        <p:spPr>
          <a:xfrm>
            <a:off x="3187700" y="4241800"/>
            <a:ext cx="50800" cy="88900"/>
          </a:xfrm>
          <a:prstGeom prst="rect">
            <a:avLst/>
          </a:prstGeom>
          <a:solidFill>
            <a:srgbClr val="E9EE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9" name="מלבן 228">
            <a:extLst>
              <a:ext uri="{FF2B5EF4-FFF2-40B4-BE49-F238E27FC236}">
                <a16:creationId xmlns:a16="http://schemas.microsoft.com/office/drawing/2014/main" id="{FCF96776-CDEC-8F41-8343-BEA5191A6AFA}"/>
              </a:ext>
            </a:extLst>
          </p:cNvPr>
          <p:cNvSpPr/>
          <p:nvPr/>
        </p:nvSpPr>
        <p:spPr>
          <a:xfrm>
            <a:off x="3314700" y="4241800"/>
            <a:ext cx="50800" cy="88900"/>
          </a:xfrm>
          <a:prstGeom prst="rect">
            <a:avLst/>
          </a:prstGeom>
          <a:solidFill>
            <a:srgbClr val="E9EE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0" name="מלבן 229">
            <a:extLst>
              <a:ext uri="{FF2B5EF4-FFF2-40B4-BE49-F238E27FC236}">
                <a16:creationId xmlns:a16="http://schemas.microsoft.com/office/drawing/2014/main" id="{2B7CA385-6012-614A-958E-D268B25817EE}"/>
              </a:ext>
            </a:extLst>
          </p:cNvPr>
          <p:cNvSpPr/>
          <p:nvPr/>
        </p:nvSpPr>
        <p:spPr>
          <a:xfrm>
            <a:off x="3251200" y="4394200"/>
            <a:ext cx="63500" cy="152400"/>
          </a:xfrm>
          <a:prstGeom prst="rect">
            <a:avLst/>
          </a:prstGeom>
          <a:solidFill>
            <a:srgbClr val="E9EE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1300130" y="1768079"/>
            <a:ext cx="750075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5B42E8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2628834" y="1768079"/>
            <a:ext cx="750075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6A05A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235838" y="3396854"/>
            <a:ext cx="750075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2384D9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2628834" y="3396854"/>
            <a:ext cx="750075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5B42E8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231" name="אליפסה 230">
            <a:extLst>
              <a:ext uri="{FF2B5EF4-FFF2-40B4-BE49-F238E27FC236}">
                <a16:creationId xmlns:a16="http://schemas.microsoft.com/office/drawing/2014/main" id="{C1B40F39-668B-5B44-9D09-1EA16B21A660}"/>
              </a:ext>
            </a:extLst>
          </p:cNvPr>
          <p:cNvSpPr/>
          <p:nvPr/>
        </p:nvSpPr>
        <p:spPr>
          <a:xfrm>
            <a:off x="1479550" y="2000250"/>
            <a:ext cx="1155700" cy="1155700"/>
          </a:xfrm>
          <a:prstGeom prst="ellipse">
            <a:avLst/>
          </a:prstGeom>
          <a:solidFill>
            <a:srgbClr val="E8E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2" name="אליפסה 231">
            <a:extLst>
              <a:ext uri="{FF2B5EF4-FFF2-40B4-BE49-F238E27FC236}">
                <a16:creationId xmlns:a16="http://schemas.microsoft.com/office/drawing/2014/main" id="{24E30346-BE91-A94E-BB13-FE1C86192495}"/>
              </a:ext>
            </a:extLst>
          </p:cNvPr>
          <p:cNvSpPr/>
          <p:nvPr/>
        </p:nvSpPr>
        <p:spPr>
          <a:xfrm>
            <a:off x="1536700" y="2057400"/>
            <a:ext cx="1041400" cy="1041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2043062" y="2264569"/>
            <a:ext cx="28574" cy="142875"/>
          </a:xfrm>
          <a:prstGeom prst="rect">
            <a:avLst/>
          </a:prstGeom>
          <a:solidFill>
            <a:srgbClr val="1724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2007344" y="2193131"/>
            <a:ext cx="100010" cy="100013"/>
          </a:xfrm>
          <a:prstGeom prst="ellipse">
            <a:avLst/>
          </a:prstGeom>
          <a:solidFill>
            <a:srgbClr val="1724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1721601" y="2514600"/>
            <a:ext cx="85723" cy="200025"/>
          </a:xfrm>
          <a:prstGeom prst="roundRect">
            <a:avLst/>
          </a:prstGeom>
          <a:solidFill>
            <a:srgbClr val="766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2307374" y="2514600"/>
            <a:ext cx="85723" cy="200025"/>
          </a:xfrm>
          <a:prstGeom prst="roundRect">
            <a:avLst/>
          </a:prstGeom>
          <a:solidFill>
            <a:srgbClr val="766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1785892" y="2393156"/>
            <a:ext cx="542912" cy="414338"/>
          </a:xfrm>
          <a:prstGeom prst="roundRect">
            <a:avLst/>
          </a:prstGeom>
          <a:solidFill>
            <a:srgbClr val="1724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1928765" y="2536031"/>
            <a:ext cx="85723" cy="114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2100210" y="2536031"/>
            <a:ext cx="85723" cy="114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1985914" y="2728913"/>
            <a:ext cx="142871" cy="2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457189" y="1028700"/>
            <a:ext cx="1357279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786" dist="794" dir="5400000" algn="bl" rotWithShape="0">
              <a:srgbClr val="212E67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557198" y="1164431"/>
            <a:ext cx="357179" cy="357188"/>
          </a:xfrm>
          <a:prstGeom prst="ellipse">
            <a:avLst/>
          </a:prstGeom>
          <a:solidFill>
            <a:srgbClr val="EE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000100" y="1218009"/>
            <a:ext cx="5003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4B3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0100" y="1368028"/>
            <a:ext cx="50038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75" dirty="0">
                <a:solidFill>
                  <a:srgbClr val="263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5,596 listings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2364522" y="1028700"/>
            <a:ext cx="1464432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786" dist="794" dir="5400000" algn="bl" rotWithShape="0">
              <a:srgbClr val="212E67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2464532" y="1164431"/>
            <a:ext cx="357179" cy="357188"/>
          </a:xfrm>
          <a:prstGeom prst="ellipse">
            <a:avLst/>
          </a:prstGeom>
          <a:solidFill>
            <a:srgbClr val="E3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2907433" y="1218009"/>
            <a:ext cx="8131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198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Reviews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07433" y="1368028"/>
            <a:ext cx="81314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75" dirty="0">
                <a:solidFill>
                  <a:srgbClr val="263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72,744 reviews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892" y="3507581"/>
            <a:ext cx="1535868" cy="657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786" dist="794" dir="5400000" algn="bl" rotWithShape="0">
              <a:srgbClr val="212E67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2901" y="3657600"/>
            <a:ext cx="357179" cy="357188"/>
          </a:xfrm>
          <a:prstGeom prst="ellipse">
            <a:avLst/>
          </a:prstGeom>
          <a:solidFill>
            <a:srgbClr val="E4F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885802" y="3711179"/>
            <a:ext cx="7876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147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5802" y="3861197"/>
            <a:ext cx="78769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75" dirty="0">
                <a:solidFill>
                  <a:srgbClr val="263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4,211 places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2314517" y="3507582"/>
            <a:ext cx="1514438" cy="7500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786" dist="794" dir="5400000" algn="bl" rotWithShape="0">
              <a:srgbClr val="212E67">
                <a:alpha val="1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2414527" y="3704034"/>
            <a:ext cx="357179" cy="357188"/>
          </a:xfrm>
          <a:prstGeom prst="ellipse">
            <a:avLst/>
          </a:prstGeom>
          <a:solidFill>
            <a:srgbClr val="EE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2857429" y="3650456"/>
            <a:ext cx="871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4B3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Expectations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57429" y="3914775"/>
            <a:ext cx="871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75" dirty="0">
                <a:solidFill>
                  <a:srgbClr val="263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from reviews</a:t>
            </a:r>
            <a:endParaRPr lang="en-US" sz="675" dirty="0"/>
          </a:p>
          <a:p>
            <a:pPr marL="0" indent="0" algn="l">
              <a:buNone/>
            </a:pPr>
            <a:r>
              <a:rPr lang="en-US" sz="675" dirty="0">
                <a:solidFill>
                  <a:srgbClr val="263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listing claims</a:t>
            </a:r>
            <a:endParaRPr lang="en-US" sz="675" dirty="0"/>
          </a:p>
        </p:txBody>
      </p:sp>
      <p:sp>
        <p:nvSpPr>
          <p:cNvPr id="32" name="Shape 30"/>
          <p:cNvSpPr/>
          <p:nvPr/>
        </p:nvSpPr>
        <p:spPr>
          <a:xfrm>
            <a:off x="514338" y="4400550"/>
            <a:ext cx="214307" cy="21431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6285C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807224" y="4429126"/>
            <a:ext cx="582647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5" b="1" dirty="0">
                <a:solidFill>
                  <a:srgbClr val="628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LISBON</a:t>
            </a:r>
            <a:endParaRPr lang="en-US" sz="1125" dirty="0"/>
          </a:p>
        </p:txBody>
      </p:sp>
      <p:sp>
        <p:nvSpPr>
          <p:cNvPr id="98" name="משולש 97">
            <a:extLst>
              <a:ext uri="{FF2B5EF4-FFF2-40B4-BE49-F238E27FC236}">
                <a16:creationId xmlns:a16="http://schemas.microsoft.com/office/drawing/2014/main" id="{96B3CC23-BAB6-D44C-983F-15CBE46E12A1}"/>
              </a:ext>
            </a:extLst>
          </p:cNvPr>
          <p:cNvSpPr/>
          <p:nvPr/>
        </p:nvSpPr>
        <p:spPr>
          <a:xfrm>
            <a:off x="673100" y="1244600"/>
            <a:ext cx="152400" cy="114300"/>
          </a:xfrm>
          <a:prstGeom prst="triangle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9" name="מלבן 98">
            <a:extLst>
              <a:ext uri="{FF2B5EF4-FFF2-40B4-BE49-F238E27FC236}">
                <a16:creationId xmlns:a16="http://schemas.microsoft.com/office/drawing/2014/main" id="{0F618FC3-7D36-9644-9AD7-D7B64AED5673}"/>
              </a:ext>
            </a:extLst>
          </p:cNvPr>
          <p:cNvSpPr/>
          <p:nvPr/>
        </p:nvSpPr>
        <p:spPr>
          <a:xfrm>
            <a:off x="698500" y="1346200"/>
            <a:ext cx="101600" cy="1016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5435F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0" name="מלבן מעוגל 99">
            <a:extLst>
              <a:ext uri="{FF2B5EF4-FFF2-40B4-BE49-F238E27FC236}">
                <a16:creationId xmlns:a16="http://schemas.microsoft.com/office/drawing/2014/main" id="{0715AF4A-4CD1-DC4F-B2D8-151D277B4B77}"/>
              </a:ext>
            </a:extLst>
          </p:cNvPr>
          <p:cNvSpPr/>
          <p:nvPr/>
        </p:nvSpPr>
        <p:spPr>
          <a:xfrm>
            <a:off x="2552700" y="1282700"/>
            <a:ext cx="203200" cy="139700"/>
          </a:xfrm>
          <a:prstGeom prst="roundRect">
            <a:avLst/>
          </a:prstGeom>
          <a:solidFill>
            <a:srgbClr val="208F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1" name="אליפסה 100">
            <a:extLst>
              <a:ext uri="{FF2B5EF4-FFF2-40B4-BE49-F238E27FC236}">
                <a16:creationId xmlns:a16="http://schemas.microsoft.com/office/drawing/2014/main" id="{25B774D4-F3F7-BB47-A14B-D2C2C0FA1145}"/>
              </a:ext>
            </a:extLst>
          </p:cNvPr>
          <p:cNvSpPr/>
          <p:nvPr/>
        </p:nvSpPr>
        <p:spPr>
          <a:xfrm>
            <a:off x="2590800" y="133350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2" name="אליפסה 101">
            <a:extLst>
              <a:ext uri="{FF2B5EF4-FFF2-40B4-BE49-F238E27FC236}">
                <a16:creationId xmlns:a16="http://schemas.microsoft.com/office/drawing/2014/main" id="{BC4285F4-1F14-2647-8AEE-385DA7A44884}"/>
              </a:ext>
            </a:extLst>
          </p:cNvPr>
          <p:cNvSpPr/>
          <p:nvPr/>
        </p:nvSpPr>
        <p:spPr>
          <a:xfrm>
            <a:off x="2641600" y="133350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3" name="אליפסה 102">
            <a:extLst>
              <a:ext uri="{FF2B5EF4-FFF2-40B4-BE49-F238E27FC236}">
                <a16:creationId xmlns:a16="http://schemas.microsoft.com/office/drawing/2014/main" id="{001FCD0F-1FCE-174C-B79C-60ACF75C713E}"/>
              </a:ext>
            </a:extLst>
          </p:cNvPr>
          <p:cNvSpPr/>
          <p:nvPr/>
        </p:nvSpPr>
        <p:spPr>
          <a:xfrm>
            <a:off x="2692400" y="1333500"/>
            <a:ext cx="25400" cy="25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4" name="אליפסה 103">
            <a:extLst>
              <a:ext uri="{FF2B5EF4-FFF2-40B4-BE49-F238E27FC236}">
                <a16:creationId xmlns:a16="http://schemas.microsoft.com/office/drawing/2014/main" id="{9E6E7A36-AC42-4F47-A365-A9E835FE9EB2}"/>
              </a:ext>
            </a:extLst>
          </p:cNvPr>
          <p:cNvSpPr/>
          <p:nvPr/>
        </p:nvSpPr>
        <p:spPr>
          <a:xfrm>
            <a:off x="558800" y="3733800"/>
            <a:ext cx="152400" cy="152400"/>
          </a:xfrm>
          <a:prstGeom prst="ellipse">
            <a:avLst/>
          </a:prstGeom>
          <a:solidFill>
            <a:srgbClr val="1A7D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5" name="משולש 104">
            <a:extLst>
              <a:ext uri="{FF2B5EF4-FFF2-40B4-BE49-F238E27FC236}">
                <a16:creationId xmlns:a16="http://schemas.microsoft.com/office/drawing/2014/main" id="{4AEBBECA-7125-974A-BC33-4E5DD41121F8}"/>
              </a:ext>
            </a:extLst>
          </p:cNvPr>
          <p:cNvSpPr/>
          <p:nvPr/>
        </p:nvSpPr>
        <p:spPr>
          <a:xfrm rot="10800000">
            <a:off x="596900" y="3848100"/>
            <a:ext cx="76200" cy="88900"/>
          </a:xfrm>
          <a:prstGeom prst="triangle">
            <a:avLst/>
          </a:prstGeom>
          <a:solidFill>
            <a:srgbClr val="1A7D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6" name="אליפסה 105">
            <a:extLst>
              <a:ext uri="{FF2B5EF4-FFF2-40B4-BE49-F238E27FC236}">
                <a16:creationId xmlns:a16="http://schemas.microsoft.com/office/drawing/2014/main" id="{38D3396A-1505-1447-8D10-BD61C70EBD1D}"/>
              </a:ext>
            </a:extLst>
          </p:cNvPr>
          <p:cNvSpPr/>
          <p:nvPr/>
        </p:nvSpPr>
        <p:spPr>
          <a:xfrm>
            <a:off x="609600" y="3784600"/>
            <a:ext cx="50800" cy="508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7" name="אליפסה 106">
            <a:extLst>
              <a:ext uri="{FF2B5EF4-FFF2-40B4-BE49-F238E27FC236}">
                <a16:creationId xmlns:a16="http://schemas.microsoft.com/office/drawing/2014/main" id="{DD943A65-C4A0-D841-8AA9-A078C930BAD9}"/>
              </a:ext>
            </a:extLst>
          </p:cNvPr>
          <p:cNvSpPr/>
          <p:nvPr/>
        </p:nvSpPr>
        <p:spPr>
          <a:xfrm>
            <a:off x="2501900" y="3784600"/>
            <a:ext cx="88900" cy="88900"/>
          </a:xfrm>
          <a:prstGeom prst="ellipse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8" name="אליפסה 107">
            <a:extLst>
              <a:ext uri="{FF2B5EF4-FFF2-40B4-BE49-F238E27FC236}">
                <a16:creationId xmlns:a16="http://schemas.microsoft.com/office/drawing/2014/main" id="{429C4515-76FD-9E43-B8BA-9F45276C0FD6}"/>
              </a:ext>
            </a:extLst>
          </p:cNvPr>
          <p:cNvSpPr/>
          <p:nvPr/>
        </p:nvSpPr>
        <p:spPr>
          <a:xfrm>
            <a:off x="2616200" y="3784600"/>
            <a:ext cx="88900" cy="88900"/>
          </a:xfrm>
          <a:prstGeom prst="ellipse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9" name="מלבן מעוגל 108">
            <a:extLst>
              <a:ext uri="{FF2B5EF4-FFF2-40B4-BE49-F238E27FC236}">
                <a16:creationId xmlns:a16="http://schemas.microsoft.com/office/drawing/2014/main" id="{4ADC3F82-BFF2-F14E-A9F8-7553632E1CAB}"/>
              </a:ext>
            </a:extLst>
          </p:cNvPr>
          <p:cNvSpPr/>
          <p:nvPr/>
        </p:nvSpPr>
        <p:spPr>
          <a:xfrm>
            <a:off x="2476500" y="3886200"/>
            <a:ext cx="254000" cy="114300"/>
          </a:xfrm>
          <a:prstGeom prst="roundRect">
            <a:avLst/>
          </a:prstGeom>
          <a:solidFill>
            <a:srgbClr val="54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0" name="אליפסה 109">
            <a:extLst>
              <a:ext uri="{FF2B5EF4-FFF2-40B4-BE49-F238E27FC236}">
                <a16:creationId xmlns:a16="http://schemas.microsoft.com/office/drawing/2014/main" id="{584CA760-28C6-BB45-A84E-05AC82D4DEA7}"/>
              </a:ext>
            </a:extLst>
          </p:cNvPr>
          <p:cNvSpPr/>
          <p:nvPr/>
        </p:nvSpPr>
        <p:spPr>
          <a:xfrm>
            <a:off x="533400" y="4406900"/>
            <a:ext cx="165100" cy="165100"/>
          </a:xfrm>
          <a:prstGeom prst="ellipse">
            <a:avLst/>
          </a:prstGeom>
          <a:solidFill>
            <a:srgbClr val="5B82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1" name="אליפסה 110">
            <a:extLst>
              <a:ext uri="{FF2B5EF4-FFF2-40B4-BE49-F238E27FC236}">
                <a16:creationId xmlns:a16="http://schemas.microsoft.com/office/drawing/2014/main" id="{5822AB7E-7F52-1F4F-BDD2-69EA317B97FC}"/>
              </a:ext>
            </a:extLst>
          </p:cNvPr>
          <p:cNvSpPr/>
          <p:nvPr/>
        </p:nvSpPr>
        <p:spPr>
          <a:xfrm>
            <a:off x="584200" y="4457700"/>
            <a:ext cx="63500" cy="63500"/>
          </a:xfrm>
          <a:prstGeom prst="ellipse">
            <a:avLst/>
          </a:prstGeom>
          <a:solidFill>
            <a:srgbClr val="F1F5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3" name="BSD_Header">
            <a:extLst>
              <a:ext uri="{FF2B5EF4-FFF2-40B4-BE49-F238E27FC236}">
                <a16:creationId xmlns:a16="http://schemas.microsoft.com/office/drawing/2014/main" id="{EA45A2ED-C81B-994C-9F37-1CE0B4F1E6DD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BDDD150A-3779-9A45-8220-AF176F9D062A}"/>
              </a:ext>
            </a:extLst>
          </p:cNvPr>
          <p:cNvSpPr/>
          <p:nvPr/>
        </p:nvSpPr>
        <p:spPr>
          <a:xfrm>
            <a:off x="0" y="0"/>
            <a:ext cx="9204960" cy="5398497"/>
          </a:xfrm>
          <a:prstGeom prst="rect">
            <a:avLst/>
          </a:prstGeom>
          <a:solidFill>
            <a:srgbClr val="F7F9FE"/>
          </a:solidFill>
          <a:ln w="12700" cap="flat" cmpd="sng" algn="ctr">
            <a:solidFill>
              <a:srgbClr val="F7F9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F08EFC4-00B0-434C-BFF4-E9C2D0DB823D}"/>
              </a:ext>
            </a:extLst>
          </p:cNvPr>
          <p:cNvSpPr txBox="1"/>
          <p:nvPr/>
        </p:nvSpPr>
        <p:spPr>
          <a:xfrm>
            <a:off x="482600" y="254000"/>
            <a:ext cx="8178800" cy="482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14285F"/>
                </a:solidFill>
                <a:latin typeface="Aptos"/>
              </a:rPr>
              <a:t>The Agent Chooses Actions, Not Steps</a:t>
            </a:r>
            <a:endParaRPr lang="he-IL" sz="2600" b="1">
              <a:solidFill>
                <a:srgbClr val="14285F"/>
              </a:solidFill>
              <a:latin typeface="Aptos"/>
            </a:endParaRPr>
          </a:p>
        </p:txBody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EA4A7CDA-EEC3-3E46-9BA8-D530B6F8E8CC}"/>
              </a:ext>
            </a:extLst>
          </p:cNvPr>
          <p:cNvSpPr/>
          <p:nvPr/>
        </p:nvSpPr>
        <p:spPr>
          <a:xfrm>
            <a:off x="482600" y="838200"/>
            <a:ext cx="939800" cy="38100"/>
          </a:xfrm>
          <a:prstGeom prst="rect">
            <a:avLst/>
          </a:prstGeom>
          <a:solidFill>
            <a:srgbClr val="5535F2"/>
          </a:solidFill>
          <a:ln w="1270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B729B69-EB78-D240-9C50-EF0D0ABCE3BA}"/>
              </a:ext>
            </a:extLst>
          </p:cNvPr>
          <p:cNvSpPr txBox="1"/>
          <p:nvPr/>
        </p:nvSpPr>
        <p:spPr>
          <a:xfrm>
            <a:off x="438150" y="952499"/>
            <a:ext cx="8223250" cy="265703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en-US" sz="1100" dirty="0">
                <a:solidFill>
                  <a:srgbClr val="5E6C89"/>
                </a:solidFill>
                <a:latin typeface="Aptos"/>
              </a:rPr>
              <a:t>At runtime, the agent reasons over evidence and selects the most useful next action.</a:t>
            </a:r>
            <a:endParaRPr lang="he-IL" sz="11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7" name="Choice Detect 1">
            <a:extLst>
              <a:ext uri="{FF2B5EF4-FFF2-40B4-BE49-F238E27FC236}">
                <a16:creationId xmlns:a16="http://schemas.microsoft.com/office/drawing/2014/main" id="{A8AAAA50-F189-844D-A3CA-5C130BFD3F7A}"/>
              </a:ext>
            </a:extLst>
          </p:cNvPr>
          <p:cNvSpPr/>
          <p:nvPr/>
        </p:nvSpPr>
        <p:spPr>
          <a:xfrm>
            <a:off x="3167380" y="1867217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" name="Choice Detect 2">
            <a:extLst>
              <a:ext uri="{FF2B5EF4-FFF2-40B4-BE49-F238E27FC236}">
                <a16:creationId xmlns:a16="http://schemas.microsoft.com/office/drawing/2014/main" id="{91DDC137-744D-FF47-881E-05248745B102}"/>
              </a:ext>
            </a:extLst>
          </p:cNvPr>
          <p:cNvSpPr/>
          <p:nvPr/>
        </p:nvSpPr>
        <p:spPr>
          <a:xfrm>
            <a:off x="3097530" y="1830705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" name="Choice Detect 3">
            <a:extLst>
              <a:ext uri="{FF2B5EF4-FFF2-40B4-BE49-F238E27FC236}">
                <a16:creationId xmlns:a16="http://schemas.microsoft.com/office/drawing/2014/main" id="{38A110AC-1EB0-E04B-AD3A-AE76B0B73C78}"/>
              </a:ext>
            </a:extLst>
          </p:cNvPr>
          <p:cNvSpPr/>
          <p:nvPr/>
        </p:nvSpPr>
        <p:spPr>
          <a:xfrm>
            <a:off x="3027680" y="1794192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Choice Detect 4">
            <a:extLst>
              <a:ext uri="{FF2B5EF4-FFF2-40B4-BE49-F238E27FC236}">
                <a16:creationId xmlns:a16="http://schemas.microsoft.com/office/drawing/2014/main" id="{1BFB2F8A-4E44-F74C-A1B9-742890EDFF27}"/>
              </a:ext>
            </a:extLst>
          </p:cNvPr>
          <p:cNvSpPr/>
          <p:nvPr/>
        </p:nvSpPr>
        <p:spPr>
          <a:xfrm>
            <a:off x="2957830" y="1757680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" name="Choice Detect 5">
            <a:extLst>
              <a:ext uri="{FF2B5EF4-FFF2-40B4-BE49-F238E27FC236}">
                <a16:creationId xmlns:a16="http://schemas.microsoft.com/office/drawing/2014/main" id="{4AFE0FD0-650E-674E-BD7D-0E17F0B61042}"/>
              </a:ext>
            </a:extLst>
          </p:cNvPr>
          <p:cNvSpPr/>
          <p:nvPr/>
        </p:nvSpPr>
        <p:spPr>
          <a:xfrm>
            <a:off x="2887980" y="1721167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Choice Detect 6">
            <a:extLst>
              <a:ext uri="{FF2B5EF4-FFF2-40B4-BE49-F238E27FC236}">
                <a16:creationId xmlns:a16="http://schemas.microsoft.com/office/drawing/2014/main" id="{CC2A36AF-7C5B-B640-AD42-CE40C9C2F5C3}"/>
              </a:ext>
            </a:extLst>
          </p:cNvPr>
          <p:cNvSpPr/>
          <p:nvPr/>
        </p:nvSpPr>
        <p:spPr>
          <a:xfrm>
            <a:off x="2818130" y="1684655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" name="Choice Detect 7">
            <a:extLst>
              <a:ext uri="{FF2B5EF4-FFF2-40B4-BE49-F238E27FC236}">
                <a16:creationId xmlns:a16="http://schemas.microsoft.com/office/drawing/2014/main" id="{06C3834A-3A5D-C64F-9D8D-7AC05F4C1200}"/>
              </a:ext>
            </a:extLst>
          </p:cNvPr>
          <p:cNvSpPr/>
          <p:nvPr/>
        </p:nvSpPr>
        <p:spPr>
          <a:xfrm>
            <a:off x="2748280" y="1648142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Choice Evidence 1">
            <a:extLst>
              <a:ext uri="{FF2B5EF4-FFF2-40B4-BE49-F238E27FC236}">
                <a16:creationId xmlns:a16="http://schemas.microsoft.com/office/drawing/2014/main" id="{8AE09E2D-8B6A-E040-8133-3D8102B2D81C}"/>
              </a:ext>
            </a:extLst>
          </p:cNvPr>
          <p:cNvSpPr/>
          <p:nvPr/>
        </p:nvSpPr>
        <p:spPr>
          <a:xfrm>
            <a:off x="3167380" y="2432367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" name="Choice Evidence 2">
            <a:extLst>
              <a:ext uri="{FF2B5EF4-FFF2-40B4-BE49-F238E27FC236}">
                <a16:creationId xmlns:a16="http://schemas.microsoft.com/office/drawing/2014/main" id="{4FF8C27F-F573-6443-9563-F1E87E35CF46}"/>
              </a:ext>
            </a:extLst>
          </p:cNvPr>
          <p:cNvSpPr/>
          <p:nvPr/>
        </p:nvSpPr>
        <p:spPr>
          <a:xfrm>
            <a:off x="3097530" y="2465705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" name="Choice Evidence 3">
            <a:extLst>
              <a:ext uri="{FF2B5EF4-FFF2-40B4-BE49-F238E27FC236}">
                <a16:creationId xmlns:a16="http://schemas.microsoft.com/office/drawing/2014/main" id="{222F749C-6498-BB44-8ABC-81BCC13F87BE}"/>
              </a:ext>
            </a:extLst>
          </p:cNvPr>
          <p:cNvSpPr/>
          <p:nvPr/>
        </p:nvSpPr>
        <p:spPr>
          <a:xfrm>
            <a:off x="3027680" y="2499042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0" name="Choice Evidence 4">
            <a:extLst>
              <a:ext uri="{FF2B5EF4-FFF2-40B4-BE49-F238E27FC236}">
                <a16:creationId xmlns:a16="http://schemas.microsoft.com/office/drawing/2014/main" id="{A47688DC-57BF-7843-90A1-36AF4EE1BF5A}"/>
              </a:ext>
            </a:extLst>
          </p:cNvPr>
          <p:cNvSpPr/>
          <p:nvPr/>
        </p:nvSpPr>
        <p:spPr>
          <a:xfrm>
            <a:off x="2957830" y="2532380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1" name="Choice Evidence 5">
            <a:extLst>
              <a:ext uri="{FF2B5EF4-FFF2-40B4-BE49-F238E27FC236}">
                <a16:creationId xmlns:a16="http://schemas.microsoft.com/office/drawing/2014/main" id="{26F97787-F173-BA4B-A033-48792B4A5689}"/>
              </a:ext>
            </a:extLst>
          </p:cNvPr>
          <p:cNvSpPr/>
          <p:nvPr/>
        </p:nvSpPr>
        <p:spPr>
          <a:xfrm>
            <a:off x="2887980" y="2565717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2" name="Choice Evidence 6">
            <a:extLst>
              <a:ext uri="{FF2B5EF4-FFF2-40B4-BE49-F238E27FC236}">
                <a16:creationId xmlns:a16="http://schemas.microsoft.com/office/drawing/2014/main" id="{47DC95C0-63E8-0E4A-AEBE-4C0C89CE7612}"/>
              </a:ext>
            </a:extLst>
          </p:cNvPr>
          <p:cNvSpPr/>
          <p:nvPr/>
        </p:nvSpPr>
        <p:spPr>
          <a:xfrm>
            <a:off x="2818130" y="2599055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3" name="Choice Evidence 7">
            <a:extLst>
              <a:ext uri="{FF2B5EF4-FFF2-40B4-BE49-F238E27FC236}">
                <a16:creationId xmlns:a16="http://schemas.microsoft.com/office/drawing/2014/main" id="{CA99BEAB-C9A8-4244-A829-B40025827E6E}"/>
              </a:ext>
            </a:extLst>
          </p:cNvPr>
          <p:cNvSpPr/>
          <p:nvPr/>
        </p:nvSpPr>
        <p:spPr>
          <a:xfrm>
            <a:off x="2748280" y="2632392"/>
            <a:ext cx="27940" cy="27940"/>
          </a:xfrm>
          <a:prstGeom prst="ellipse">
            <a:avLst/>
          </a:prstGeom>
          <a:solidFill>
            <a:srgbClr val="1676D2"/>
          </a:solidFill>
          <a:ln w="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4" name="Choice Interpret 1">
            <a:extLst>
              <a:ext uri="{FF2B5EF4-FFF2-40B4-BE49-F238E27FC236}">
                <a16:creationId xmlns:a16="http://schemas.microsoft.com/office/drawing/2014/main" id="{3C11E927-05C2-D143-9E36-12B11E70D1CC}"/>
              </a:ext>
            </a:extLst>
          </p:cNvPr>
          <p:cNvSpPr/>
          <p:nvPr/>
        </p:nvSpPr>
        <p:spPr>
          <a:xfrm>
            <a:off x="3167380" y="2986405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5" name="Choice Interpret 2">
            <a:extLst>
              <a:ext uri="{FF2B5EF4-FFF2-40B4-BE49-F238E27FC236}">
                <a16:creationId xmlns:a16="http://schemas.microsoft.com/office/drawing/2014/main" id="{C8AB7715-0603-2841-BB26-3C6DE855EC0B}"/>
              </a:ext>
            </a:extLst>
          </p:cNvPr>
          <p:cNvSpPr/>
          <p:nvPr/>
        </p:nvSpPr>
        <p:spPr>
          <a:xfrm>
            <a:off x="3097530" y="3091180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6" name="Choice Interpret 3">
            <a:extLst>
              <a:ext uri="{FF2B5EF4-FFF2-40B4-BE49-F238E27FC236}">
                <a16:creationId xmlns:a16="http://schemas.microsoft.com/office/drawing/2014/main" id="{14BA3C9A-9C8E-A245-AD72-E62C92709BFB}"/>
              </a:ext>
            </a:extLst>
          </p:cNvPr>
          <p:cNvSpPr/>
          <p:nvPr/>
        </p:nvSpPr>
        <p:spPr>
          <a:xfrm>
            <a:off x="3027680" y="3195955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7" name="Choice Interpret 4">
            <a:extLst>
              <a:ext uri="{FF2B5EF4-FFF2-40B4-BE49-F238E27FC236}">
                <a16:creationId xmlns:a16="http://schemas.microsoft.com/office/drawing/2014/main" id="{D2E1700F-632B-3444-94BA-10AC14CDB173}"/>
              </a:ext>
            </a:extLst>
          </p:cNvPr>
          <p:cNvSpPr/>
          <p:nvPr/>
        </p:nvSpPr>
        <p:spPr>
          <a:xfrm>
            <a:off x="2957830" y="3300729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8" name="Choice Interpret 5">
            <a:extLst>
              <a:ext uri="{FF2B5EF4-FFF2-40B4-BE49-F238E27FC236}">
                <a16:creationId xmlns:a16="http://schemas.microsoft.com/office/drawing/2014/main" id="{A88AD390-C3B0-224D-91F2-5AEAE60E32C0}"/>
              </a:ext>
            </a:extLst>
          </p:cNvPr>
          <p:cNvSpPr/>
          <p:nvPr/>
        </p:nvSpPr>
        <p:spPr>
          <a:xfrm>
            <a:off x="2887980" y="3405504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9" name="Choice Interpret 6">
            <a:extLst>
              <a:ext uri="{FF2B5EF4-FFF2-40B4-BE49-F238E27FC236}">
                <a16:creationId xmlns:a16="http://schemas.microsoft.com/office/drawing/2014/main" id="{3AADABF4-5B75-B545-B7BA-A4478D4DFF7F}"/>
              </a:ext>
            </a:extLst>
          </p:cNvPr>
          <p:cNvSpPr/>
          <p:nvPr/>
        </p:nvSpPr>
        <p:spPr>
          <a:xfrm>
            <a:off x="2818130" y="3510279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0" name="Choice Interpret 7">
            <a:extLst>
              <a:ext uri="{FF2B5EF4-FFF2-40B4-BE49-F238E27FC236}">
                <a16:creationId xmlns:a16="http://schemas.microsoft.com/office/drawing/2014/main" id="{82ACF1B7-97D8-DB4A-A35A-9FF9D037A472}"/>
              </a:ext>
            </a:extLst>
          </p:cNvPr>
          <p:cNvSpPr/>
          <p:nvPr/>
        </p:nvSpPr>
        <p:spPr>
          <a:xfrm>
            <a:off x="2748280" y="3615054"/>
            <a:ext cx="27940" cy="2794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1" name="Choice Draft 1">
            <a:extLst>
              <a:ext uri="{FF2B5EF4-FFF2-40B4-BE49-F238E27FC236}">
                <a16:creationId xmlns:a16="http://schemas.microsoft.com/office/drawing/2014/main" id="{1D96C242-3C3E-E544-9D46-D2CAE7A97810}"/>
              </a:ext>
            </a:extLst>
          </p:cNvPr>
          <p:cNvSpPr/>
          <p:nvPr/>
        </p:nvSpPr>
        <p:spPr>
          <a:xfrm>
            <a:off x="5948680" y="1867217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2" name="Choice Draft 2">
            <a:extLst>
              <a:ext uri="{FF2B5EF4-FFF2-40B4-BE49-F238E27FC236}">
                <a16:creationId xmlns:a16="http://schemas.microsoft.com/office/drawing/2014/main" id="{B4F8D7C2-4B8C-1F4F-A21E-4697EF09EBF9}"/>
              </a:ext>
            </a:extLst>
          </p:cNvPr>
          <p:cNvSpPr/>
          <p:nvPr/>
        </p:nvSpPr>
        <p:spPr>
          <a:xfrm>
            <a:off x="6018530" y="1830705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3" name="Choice Draft 3">
            <a:extLst>
              <a:ext uri="{FF2B5EF4-FFF2-40B4-BE49-F238E27FC236}">
                <a16:creationId xmlns:a16="http://schemas.microsoft.com/office/drawing/2014/main" id="{3B292102-2537-E94B-97B5-ABFBA6DFA33A}"/>
              </a:ext>
            </a:extLst>
          </p:cNvPr>
          <p:cNvSpPr/>
          <p:nvPr/>
        </p:nvSpPr>
        <p:spPr>
          <a:xfrm>
            <a:off x="6088380" y="1794192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4" name="Choice Draft 4">
            <a:extLst>
              <a:ext uri="{FF2B5EF4-FFF2-40B4-BE49-F238E27FC236}">
                <a16:creationId xmlns:a16="http://schemas.microsoft.com/office/drawing/2014/main" id="{473886AB-912F-9F49-869A-817575BA1558}"/>
              </a:ext>
            </a:extLst>
          </p:cNvPr>
          <p:cNvSpPr/>
          <p:nvPr/>
        </p:nvSpPr>
        <p:spPr>
          <a:xfrm>
            <a:off x="6158230" y="1757680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5" name="Choice Draft 5">
            <a:extLst>
              <a:ext uri="{FF2B5EF4-FFF2-40B4-BE49-F238E27FC236}">
                <a16:creationId xmlns:a16="http://schemas.microsoft.com/office/drawing/2014/main" id="{7A5879BB-0D69-3242-83F3-5F99CAC3F6D4}"/>
              </a:ext>
            </a:extLst>
          </p:cNvPr>
          <p:cNvSpPr/>
          <p:nvPr/>
        </p:nvSpPr>
        <p:spPr>
          <a:xfrm>
            <a:off x="6228080" y="1721167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6" name="Choice Draft 6">
            <a:extLst>
              <a:ext uri="{FF2B5EF4-FFF2-40B4-BE49-F238E27FC236}">
                <a16:creationId xmlns:a16="http://schemas.microsoft.com/office/drawing/2014/main" id="{B42EE92F-C7C8-DC45-A17B-E62431508EC8}"/>
              </a:ext>
            </a:extLst>
          </p:cNvPr>
          <p:cNvSpPr/>
          <p:nvPr/>
        </p:nvSpPr>
        <p:spPr>
          <a:xfrm>
            <a:off x="6297930" y="1684655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7" name="Choice Draft 7">
            <a:extLst>
              <a:ext uri="{FF2B5EF4-FFF2-40B4-BE49-F238E27FC236}">
                <a16:creationId xmlns:a16="http://schemas.microsoft.com/office/drawing/2014/main" id="{93F5CB35-B9FA-CC46-A5A2-931C7304B721}"/>
              </a:ext>
            </a:extLst>
          </p:cNvPr>
          <p:cNvSpPr/>
          <p:nvPr/>
        </p:nvSpPr>
        <p:spPr>
          <a:xfrm>
            <a:off x="6367780" y="1648142"/>
            <a:ext cx="27940" cy="2794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8" name="Choice Supervisor 1">
            <a:extLst>
              <a:ext uri="{FF2B5EF4-FFF2-40B4-BE49-F238E27FC236}">
                <a16:creationId xmlns:a16="http://schemas.microsoft.com/office/drawing/2014/main" id="{1F4E2614-DB20-1546-959C-85B0754806FD}"/>
              </a:ext>
            </a:extLst>
          </p:cNvPr>
          <p:cNvSpPr/>
          <p:nvPr/>
        </p:nvSpPr>
        <p:spPr>
          <a:xfrm>
            <a:off x="5948680" y="2432367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9" name="Choice Supervisor 2">
            <a:extLst>
              <a:ext uri="{FF2B5EF4-FFF2-40B4-BE49-F238E27FC236}">
                <a16:creationId xmlns:a16="http://schemas.microsoft.com/office/drawing/2014/main" id="{07F3528B-58C6-D14E-962A-F9B85394D6F9}"/>
              </a:ext>
            </a:extLst>
          </p:cNvPr>
          <p:cNvSpPr/>
          <p:nvPr/>
        </p:nvSpPr>
        <p:spPr>
          <a:xfrm>
            <a:off x="6018530" y="2465705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0" name="Choice Supervisor 3">
            <a:extLst>
              <a:ext uri="{FF2B5EF4-FFF2-40B4-BE49-F238E27FC236}">
                <a16:creationId xmlns:a16="http://schemas.microsoft.com/office/drawing/2014/main" id="{4ABF5E21-9E5A-B34C-93EE-5669E6822DE2}"/>
              </a:ext>
            </a:extLst>
          </p:cNvPr>
          <p:cNvSpPr/>
          <p:nvPr/>
        </p:nvSpPr>
        <p:spPr>
          <a:xfrm>
            <a:off x="6088380" y="2499042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1" name="Choice Supervisor 4">
            <a:extLst>
              <a:ext uri="{FF2B5EF4-FFF2-40B4-BE49-F238E27FC236}">
                <a16:creationId xmlns:a16="http://schemas.microsoft.com/office/drawing/2014/main" id="{B60FD9F0-4133-CB45-854E-41CE073648AD}"/>
              </a:ext>
            </a:extLst>
          </p:cNvPr>
          <p:cNvSpPr/>
          <p:nvPr/>
        </p:nvSpPr>
        <p:spPr>
          <a:xfrm>
            <a:off x="6158230" y="2532380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2" name="Choice Supervisor 5">
            <a:extLst>
              <a:ext uri="{FF2B5EF4-FFF2-40B4-BE49-F238E27FC236}">
                <a16:creationId xmlns:a16="http://schemas.microsoft.com/office/drawing/2014/main" id="{FAB862DD-ECBA-7541-8D61-5931BA48B8A1}"/>
              </a:ext>
            </a:extLst>
          </p:cNvPr>
          <p:cNvSpPr/>
          <p:nvPr/>
        </p:nvSpPr>
        <p:spPr>
          <a:xfrm>
            <a:off x="6228080" y="2565717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3" name="Choice Supervisor 6">
            <a:extLst>
              <a:ext uri="{FF2B5EF4-FFF2-40B4-BE49-F238E27FC236}">
                <a16:creationId xmlns:a16="http://schemas.microsoft.com/office/drawing/2014/main" id="{F04EAE58-789B-7F42-8CB2-3261749F4263}"/>
              </a:ext>
            </a:extLst>
          </p:cNvPr>
          <p:cNvSpPr/>
          <p:nvPr/>
        </p:nvSpPr>
        <p:spPr>
          <a:xfrm>
            <a:off x="6297930" y="2599055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4" name="Choice Supervisor 7">
            <a:extLst>
              <a:ext uri="{FF2B5EF4-FFF2-40B4-BE49-F238E27FC236}">
                <a16:creationId xmlns:a16="http://schemas.microsoft.com/office/drawing/2014/main" id="{70AA566F-4E77-124A-BCE2-858AC7A7735F}"/>
              </a:ext>
            </a:extLst>
          </p:cNvPr>
          <p:cNvSpPr/>
          <p:nvPr/>
        </p:nvSpPr>
        <p:spPr>
          <a:xfrm>
            <a:off x="6367780" y="2632392"/>
            <a:ext cx="27940" cy="27940"/>
          </a:xfrm>
          <a:prstGeom prst="ellipse">
            <a:avLst/>
          </a:prstGeom>
          <a:solidFill>
            <a:srgbClr val="18A86B"/>
          </a:solidFill>
          <a:ln w="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5" name="Choice Stop 1">
            <a:extLst>
              <a:ext uri="{FF2B5EF4-FFF2-40B4-BE49-F238E27FC236}">
                <a16:creationId xmlns:a16="http://schemas.microsoft.com/office/drawing/2014/main" id="{157180A7-7CBA-0343-B2DF-B8FBF292B206}"/>
              </a:ext>
            </a:extLst>
          </p:cNvPr>
          <p:cNvSpPr/>
          <p:nvPr/>
        </p:nvSpPr>
        <p:spPr>
          <a:xfrm>
            <a:off x="5948680" y="2986405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6" name="Choice Stop 2">
            <a:extLst>
              <a:ext uri="{FF2B5EF4-FFF2-40B4-BE49-F238E27FC236}">
                <a16:creationId xmlns:a16="http://schemas.microsoft.com/office/drawing/2014/main" id="{22855496-4972-1C45-ADA1-28C5C4F5BE55}"/>
              </a:ext>
            </a:extLst>
          </p:cNvPr>
          <p:cNvSpPr/>
          <p:nvPr/>
        </p:nvSpPr>
        <p:spPr>
          <a:xfrm>
            <a:off x="6018530" y="3091180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7" name="Choice Stop 3">
            <a:extLst>
              <a:ext uri="{FF2B5EF4-FFF2-40B4-BE49-F238E27FC236}">
                <a16:creationId xmlns:a16="http://schemas.microsoft.com/office/drawing/2014/main" id="{FE7C7510-BF58-6440-A159-E2AA35AF427C}"/>
              </a:ext>
            </a:extLst>
          </p:cNvPr>
          <p:cNvSpPr/>
          <p:nvPr/>
        </p:nvSpPr>
        <p:spPr>
          <a:xfrm>
            <a:off x="6088380" y="3195955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8" name="Choice Stop 4">
            <a:extLst>
              <a:ext uri="{FF2B5EF4-FFF2-40B4-BE49-F238E27FC236}">
                <a16:creationId xmlns:a16="http://schemas.microsoft.com/office/drawing/2014/main" id="{1BDE6738-BB3C-0349-BE19-9FBD3C3B41CB}"/>
              </a:ext>
            </a:extLst>
          </p:cNvPr>
          <p:cNvSpPr/>
          <p:nvPr/>
        </p:nvSpPr>
        <p:spPr>
          <a:xfrm>
            <a:off x="6158230" y="3300729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9" name="Choice Stop 5">
            <a:extLst>
              <a:ext uri="{FF2B5EF4-FFF2-40B4-BE49-F238E27FC236}">
                <a16:creationId xmlns:a16="http://schemas.microsoft.com/office/drawing/2014/main" id="{EE56B503-2343-3245-86D0-0FFF4671726A}"/>
              </a:ext>
            </a:extLst>
          </p:cNvPr>
          <p:cNvSpPr/>
          <p:nvPr/>
        </p:nvSpPr>
        <p:spPr>
          <a:xfrm>
            <a:off x="6228080" y="3405504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0" name="Choice Stop 6">
            <a:extLst>
              <a:ext uri="{FF2B5EF4-FFF2-40B4-BE49-F238E27FC236}">
                <a16:creationId xmlns:a16="http://schemas.microsoft.com/office/drawing/2014/main" id="{4C4B2346-D233-8540-81E9-6409D6BF45DC}"/>
              </a:ext>
            </a:extLst>
          </p:cNvPr>
          <p:cNvSpPr/>
          <p:nvPr/>
        </p:nvSpPr>
        <p:spPr>
          <a:xfrm>
            <a:off x="6297930" y="3510279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1" name="Choice Stop 7">
            <a:extLst>
              <a:ext uri="{FF2B5EF4-FFF2-40B4-BE49-F238E27FC236}">
                <a16:creationId xmlns:a16="http://schemas.microsoft.com/office/drawing/2014/main" id="{0F26EB59-071A-4C4F-A5E4-39C761B59720}"/>
              </a:ext>
            </a:extLst>
          </p:cNvPr>
          <p:cNvSpPr/>
          <p:nvPr/>
        </p:nvSpPr>
        <p:spPr>
          <a:xfrm>
            <a:off x="6367780" y="3615054"/>
            <a:ext cx="27940" cy="27940"/>
          </a:xfrm>
          <a:prstGeom prst="ellipse">
            <a:avLst/>
          </a:prstGeom>
          <a:solidFill>
            <a:srgbClr val="D85B67"/>
          </a:solidFill>
          <a:ln w="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2" name="Detect Gap shadow">
            <a:extLst>
              <a:ext uri="{FF2B5EF4-FFF2-40B4-BE49-F238E27FC236}">
                <a16:creationId xmlns:a16="http://schemas.microsoft.com/office/drawing/2014/main" id="{FE358EF1-A52E-1D45-8B9F-BFE8D90FD352}"/>
              </a:ext>
            </a:extLst>
          </p:cNvPr>
          <p:cNvSpPr/>
          <p:nvPr/>
        </p:nvSpPr>
        <p:spPr>
          <a:xfrm>
            <a:off x="438150" y="1320800"/>
            <a:ext cx="2286000" cy="8890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3" name="Detect Gap">
            <a:extLst>
              <a:ext uri="{FF2B5EF4-FFF2-40B4-BE49-F238E27FC236}">
                <a16:creationId xmlns:a16="http://schemas.microsoft.com/office/drawing/2014/main" id="{EF143B48-9A82-F443-AF48-83DE888E772B}"/>
              </a:ext>
            </a:extLst>
          </p:cNvPr>
          <p:cNvSpPr/>
          <p:nvPr/>
        </p:nvSpPr>
        <p:spPr>
          <a:xfrm>
            <a:off x="406400" y="1282700"/>
            <a:ext cx="2286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4" name="Detect Gap icon bg">
            <a:extLst>
              <a:ext uri="{FF2B5EF4-FFF2-40B4-BE49-F238E27FC236}">
                <a16:creationId xmlns:a16="http://schemas.microsoft.com/office/drawing/2014/main" id="{272ACF27-0CC4-AD49-B48A-1B90204E74A0}"/>
              </a:ext>
            </a:extLst>
          </p:cNvPr>
          <p:cNvSpPr/>
          <p:nvPr/>
        </p:nvSpPr>
        <p:spPr>
          <a:xfrm>
            <a:off x="558800" y="1447800"/>
            <a:ext cx="381000" cy="381000"/>
          </a:xfrm>
          <a:prstGeom prst="ellipse">
            <a:avLst/>
          </a:prstGeom>
          <a:solidFill>
            <a:srgbClr val="EEEAFE"/>
          </a:solidFill>
          <a:ln w="0" cap="flat" cmpd="sng" algn="ctr">
            <a:solidFill>
              <a:srgbClr val="EEEA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5" name="Detect Gap lens">
            <a:extLst>
              <a:ext uri="{FF2B5EF4-FFF2-40B4-BE49-F238E27FC236}">
                <a16:creationId xmlns:a16="http://schemas.microsoft.com/office/drawing/2014/main" id="{8D63E7E2-BCA9-C94D-ADDC-D64CE61973E5}"/>
              </a:ext>
            </a:extLst>
          </p:cNvPr>
          <p:cNvSpPr/>
          <p:nvPr/>
        </p:nvSpPr>
        <p:spPr>
          <a:xfrm>
            <a:off x="660400" y="1536700"/>
            <a:ext cx="139700" cy="139700"/>
          </a:xfrm>
          <a:prstGeom prst="ellipse">
            <a:avLst/>
          </a:prstGeom>
          <a:solidFill>
            <a:srgbClr val="EEEAFE"/>
          </a:solidFill>
          <a:ln w="2032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7" name="Detect Gap title">
            <a:extLst>
              <a:ext uri="{FF2B5EF4-FFF2-40B4-BE49-F238E27FC236}">
                <a16:creationId xmlns:a16="http://schemas.microsoft.com/office/drawing/2014/main" id="{E3C94DA8-3E1B-EB4F-B760-CEC957D84C13}"/>
              </a:ext>
            </a:extLst>
          </p:cNvPr>
          <p:cNvSpPr txBox="1"/>
          <p:nvPr/>
        </p:nvSpPr>
        <p:spPr>
          <a:xfrm>
            <a:off x="1041400" y="13970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5535F2"/>
                </a:solidFill>
                <a:latin typeface="Aptos"/>
              </a:rPr>
              <a:t>Detect Gap</a:t>
            </a:r>
            <a:endParaRPr lang="he-IL" sz="1200" b="1">
              <a:solidFill>
                <a:srgbClr val="5535F2"/>
              </a:solidFill>
              <a:latin typeface="Aptos"/>
            </a:endParaRPr>
          </a:p>
        </p:txBody>
      </p:sp>
      <p:sp>
        <p:nvSpPr>
          <p:cNvPr id="88" name="Detect Gap body">
            <a:extLst>
              <a:ext uri="{FF2B5EF4-FFF2-40B4-BE49-F238E27FC236}">
                <a16:creationId xmlns:a16="http://schemas.microsoft.com/office/drawing/2014/main" id="{E8731A67-1FA1-094A-80E8-0F91460C45AA}"/>
              </a:ext>
            </a:extLst>
          </p:cNvPr>
          <p:cNvSpPr txBox="1"/>
          <p:nvPr/>
        </p:nvSpPr>
        <p:spPr>
          <a:xfrm>
            <a:off x="1028700" y="1634406"/>
            <a:ext cx="1687830" cy="5207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en-US" sz="900" dirty="0">
                <a:solidFill>
                  <a:srgbClr val="5E6C89"/>
                </a:solidFill>
                <a:latin typeface="Aptos"/>
              </a:rPr>
              <a:t>Identify repeated mismatches between listing claims and guest experience.</a:t>
            </a:r>
            <a:endParaRPr lang="he-IL" sz="9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89" name="Gather Evidence shadow">
            <a:extLst>
              <a:ext uri="{FF2B5EF4-FFF2-40B4-BE49-F238E27FC236}">
                <a16:creationId xmlns:a16="http://schemas.microsoft.com/office/drawing/2014/main" id="{1C190817-C9BB-AD4F-A552-1998DB162C64}"/>
              </a:ext>
            </a:extLst>
          </p:cNvPr>
          <p:cNvSpPr/>
          <p:nvPr/>
        </p:nvSpPr>
        <p:spPr>
          <a:xfrm>
            <a:off x="438150" y="2374900"/>
            <a:ext cx="2286000" cy="8890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0" name="Gather Evidence">
            <a:extLst>
              <a:ext uri="{FF2B5EF4-FFF2-40B4-BE49-F238E27FC236}">
                <a16:creationId xmlns:a16="http://schemas.microsoft.com/office/drawing/2014/main" id="{71F2EBE0-A9D8-BD45-816D-8DFDD0D5A83E}"/>
              </a:ext>
            </a:extLst>
          </p:cNvPr>
          <p:cNvSpPr/>
          <p:nvPr/>
        </p:nvSpPr>
        <p:spPr>
          <a:xfrm>
            <a:off x="406400" y="2336800"/>
            <a:ext cx="2286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1" name="Gather Evidence icon bg">
            <a:extLst>
              <a:ext uri="{FF2B5EF4-FFF2-40B4-BE49-F238E27FC236}">
                <a16:creationId xmlns:a16="http://schemas.microsoft.com/office/drawing/2014/main" id="{C9E11BC9-E26D-604C-9037-81EC9EA6582F}"/>
              </a:ext>
            </a:extLst>
          </p:cNvPr>
          <p:cNvSpPr/>
          <p:nvPr/>
        </p:nvSpPr>
        <p:spPr>
          <a:xfrm>
            <a:off x="558800" y="2501900"/>
            <a:ext cx="381000" cy="381000"/>
          </a:xfrm>
          <a:prstGeom prst="ellipse">
            <a:avLst/>
          </a:prstGeom>
          <a:solidFill>
            <a:srgbClr val="E8F3FE"/>
          </a:solidFill>
          <a:ln w="0" cap="flat" cmpd="sng" algn="ctr">
            <a:solidFill>
              <a:srgbClr val="E8F3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5" name="Gather Evidence evdot">
            <a:extLst>
              <a:ext uri="{FF2B5EF4-FFF2-40B4-BE49-F238E27FC236}">
                <a16:creationId xmlns:a16="http://schemas.microsoft.com/office/drawing/2014/main" id="{FEF8E2DF-3840-A24E-AC4C-80B15FC90F16}"/>
              </a:ext>
            </a:extLst>
          </p:cNvPr>
          <p:cNvSpPr/>
          <p:nvPr/>
        </p:nvSpPr>
        <p:spPr>
          <a:xfrm>
            <a:off x="819150" y="2736850"/>
            <a:ext cx="63500" cy="63500"/>
          </a:xfrm>
          <a:prstGeom prst="ellipse">
            <a:avLst/>
          </a:prstGeom>
          <a:solidFill>
            <a:srgbClr val="E8F3FE"/>
          </a:solidFill>
          <a:ln w="16510" cap="flat" cmpd="sng" algn="ctr">
            <a:solidFill>
              <a:srgbClr val="16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6" name="Gather Evidence title">
            <a:extLst>
              <a:ext uri="{FF2B5EF4-FFF2-40B4-BE49-F238E27FC236}">
                <a16:creationId xmlns:a16="http://schemas.microsoft.com/office/drawing/2014/main" id="{2C225177-1D43-D446-B0AA-FDCD1FF5FADD}"/>
              </a:ext>
            </a:extLst>
          </p:cNvPr>
          <p:cNvSpPr txBox="1"/>
          <p:nvPr/>
        </p:nvSpPr>
        <p:spPr>
          <a:xfrm>
            <a:off x="1041400" y="24511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1676D2"/>
                </a:solidFill>
                <a:latin typeface="Aptos"/>
              </a:rPr>
              <a:t>Gather Evidence</a:t>
            </a:r>
            <a:endParaRPr lang="he-IL" sz="1200" b="1">
              <a:solidFill>
                <a:srgbClr val="1676D2"/>
              </a:solidFill>
              <a:latin typeface="Aptos"/>
            </a:endParaRPr>
          </a:p>
        </p:txBody>
      </p:sp>
      <p:sp>
        <p:nvSpPr>
          <p:cNvPr id="97" name="Gather Evidence body">
            <a:extLst>
              <a:ext uri="{FF2B5EF4-FFF2-40B4-BE49-F238E27FC236}">
                <a16:creationId xmlns:a16="http://schemas.microsoft.com/office/drawing/2014/main" id="{D7E1DA89-55B4-B741-8EAB-6442AC47B699}"/>
              </a:ext>
            </a:extLst>
          </p:cNvPr>
          <p:cNvSpPr txBox="1"/>
          <p:nvPr/>
        </p:nvSpPr>
        <p:spPr>
          <a:xfrm>
            <a:off x="1053465" y="2698750"/>
            <a:ext cx="1581150" cy="444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900" dirty="0">
                <a:solidFill>
                  <a:srgbClr val="5E6C89"/>
                </a:solidFill>
                <a:latin typeface="Aptos"/>
              </a:rPr>
              <a:t>Search reviews, listing data, and Google Places only when relevant.</a:t>
            </a:r>
            <a:endParaRPr lang="he-IL" sz="9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98" name="Interpret Expectations shadow">
            <a:extLst>
              <a:ext uri="{FF2B5EF4-FFF2-40B4-BE49-F238E27FC236}">
                <a16:creationId xmlns:a16="http://schemas.microsoft.com/office/drawing/2014/main" id="{F8487440-4C4E-9749-9EB2-2F856F8B08F8}"/>
              </a:ext>
            </a:extLst>
          </p:cNvPr>
          <p:cNvSpPr/>
          <p:nvPr/>
        </p:nvSpPr>
        <p:spPr>
          <a:xfrm>
            <a:off x="438150" y="3429000"/>
            <a:ext cx="2286000" cy="8890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9" name="Interpret Expectations">
            <a:extLst>
              <a:ext uri="{FF2B5EF4-FFF2-40B4-BE49-F238E27FC236}">
                <a16:creationId xmlns:a16="http://schemas.microsoft.com/office/drawing/2014/main" id="{05DFDEDB-E65A-5E4D-9D6B-AFC628BAFD12}"/>
              </a:ext>
            </a:extLst>
          </p:cNvPr>
          <p:cNvSpPr/>
          <p:nvPr/>
        </p:nvSpPr>
        <p:spPr>
          <a:xfrm>
            <a:off x="406400" y="3390900"/>
            <a:ext cx="2286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0" name="Interpret Expectations icon bg">
            <a:extLst>
              <a:ext uri="{FF2B5EF4-FFF2-40B4-BE49-F238E27FC236}">
                <a16:creationId xmlns:a16="http://schemas.microsoft.com/office/drawing/2014/main" id="{6665393F-1199-B841-82A9-CC216E2AAB94}"/>
              </a:ext>
            </a:extLst>
          </p:cNvPr>
          <p:cNvSpPr/>
          <p:nvPr/>
        </p:nvSpPr>
        <p:spPr>
          <a:xfrm>
            <a:off x="558800" y="3556000"/>
            <a:ext cx="381000" cy="381000"/>
          </a:xfrm>
          <a:prstGeom prst="ellipse">
            <a:avLst/>
          </a:prstGeom>
          <a:solidFill>
            <a:srgbClr val="E7F7F8"/>
          </a:solidFill>
          <a:ln w="0" cap="flat" cmpd="sng" algn="ctr">
            <a:solidFill>
              <a:srgbClr val="E7F7F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1" name="Interpret Expectations head1">
            <a:extLst>
              <a:ext uri="{FF2B5EF4-FFF2-40B4-BE49-F238E27FC236}">
                <a16:creationId xmlns:a16="http://schemas.microsoft.com/office/drawing/2014/main" id="{CAE059ED-0EAF-9047-A215-D467CF2A11C9}"/>
              </a:ext>
            </a:extLst>
          </p:cNvPr>
          <p:cNvSpPr/>
          <p:nvPr/>
        </p:nvSpPr>
        <p:spPr>
          <a:xfrm>
            <a:off x="673100" y="3644900"/>
            <a:ext cx="76200" cy="7620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2" name="Interpret Expectations head2">
            <a:extLst>
              <a:ext uri="{FF2B5EF4-FFF2-40B4-BE49-F238E27FC236}">
                <a16:creationId xmlns:a16="http://schemas.microsoft.com/office/drawing/2014/main" id="{5D9DBF38-A3A4-1A44-A263-4B20821B1389}"/>
              </a:ext>
            </a:extLst>
          </p:cNvPr>
          <p:cNvSpPr/>
          <p:nvPr/>
        </p:nvSpPr>
        <p:spPr>
          <a:xfrm>
            <a:off x="787400" y="3670300"/>
            <a:ext cx="63500" cy="63500"/>
          </a:xfrm>
          <a:prstGeom prst="ellipse">
            <a:avLst/>
          </a:prstGeom>
          <a:solidFill>
            <a:srgbClr val="0F9AA8"/>
          </a:solidFill>
          <a:ln w="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3" name="Interpret Expectations body1">
            <a:extLst>
              <a:ext uri="{FF2B5EF4-FFF2-40B4-BE49-F238E27FC236}">
                <a16:creationId xmlns:a16="http://schemas.microsoft.com/office/drawing/2014/main" id="{EF31F20F-C696-BA4C-A5BA-AAF1E221C0DB}"/>
              </a:ext>
            </a:extLst>
          </p:cNvPr>
          <p:cNvSpPr/>
          <p:nvPr/>
        </p:nvSpPr>
        <p:spPr>
          <a:xfrm>
            <a:off x="647700" y="3746500"/>
            <a:ext cx="127000" cy="101600"/>
          </a:xfrm>
          <a:prstGeom prst="roundRect">
            <a:avLst/>
          </a:prstGeom>
          <a:solidFill>
            <a:srgbClr val="0F9AA8"/>
          </a:solidFill>
          <a:ln w="1270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4" name="Interpret Expectations body2">
            <a:extLst>
              <a:ext uri="{FF2B5EF4-FFF2-40B4-BE49-F238E27FC236}">
                <a16:creationId xmlns:a16="http://schemas.microsoft.com/office/drawing/2014/main" id="{24C21D77-132A-C64B-8CBB-EC2AE622B51A}"/>
              </a:ext>
            </a:extLst>
          </p:cNvPr>
          <p:cNvSpPr/>
          <p:nvPr/>
        </p:nvSpPr>
        <p:spPr>
          <a:xfrm>
            <a:off x="774700" y="3759200"/>
            <a:ext cx="101600" cy="88900"/>
          </a:xfrm>
          <a:prstGeom prst="roundRect">
            <a:avLst/>
          </a:prstGeom>
          <a:solidFill>
            <a:srgbClr val="0F9AA8"/>
          </a:solidFill>
          <a:ln w="12700" cap="flat" cmpd="sng" algn="ctr">
            <a:solidFill>
              <a:srgbClr val="0F9A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5" name="Interpret Expectations title">
            <a:extLst>
              <a:ext uri="{FF2B5EF4-FFF2-40B4-BE49-F238E27FC236}">
                <a16:creationId xmlns:a16="http://schemas.microsoft.com/office/drawing/2014/main" id="{4E3ADAF7-40BF-2E42-98CC-25A2191D47AD}"/>
              </a:ext>
            </a:extLst>
          </p:cNvPr>
          <p:cNvSpPr txBox="1"/>
          <p:nvPr/>
        </p:nvSpPr>
        <p:spPr>
          <a:xfrm>
            <a:off x="1041400" y="3505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9AA8"/>
                </a:solidFill>
                <a:latin typeface="Aptos"/>
              </a:rPr>
              <a:t>Interpret Guest Expectations</a:t>
            </a:r>
            <a:endParaRPr lang="he-IL" sz="1200" b="1">
              <a:solidFill>
                <a:srgbClr val="0F9AA8"/>
              </a:solidFill>
              <a:latin typeface="Aptos"/>
            </a:endParaRPr>
          </a:p>
        </p:txBody>
      </p:sp>
      <p:sp>
        <p:nvSpPr>
          <p:cNvPr id="106" name="Interpret Expectations body">
            <a:extLst>
              <a:ext uri="{FF2B5EF4-FFF2-40B4-BE49-F238E27FC236}">
                <a16:creationId xmlns:a16="http://schemas.microsoft.com/office/drawing/2014/main" id="{5A09C043-BAC7-CA42-8B97-AEED70A4EA33}"/>
              </a:ext>
            </a:extLst>
          </p:cNvPr>
          <p:cNvSpPr txBox="1"/>
          <p:nvPr/>
        </p:nvSpPr>
        <p:spPr>
          <a:xfrm>
            <a:off x="964565" y="3797300"/>
            <a:ext cx="1663700" cy="444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900" dirty="0">
                <a:solidFill>
                  <a:srgbClr val="5E6C89"/>
                </a:solidFill>
                <a:latin typeface="Aptos"/>
              </a:rPr>
              <a:t>Understand which guest type may be affected by the gap.</a:t>
            </a:r>
            <a:endParaRPr lang="he-IL" sz="9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107" name="Draft Revise shadow">
            <a:extLst>
              <a:ext uri="{FF2B5EF4-FFF2-40B4-BE49-F238E27FC236}">
                <a16:creationId xmlns:a16="http://schemas.microsoft.com/office/drawing/2014/main" id="{BDC85F42-AB5F-4D4B-BEC1-9A60B8D293AF}"/>
              </a:ext>
            </a:extLst>
          </p:cNvPr>
          <p:cNvSpPr/>
          <p:nvPr/>
        </p:nvSpPr>
        <p:spPr>
          <a:xfrm>
            <a:off x="6483350" y="1320800"/>
            <a:ext cx="2286000" cy="8890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8" name="Draft Revise">
            <a:extLst>
              <a:ext uri="{FF2B5EF4-FFF2-40B4-BE49-F238E27FC236}">
                <a16:creationId xmlns:a16="http://schemas.microsoft.com/office/drawing/2014/main" id="{92C132CD-37E5-7A41-8116-9999295E2D5C}"/>
              </a:ext>
            </a:extLst>
          </p:cNvPr>
          <p:cNvSpPr/>
          <p:nvPr/>
        </p:nvSpPr>
        <p:spPr>
          <a:xfrm>
            <a:off x="6451600" y="1282700"/>
            <a:ext cx="2286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9" name="Draft Revise icon bg">
            <a:extLst>
              <a:ext uri="{FF2B5EF4-FFF2-40B4-BE49-F238E27FC236}">
                <a16:creationId xmlns:a16="http://schemas.microsoft.com/office/drawing/2014/main" id="{B4C9035F-5EA0-8147-84FA-BDD55AF42269}"/>
              </a:ext>
            </a:extLst>
          </p:cNvPr>
          <p:cNvSpPr/>
          <p:nvPr/>
        </p:nvSpPr>
        <p:spPr>
          <a:xfrm>
            <a:off x="6604000" y="1447800"/>
            <a:ext cx="381000" cy="381000"/>
          </a:xfrm>
          <a:prstGeom prst="ellipse">
            <a:avLst/>
          </a:prstGeom>
          <a:solidFill>
            <a:srgbClr val="EEEAFE"/>
          </a:solidFill>
          <a:ln w="0" cap="flat" cmpd="sng" algn="ctr">
            <a:solidFill>
              <a:srgbClr val="EEEA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0" name="Draft Revise pencil">
            <a:extLst>
              <a:ext uri="{FF2B5EF4-FFF2-40B4-BE49-F238E27FC236}">
                <a16:creationId xmlns:a16="http://schemas.microsoft.com/office/drawing/2014/main" id="{F2531E75-6990-A54A-957C-1415C3D40E43}"/>
              </a:ext>
            </a:extLst>
          </p:cNvPr>
          <p:cNvSpPr/>
          <p:nvPr/>
        </p:nvSpPr>
        <p:spPr>
          <a:xfrm rot="-2280000">
            <a:off x="6718300" y="1625600"/>
            <a:ext cx="203200" cy="50800"/>
          </a:xfrm>
          <a:prstGeom prst="rect">
            <a:avLst/>
          </a:prstGeom>
          <a:solidFill>
            <a:srgbClr val="5535F2"/>
          </a:solidFill>
          <a:ln w="1270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1" name="Draft Revise point">
            <a:extLst>
              <a:ext uri="{FF2B5EF4-FFF2-40B4-BE49-F238E27FC236}">
                <a16:creationId xmlns:a16="http://schemas.microsoft.com/office/drawing/2014/main" id="{A77E01ED-FBE9-4947-A301-9E6D852AF8F0}"/>
              </a:ext>
            </a:extLst>
          </p:cNvPr>
          <p:cNvSpPr/>
          <p:nvPr/>
        </p:nvSpPr>
        <p:spPr>
          <a:xfrm>
            <a:off x="6883400" y="1549400"/>
            <a:ext cx="50800" cy="5080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2" name="Draft Revise title">
            <a:extLst>
              <a:ext uri="{FF2B5EF4-FFF2-40B4-BE49-F238E27FC236}">
                <a16:creationId xmlns:a16="http://schemas.microsoft.com/office/drawing/2014/main" id="{69427778-21DF-644F-BBDF-1FBA3931556F}"/>
              </a:ext>
            </a:extLst>
          </p:cNvPr>
          <p:cNvSpPr txBox="1"/>
          <p:nvPr/>
        </p:nvSpPr>
        <p:spPr>
          <a:xfrm>
            <a:off x="7086600" y="13970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5535F2"/>
                </a:solidFill>
                <a:latin typeface="Aptos"/>
              </a:rPr>
              <a:t>Draft / Revise Edit</a:t>
            </a:r>
            <a:endParaRPr lang="he-IL" sz="1200" b="1">
              <a:solidFill>
                <a:srgbClr val="5535F2"/>
              </a:solidFill>
              <a:latin typeface="Aptos"/>
            </a:endParaRPr>
          </a:p>
        </p:txBody>
      </p:sp>
      <p:sp>
        <p:nvSpPr>
          <p:cNvPr id="113" name="Draft Revise body">
            <a:extLst>
              <a:ext uri="{FF2B5EF4-FFF2-40B4-BE49-F238E27FC236}">
                <a16:creationId xmlns:a16="http://schemas.microsoft.com/office/drawing/2014/main" id="{7E540F9E-EE35-A744-968A-9E0D463FB72C}"/>
              </a:ext>
            </a:extLst>
          </p:cNvPr>
          <p:cNvSpPr txBox="1"/>
          <p:nvPr/>
        </p:nvSpPr>
        <p:spPr>
          <a:xfrm>
            <a:off x="7070725" y="1621789"/>
            <a:ext cx="1682750" cy="558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900" dirty="0">
                <a:solidFill>
                  <a:srgbClr val="5E6C89"/>
                </a:solidFill>
                <a:latin typeface="Aptos"/>
              </a:rPr>
              <a:t>Suggest precise wording changes to the title, description, or location notes.</a:t>
            </a:r>
            <a:endParaRPr lang="he-IL" sz="9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114" name="Submit Supervisor shadow">
            <a:extLst>
              <a:ext uri="{FF2B5EF4-FFF2-40B4-BE49-F238E27FC236}">
                <a16:creationId xmlns:a16="http://schemas.microsoft.com/office/drawing/2014/main" id="{7C9DE067-7258-9042-80A2-59CB7EB98AAF}"/>
              </a:ext>
            </a:extLst>
          </p:cNvPr>
          <p:cNvSpPr/>
          <p:nvPr/>
        </p:nvSpPr>
        <p:spPr>
          <a:xfrm>
            <a:off x="6483350" y="2374900"/>
            <a:ext cx="2286000" cy="8890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5" name="Submit Supervisor">
            <a:extLst>
              <a:ext uri="{FF2B5EF4-FFF2-40B4-BE49-F238E27FC236}">
                <a16:creationId xmlns:a16="http://schemas.microsoft.com/office/drawing/2014/main" id="{C7A69F97-E6BB-BC4D-8DEF-5BB4A34D11D0}"/>
              </a:ext>
            </a:extLst>
          </p:cNvPr>
          <p:cNvSpPr/>
          <p:nvPr/>
        </p:nvSpPr>
        <p:spPr>
          <a:xfrm>
            <a:off x="6451600" y="2336800"/>
            <a:ext cx="2286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6" name="Submit Supervisor icon bg">
            <a:extLst>
              <a:ext uri="{FF2B5EF4-FFF2-40B4-BE49-F238E27FC236}">
                <a16:creationId xmlns:a16="http://schemas.microsoft.com/office/drawing/2014/main" id="{EB6DCBAF-8860-754A-8653-51C30D57EEB3}"/>
              </a:ext>
            </a:extLst>
          </p:cNvPr>
          <p:cNvSpPr/>
          <p:nvPr/>
        </p:nvSpPr>
        <p:spPr>
          <a:xfrm>
            <a:off x="6604000" y="2501900"/>
            <a:ext cx="381000" cy="381000"/>
          </a:xfrm>
          <a:prstGeom prst="ellipse">
            <a:avLst/>
          </a:prstGeom>
          <a:solidFill>
            <a:srgbClr val="E6F7EF"/>
          </a:solidFill>
          <a:ln w="0" cap="flat" cmpd="sng" algn="ctr">
            <a:solidFill>
              <a:srgbClr val="E6F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7" name="Submit Supervisor shield">
            <a:extLst>
              <a:ext uri="{FF2B5EF4-FFF2-40B4-BE49-F238E27FC236}">
                <a16:creationId xmlns:a16="http://schemas.microsoft.com/office/drawing/2014/main" id="{D507FC14-606B-384F-A105-F9836F1FECCE}"/>
              </a:ext>
            </a:extLst>
          </p:cNvPr>
          <p:cNvSpPr/>
          <p:nvPr/>
        </p:nvSpPr>
        <p:spPr>
          <a:xfrm rot="10800000">
            <a:off x="6718300" y="2578100"/>
            <a:ext cx="203200" cy="228600"/>
          </a:xfrm>
          <a:prstGeom prst="pentagon">
            <a:avLst/>
          </a:prstGeom>
          <a:solidFill>
            <a:srgbClr val="E6F7EF"/>
          </a:solidFill>
          <a:ln w="19050" cap="flat" cmpd="sng" algn="ctr">
            <a:solidFill>
              <a:srgbClr val="18A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0" name="Submit Supervisor title">
            <a:extLst>
              <a:ext uri="{FF2B5EF4-FFF2-40B4-BE49-F238E27FC236}">
                <a16:creationId xmlns:a16="http://schemas.microsoft.com/office/drawing/2014/main" id="{00B204A8-AD6E-4740-B29D-A3FDC38743D0}"/>
              </a:ext>
            </a:extLst>
          </p:cNvPr>
          <p:cNvSpPr txBox="1"/>
          <p:nvPr/>
        </p:nvSpPr>
        <p:spPr>
          <a:xfrm>
            <a:off x="7086600" y="24511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8A86B"/>
                </a:solidFill>
                <a:latin typeface="Aptos"/>
              </a:rPr>
              <a:t>Submit to Supervisor</a:t>
            </a:r>
            <a:endParaRPr lang="he-IL" sz="1200" b="1">
              <a:solidFill>
                <a:srgbClr val="18A86B"/>
              </a:solidFill>
              <a:latin typeface="Aptos"/>
            </a:endParaRPr>
          </a:p>
        </p:txBody>
      </p:sp>
      <p:sp>
        <p:nvSpPr>
          <p:cNvPr id="121" name="Submit Supervisor body">
            <a:extLst>
              <a:ext uri="{FF2B5EF4-FFF2-40B4-BE49-F238E27FC236}">
                <a16:creationId xmlns:a16="http://schemas.microsoft.com/office/drawing/2014/main" id="{BEC0DD38-82C8-F84B-A1EB-F5D1CA1F2658}"/>
              </a:ext>
            </a:extLst>
          </p:cNvPr>
          <p:cNvSpPr txBox="1"/>
          <p:nvPr/>
        </p:nvSpPr>
        <p:spPr>
          <a:xfrm>
            <a:off x="7064375" y="2724150"/>
            <a:ext cx="1619250" cy="444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900" dirty="0">
                <a:solidFill>
                  <a:srgbClr val="5E6C89"/>
                </a:solidFill>
                <a:latin typeface="Aptos"/>
              </a:rPr>
              <a:t>Request approval before any page update is executed.</a:t>
            </a:r>
            <a:endParaRPr lang="he-IL" sz="9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122" name="Stop Action shadow">
            <a:extLst>
              <a:ext uri="{FF2B5EF4-FFF2-40B4-BE49-F238E27FC236}">
                <a16:creationId xmlns:a16="http://schemas.microsoft.com/office/drawing/2014/main" id="{8FE5FD5D-25F0-9048-A512-A6032A74E2CE}"/>
              </a:ext>
            </a:extLst>
          </p:cNvPr>
          <p:cNvSpPr/>
          <p:nvPr/>
        </p:nvSpPr>
        <p:spPr>
          <a:xfrm>
            <a:off x="6483350" y="3429000"/>
            <a:ext cx="2286000" cy="8890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3" name="Stop Action">
            <a:extLst>
              <a:ext uri="{FF2B5EF4-FFF2-40B4-BE49-F238E27FC236}">
                <a16:creationId xmlns:a16="http://schemas.microsoft.com/office/drawing/2014/main" id="{29027686-8487-7147-9A44-680EEAA74F5B}"/>
              </a:ext>
            </a:extLst>
          </p:cNvPr>
          <p:cNvSpPr/>
          <p:nvPr/>
        </p:nvSpPr>
        <p:spPr>
          <a:xfrm>
            <a:off x="6451600" y="3390900"/>
            <a:ext cx="2286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4" name="Stop Action icon bg">
            <a:extLst>
              <a:ext uri="{FF2B5EF4-FFF2-40B4-BE49-F238E27FC236}">
                <a16:creationId xmlns:a16="http://schemas.microsoft.com/office/drawing/2014/main" id="{36760EC2-5FD5-5C4B-A911-9E825D7ACA4F}"/>
              </a:ext>
            </a:extLst>
          </p:cNvPr>
          <p:cNvSpPr/>
          <p:nvPr/>
        </p:nvSpPr>
        <p:spPr>
          <a:xfrm>
            <a:off x="6604000" y="3556000"/>
            <a:ext cx="381000" cy="381000"/>
          </a:xfrm>
          <a:prstGeom prst="ellipse">
            <a:avLst/>
          </a:prstGeom>
          <a:solidFill>
            <a:srgbClr val="FCECEF"/>
          </a:solidFill>
          <a:ln w="0" cap="flat" cmpd="sng" algn="ctr">
            <a:solidFill>
              <a:srgbClr val="FCEC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5" name="Stop Action stop">
            <a:extLst>
              <a:ext uri="{FF2B5EF4-FFF2-40B4-BE49-F238E27FC236}">
                <a16:creationId xmlns:a16="http://schemas.microsoft.com/office/drawing/2014/main" id="{D7B60179-C0AC-8F4B-BCD6-E7ABC02EC239}"/>
              </a:ext>
            </a:extLst>
          </p:cNvPr>
          <p:cNvSpPr/>
          <p:nvPr/>
        </p:nvSpPr>
        <p:spPr>
          <a:xfrm>
            <a:off x="6705600" y="3644900"/>
            <a:ext cx="215900" cy="215900"/>
          </a:xfrm>
          <a:prstGeom prst="octagon">
            <a:avLst/>
          </a:prstGeom>
          <a:solidFill>
            <a:srgbClr val="FCECEF"/>
          </a:solidFill>
          <a:ln w="19050" cap="flat" cmpd="sng" algn="ctr">
            <a:solidFill>
              <a:srgbClr val="D85B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8" name="Stop Action title">
            <a:extLst>
              <a:ext uri="{FF2B5EF4-FFF2-40B4-BE49-F238E27FC236}">
                <a16:creationId xmlns:a16="http://schemas.microsoft.com/office/drawing/2014/main" id="{DCD16C96-526A-EC44-BBD9-478005DD5361}"/>
              </a:ext>
            </a:extLst>
          </p:cNvPr>
          <p:cNvSpPr txBox="1"/>
          <p:nvPr/>
        </p:nvSpPr>
        <p:spPr>
          <a:xfrm>
            <a:off x="7086600" y="3505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 fontScale="92500"/>
          </a:bodyPr>
          <a:lstStyle/>
          <a:p>
            <a:pPr algn="l"/>
            <a:r>
              <a:rPr lang="en-US" sz="1200" b="1">
                <a:solidFill>
                  <a:srgbClr val="D85B67"/>
                </a:solidFill>
                <a:latin typeface="Aptos"/>
              </a:rPr>
              <a:t>Stop Without Action</a:t>
            </a:r>
            <a:endParaRPr lang="he-IL" sz="1200" b="1">
              <a:solidFill>
                <a:srgbClr val="D85B67"/>
              </a:solidFill>
              <a:latin typeface="Aptos"/>
            </a:endParaRPr>
          </a:p>
        </p:txBody>
      </p:sp>
      <p:sp>
        <p:nvSpPr>
          <p:cNvPr id="129" name="Stop Action body">
            <a:extLst>
              <a:ext uri="{FF2B5EF4-FFF2-40B4-BE49-F238E27FC236}">
                <a16:creationId xmlns:a16="http://schemas.microsoft.com/office/drawing/2014/main" id="{5E3529C5-8F4A-7F49-8CD9-1D482C4E4FC5}"/>
              </a:ext>
            </a:extLst>
          </p:cNvPr>
          <p:cNvSpPr txBox="1"/>
          <p:nvPr/>
        </p:nvSpPr>
        <p:spPr>
          <a:xfrm>
            <a:off x="7086600" y="3759200"/>
            <a:ext cx="1619250" cy="444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900" dirty="0">
                <a:solidFill>
                  <a:srgbClr val="5E6C89"/>
                </a:solidFill>
                <a:latin typeface="Aptos"/>
              </a:rPr>
              <a:t>Stop when evidence is weak, outdated, unrelated, or not editable.</a:t>
            </a:r>
            <a:endParaRPr lang="he-IL" sz="900" dirty="0">
              <a:solidFill>
                <a:srgbClr val="5E6C89"/>
              </a:solidFill>
              <a:latin typeface="Aptos"/>
            </a:endParaRPr>
          </a:p>
        </p:txBody>
      </p:sp>
      <p:sp>
        <p:nvSpPr>
          <p:cNvPr id="130" name="Agent shadow">
            <a:extLst>
              <a:ext uri="{FF2B5EF4-FFF2-40B4-BE49-F238E27FC236}">
                <a16:creationId xmlns:a16="http://schemas.microsoft.com/office/drawing/2014/main" id="{14C54BCE-097B-9C4D-84BA-AA16A6049089}"/>
              </a:ext>
            </a:extLst>
          </p:cNvPr>
          <p:cNvSpPr/>
          <p:nvPr/>
        </p:nvSpPr>
        <p:spPr>
          <a:xfrm>
            <a:off x="3276600" y="1536700"/>
            <a:ext cx="2590800" cy="1841500"/>
          </a:xfrm>
          <a:prstGeom prst="roundRect">
            <a:avLst/>
          </a:prstGeom>
          <a:solidFill>
            <a:srgbClr val="CED7EE"/>
          </a:solidFill>
          <a:ln w="12700" cap="flat" cmpd="sng" algn="ctr">
            <a:solidFill>
              <a:srgbClr val="CED7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1" name="Agent card">
            <a:extLst>
              <a:ext uri="{FF2B5EF4-FFF2-40B4-BE49-F238E27FC236}">
                <a16:creationId xmlns:a16="http://schemas.microsoft.com/office/drawing/2014/main" id="{3BB59EE3-2D59-A447-B263-C5E40F9EB1E1}"/>
              </a:ext>
            </a:extLst>
          </p:cNvPr>
          <p:cNvSpPr/>
          <p:nvPr/>
        </p:nvSpPr>
        <p:spPr>
          <a:xfrm>
            <a:off x="3238500" y="1485900"/>
            <a:ext cx="2667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2" name="Agent header">
            <a:extLst>
              <a:ext uri="{FF2B5EF4-FFF2-40B4-BE49-F238E27FC236}">
                <a16:creationId xmlns:a16="http://schemas.microsoft.com/office/drawing/2014/main" id="{B406FF58-4007-A743-8080-B30316E1FCD8}"/>
              </a:ext>
            </a:extLst>
          </p:cNvPr>
          <p:cNvSpPr/>
          <p:nvPr/>
        </p:nvSpPr>
        <p:spPr>
          <a:xfrm>
            <a:off x="3238500" y="1485900"/>
            <a:ext cx="2667000" cy="469900"/>
          </a:xfrm>
          <a:prstGeom prst="roundRect">
            <a:avLst/>
          </a:prstGeom>
          <a:solidFill>
            <a:srgbClr val="14285F"/>
          </a:solidFill>
          <a:ln w="12700" cap="flat" cmpd="sng" algn="ctr">
            <a:solidFill>
              <a:srgbClr val="14285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3" name="Header square base">
            <a:extLst>
              <a:ext uri="{FF2B5EF4-FFF2-40B4-BE49-F238E27FC236}">
                <a16:creationId xmlns:a16="http://schemas.microsoft.com/office/drawing/2014/main" id="{A36588BF-64C1-0843-AA72-E338B9180F72}"/>
              </a:ext>
            </a:extLst>
          </p:cNvPr>
          <p:cNvSpPr/>
          <p:nvPr/>
        </p:nvSpPr>
        <p:spPr>
          <a:xfrm>
            <a:off x="3238500" y="1778000"/>
            <a:ext cx="2667000" cy="177800"/>
          </a:xfrm>
          <a:prstGeom prst="rect">
            <a:avLst/>
          </a:prstGeom>
          <a:solidFill>
            <a:srgbClr val="14285F"/>
          </a:solidFill>
          <a:ln w="12700" cap="flat" cmpd="sng" algn="ctr">
            <a:solidFill>
              <a:srgbClr val="14285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4" name="Agent icon bg">
            <a:extLst>
              <a:ext uri="{FF2B5EF4-FFF2-40B4-BE49-F238E27FC236}">
                <a16:creationId xmlns:a16="http://schemas.microsoft.com/office/drawing/2014/main" id="{23C1DCD4-EF1C-C64F-9352-98C7469DE5B2}"/>
              </a:ext>
            </a:extLst>
          </p:cNvPr>
          <p:cNvSpPr/>
          <p:nvPr/>
        </p:nvSpPr>
        <p:spPr>
          <a:xfrm>
            <a:off x="3479800" y="2146300"/>
            <a:ext cx="635000" cy="635000"/>
          </a:xfrm>
          <a:prstGeom prst="ellipse">
            <a:avLst/>
          </a:prstGeom>
          <a:solidFill>
            <a:srgbClr val="EEEAFE"/>
          </a:solidFill>
          <a:ln w="0" cap="flat" cmpd="sng" algn="ctr">
            <a:solidFill>
              <a:srgbClr val="EEEA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5" name="Robot head">
            <a:extLst>
              <a:ext uri="{FF2B5EF4-FFF2-40B4-BE49-F238E27FC236}">
                <a16:creationId xmlns:a16="http://schemas.microsoft.com/office/drawing/2014/main" id="{65595B52-1A6B-1547-B580-FA74CE5823DB}"/>
              </a:ext>
            </a:extLst>
          </p:cNvPr>
          <p:cNvSpPr/>
          <p:nvPr/>
        </p:nvSpPr>
        <p:spPr>
          <a:xfrm>
            <a:off x="3619500" y="2298700"/>
            <a:ext cx="355600" cy="292100"/>
          </a:xfrm>
          <a:prstGeom prst="roundRect">
            <a:avLst/>
          </a:prstGeom>
          <a:solidFill>
            <a:srgbClr val="14285F"/>
          </a:solidFill>
          <a:ln w="12700" cap="flat" cmpd="sng" algn="ctr">
            <a:solidFill>
              <a:srgbClr val="14285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7" name="Robot antenna dot">
            <a:extLst>
              <a:ext uri="{FF2B5EF4-FFF2-40B4-BE49-F238E27FC236}">
                <a16:creationId xmlns:a16="http://schemas.microsoft.com/office/drawing/2014/main" id="{E8D0982F-CD31-2F4D-921A-DCA241B84AAF}"/>
              </a:ext>
            </a:extLst>
          </p:cNvPr>
          <p:cNvSpPr/>
          <p:nvPr/>
        </p:nvSpPr>
        <p:spPr>
          <a:xfrm>
            <a:off x="3765550" y="2203450"/>
            <a:ext cx="63500" cy="63500"/>
          </a:xfrm>
          <a:prstGeom prst="ellipse">
            <a:avLst/>
          </a:prstGeom>
          <a:solidFill>
            <a:srgbClr val="5535F2"/>
          </a:solidFill>
          <a:ln w="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8" name="Robot eye 1">
            <a:extLst>
              <a:ext uri="{FF2B5EF4-FFF2-40B4-BE49-F238E27FC236}">
                <a16:creationId xmlns:a16="http://schemas.microsoft.com/office/drawing/2014/main" id="{6F788306-863F-1849-A0F3-C00E9F75DD11}"/>
              </a:ext>
            </a:extLst>
          </p:cNvPr>
          <p:cNvSpPr/>
          <p:nvPr/>
        </p:nvSpPr>
        <p:spPr>
          <a:xfrm>
            <a:off x="3683000" y="2387600"/>
            <a:ext cx="50800" cy="50800"/>
          </a:xfrm>
          <a:prstGeom prst="ellipse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9" name="Robot eye 2">
            <a:extLst>
              <a:ext uri="{FF2B5EF4-FFF2-40B4-BE49-F238E27FC236}">
                <a16:creationId xmlns:a16="http://schemas.microsoft.com/office/drawing/2014/main" id="{4C81416E-C03C-9244-9FD1-552ED03FB5BE}"/>
              </a:ext>
            </a:extLst>
          </p:cNvPr>
          <p:cNvSpPr/>
          <p:nvPr/>
        </p:nvSpPr>
        <p:spPr>
          <a:xfrm>
            <a:off x="3860800" y="2387600"/>
            <a:ext cx="50800" cy="50800"/>
          </a:xfrm>
          <a:prstGeom prst="ellipse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1" name="Agent title">
            <a:extLst>
              <a:ext uri="{FF2B5EF4-FFF2-40B4-BE49-F238E27FC236}">
                <a16:creationId xmlns:a16="http://schemas.microsoft.com/office/drawing/2014/main" id="{A423EE1D-FECF-A847-81FE-3E18152B9C99}"/>
              </a:ext>
            </a:extLst>
          </p:cNvPr>
          <p:cNvSpPr txBox="1"/>
          <p:nvPr/>
        </p:nvSpPr>
        <p:spPr>
          <a:xfrm>
            <a:off x="3429000" y="15621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Autonomous Listing Editor Agent</a:t>
            </a:r>
            <a:endParaRPr lang="he-IL"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2" name="Agent description">
            <a:extLst>
              <a:ext uri="{FF2B5EF4-FFF2-40B4-BE49-F238E27FC236}">
                <a16:creationId xmlns:a16="http://schemas.microsoft.com/office/drawing/2014/main" id="{1B80A110-A373-6F49-A29A-6D43B28855DE}"/>
              </a:ext>
            </a:extLst>
          </p:cNvPr>
          <p:cNvSpPr txBox="1"/>
          <p:nvPr/>
        </p:nvSpPr>
        <p:spPr>
          <a:xfrm>
            <a:off x="4217353" y="2120900"/>
            <a:ext cx="1577340" cy="800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en-US" sz="1100" b="1" dirty="0">
                <a:solidFill>
                  <a:srgbClr val="14285F"/>
                </a:solidFill>
                <a:latin typeface="Aptos"/>
              </a:rPr>
              <a:t>Reasons, observes evidence, updates its internal</a:t>
            </a:r>
            <a:r>
              <a:rPr lang="he-IL" sz="1100" b="1" dirty="0">
                <a:solidFill>
                  <a:srgbClr val="14285F"/>
                </a:solidFill>
                <a:latin typeface="Aptos"/>
              </a:rPr>
              <a:t> </a:t>
            </a:r>
            <a:r>
              <a:rPr lang="en-US" sz="1100" b="1" dirty="0">
                <a:solidFill>
                  <a:srgbClr val="14285F"/>
                </a:solidFill>
                <a:latin typeface="Aptos"/>
              </a:rPr>
              <a:t>state, and chooses the next action.</a:t>
            </a:r>
            <a:endParaRPr lang="he-IL" sz="1100" b="1" dirty="0">
              <a:solidFill>
                <a:srgbClr val="14285F"/>
              </a:solidFill>
              <a:latin typeface="Aptos"/>
            </a:endParaRPr>
          </a:p>
        </p:txBody>
      </p:sp>
      <p:sp>
        <p:nvSpPr>
          <p:cNvPr id="143" name="Agent autonomy label">
            <a:extLst>
              <a:ext uri="{FF2B5EF4-FFF2-40B4-BE49-F238E27FC236}">
                <a16:creationId xmlns:a16="http://schemas.microsoft.com/office/drawing/2014/main" id="{C6D00EF3-0A9E-8940-AE05-75F7F810EB74}"/>
              </a:ext>
            </a:extLst>
          </p:cNvPr>
          <p:cNvSpPr txBox="1"/>
          <p:nvPr/>
        </p:nvSpPr>
        <p:spPr>
          <a:xfrm>
            <a:off x="3376930" y="2936875"/>
            <a:ext cx="2221230" cy="314324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r>
              <a:rPr lang="en-US" sz="1050" b="1" dirty="0">
                <a:solidFill>
                  <a:srgbClr val="5535F2"/>
                </a:solidFill>
                <a:latin typeface="Aptos"/>
              </a:rPr>
              <a:t>Dynamic Tool &amp; Action Selection</a:t>
            </a:r>
            <a:endParaRPr lang="he-IL" sz="1050" b="1" dirty="0">
              <a:solidFill>
                <a:srgbClr val="5535F2"/>
              </a:solidFill>
              <a:latin typeface="Aptos"/>
            </a:endParaRPr>
          </a:p>
        </p:txBody>
      </p:sp>
      <p:sp>
        <p:nvSpPr>
          <p:cNvPr id="144" name="Bottom shadow">
            <a:extLst>
              <a:ext uri="{FF2B5EF4-FFF2-40B4-BE49-F238E27FC236}">
                <a16:creationId xmlns:a16="http://schemas.microsoft.com/office/drawing/2014/main" id="{34F92FBC-2431-6041-A591-3576EF52DAB0}"/>
              </a:ext>
            </a:extLst>
          </p:cNvPr>
          <p:cNvSpPr/>
          <p:nvPr/>
        </p:nvSpPr>
        <p:spPr>
          <a:xfrm>
            <a:off x="520700" y="4470400"/>
            <a:ext cx="8102600" cy="482600"/>
          </a:xfrm>
          <a:prstGeom prst="roundRect">
            <a:avLst/>
          </a:prstGeom>
          <a:solidFill>
            <a:srgbClr val="DCE3F2"/>
          </a:solidFill>
          <a:ln w="12700" cap="flat" cmpd="sng" algn="ctr">
            <a:solidFill>
              <a:srgbClr val="DC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5" name="Bottom message panel">
            <a:extLst>
              <a:ext uri="{FF2B5EF4-FFF2-40B4-BE49-F238E27FC236}">
                <a16:creationId xmlns:a16="http://schemas.microsoft.com/office/drawing/2014/main" id="{6514B553-53C9-DD48-A4E3-5F270CE73CCF}"/>
              </a:ext>
            </a:extLst>
          </p:cNvPr>
          <p:cNvSpPr/>
          <p:nvPr/>
        </p:nvSpPr>
        <p:spPr>
          <a:xfrm>
            <a:off x="482600" y="4432300"/>
            <a:ext cx="8102600" cy="482600"/>
          </a:xfrm>
          <a:prstGeom prst="roundRect">
            <a:avLst/>
          </a:prstGeom>
          <a:solidFill>
            <a:srgbClr val="EEF1FF"/>
          </a:solidFill>
          <a:ln w="12700" cap="flat" cmpd="sng" algn="ctr">
            <a:solidFill>
              <a:srgbClr val="EEF1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6" name="Bottom accent">
            <a:extLst>
              <a:ext uri="{FF2B5EF4-FFF2-40B4-BE49-F238E27FC236}">
                <a16:creationId xmlns:a16="http://schemas.microsoft.com/office/drawing/2014/main" id="{C7540415-0B2F-7E40-A644-81A0D1A47445}"/>
              </a:ext>
            </a:extLst>
          </p:cNvPr>
          <p:cNvSpPr/>
          <p:nvPr/>
        </p:nvSpPr>
        <p:spPr>
          <a:xfrm>
            <a:off x="482600" y="4432300"/>
            <a:ext cx="63500" cy="482600"/>
          </a:xfrm>
          <a:prstGeom prst="rect">
            <a:avLst/>
          </a:prstGeom>
          <a:solidFill>
            <a:srgbClr val="5535F2"/>
          </a:solidFill>
          <a:ln w="12700" cap="flat" cmpd="sng" algn="ctr">
            <a:solidFill>
              <a:srgbClr val="5535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7" name="Bottom message">
            <a:extLst>
              <a:ext uri="{FF2B5EF4-FFF2-40B4-BE49-F238E27FC236}">
                <a16:creationId xmlns:a16="http://schemas.microsoft.com/office/drawing/2014/main" id="{DA5EF505-F17B-4D40-BA70-22D15B1725A3}"/>
              </a:ext>
            </a:extLst>
          </p:cNvPr>
          <p:cNvSpPr txBox="1"/>
          <p:nvPr/>
        </p:nvSpPr>
        <p:spPr>
          <a:xfrm>
            <a:off x="711200" y="4495800"/>
            <a:ext cx="7658100" cy="3429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14285F"/>
                </a:solidFill>
                <a:latin typeface="Aptos"/>
              </a:rPr>
              <a:t>These are possible actions </a:t>
            </a:r>
            <a:r>
              <a:rPr lang="he-IL" sz="1000" b="1" dirty="0">
                <a:solidFill>
                  <a:srgbClr val="14285F"/>
                </a:solidFill>
                <a:latin typeface="Aptos"/>
              </a:rPr>
              <a:t>-</a:t>
            </a:r>
            <a:r>
              <a:rPr lang="en-US" sz="1000" b="1" dirty="0">
                <a:solidFill>
                  <a:srgbClr val="14285F"/>
                </a:solidFill>
                <a:latin typeface="Aptos"/>
              </a:rPr>
              <a:t> not a fixed sequence. The agent may skip, repeat, replan, or stop based on the evidence it observes.</a:t>
            </a:r>
            <a:endParaRPr lang="he-IL" sz="1000" b="1" dirty="0">
              <a:solidFill>
                <a:srgbClr val="14285F"/>
              </a:solidFill>
              <a:latin typeface="Aptos"/>
            </a:endParaRPr>
          </a:p>
        </p:txBody>
      </p:sp>
      <p:sp>
        <p:nvSpPr>
          <p:cNvPr id="148" name="Detect Gap handle fixed">
            <a:extLst>
              <a:ext uri="{FF2B5EF4-FFF2-40B4-BE49-F238E27FC236}">
                <a16:creationId xmlns:a16="http://schemas.microsoft.com/office/drawing/2014/main" id="{E4FC5A1D-7382-F043-84E0-561321166419}"/>
              </a:ext>
            </a:extLst>
          </p:cNvPr>
          <p:cNvSpPr/>
          <p:nvPr/>
        </p:nvSpPr>
        <p:spPr>
          <a:xfrm rot="2700000">
            <a:off x="768350" y="1644650"/>
            <a:ext cx="114300" cy="25400"/>
          </a:xfrm>
          <a:prstGeom prst="rect">
            <a:avLst/>
          </a:prstGeom>
          <a:solidFill>
            <a:srgbClr val="7656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9" name="Evidence line 1 fixed">
            <a:extLst>
              <a:ext uri="{FF2B5EF4-FFF2-40B4-BE49-F238E27FC236}">
                <a16:creationId xmlns:a16="http://schemas.microsoft.com/office/drawing/2014/main" id="{DA8FBB60-1887-4F49-8A21-DC3B320CDDC4}"/>
              </a:ext>
            </a:extLst>
          </p:cNvPr>
          <p:cNvSpPr/>
          <p:nvPr/>
        </p:nvSpPr>
        <p:spPr>
          <a:xfrm>
            <a:off x="660400" y="2616200"/>
            <a:ext cx="177800" cy="19050"/>
          </a:xfrm>
          <a:prstGeom prst="rect">
            <a:avLst/>
          </a:prstGeom>
          <a:solidFill>
            <a:srgbClr val="2D6CD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0" name="Evidence line 2 fixed">
            <a:extLst>
              <a:ext uri="{FF2B5EF4-FFF2-40B4-BE49-F238E27FC236}">
                <a16:creationId xmlns:a16="http://schemas.microsoft.com/office/drawing/2014/main" id="{45F97E1D-7C56-F544-9850-4D1C42247C44}"/>
              </a:ext>
            </a:extLst>
          </p:cNvPr>
          <p:cNvSpPr/>
          <p:nvPr/>
        </p:nvSpPr>
        <p:spPr>
          <a:xfrm>
            <a:off x="660400" y="2692400"/>
            <a:ext cx="177800" cy="19050"/>
          </a:xfrm>
          <a:prstGeom prst="rect">
            <a:avLst/>
          </a:prstGeom>
          <a:solidFill>
            <a:srgbClr val="2D6CD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1" name="Evidence line 3 fixed">
            <a:extLst>
              <a:ext uri="{FF2B5EF4-FFF2-40B4-BE49-F238E27FC236}">
                <a16:creationId xmlns:a16="http://schemas.microsoft.com/office/drawing/2014/main" id="{D8F4F9B4-95B1-B149-BF83-6DC46DA9AAC5}"/>
              </a:ext>
            </a:extLst>
          </p:cNvPr>
          <p:cNvSpPr/>
          <p:nvPr/>
        </p:nvSpPr>
        <p:spPr>
          <a:xfrm>
            <a:off x="660400" y="2768600"/>
            <a:ext cx="114300" cy="19050"/>
          </a:xfrm>
          <a:prstGeom prst="rect">
            <a:avLst/>
          </a:prstGeom>
          <a:solidFill>
            <a:srgbClr val="2D6CD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2" name="Supervisor check short fixed">
            <a:extLst>
              <a:ext uri="{FF2B5EF4-FFF2-40B4-BE49-F238E27FC236}">
                <a16:creationId xmlns:a16="http://schemas.microsoft.com/office/drawing/2014/main" id="{ED63CBB3-1745-E14C-962F-E1EA05A8930E}"/>
              </a:ext>
            </a:extLst>
          </p:cNvPr>
          <p:cNvSpPr/>
          <p:nvPr/>
        </p:nvSpPr>
        <p:spPr>
          <a:xfrm rot="2520000">
            <a:off x="6775450" y="2679700"/>
            <a:ext cx="69850" cy="20320"/>
          </a:xfrm>
          <a:prstGeom prst="rect">
            <a:avLst/>
          </a:prstGeom>
          <a:solidFill>
            <a:srgbClr val="18A7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3" name="Supervisor check long fixed">
            <a:extLst>
              <a:ext uri="{FF2B5EF4-FFF2-40B4-BE49-F238E27FC236}">
                <a16:creationId xmlns:a16="http://schemas.microsoft.com/office/drawing/2014/main" id="{838A7D86-5E7E-4344-8AA3-BDC6D03410AE}"/>
              </a:ext>
            </a:extLst>
          </p:cNvPr>
          <p:cNvSpPr/>
          <p:nvPr/>
        </p:nvSpPr>
        <p:spPr>
          <a:xfrm rot="-2880000">
            <a:off x="6826250" y="2639060"/>
            <a:ext cx="114300" cy="20320"/>
          </a:xfrm>
          <a:prstGeom prst="rect">
            <a:avLst/>
          </a:prstGeom>
          <a:solidFill>
            <a:srgbClr val="18A7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4" name="Stop X one fixed">
            <a:extLst>
              <a:ext uri="{FF2B5EF4-FFF2-40B4-BE49-F238E27FC236}">
                <a16:creationId xmlns:a16="http://schemas.microsoft.com/office/drawing/2014/main" id="{1E45797C-ADE6-294D-9360-4497A9BC1091}"/>
              </a:ext>
            </a:extLst>
          </p:cNvPr>
          <p:cNvSpPr/>
          <p:nvPr/>
        </p:nvSpPr>
        <p:spPr>
          <a:xfrm rot="2700000">
            <a:off x="6756400" y="3733800"/>
            <a:ext cx="127000" cy="20320"/>
          </a:xfrm>
          <a:prstGeom prst="rect">
            <a:avLst/>
          </a:prstGeom>
          <a:solidFill>
            <a:srgbClr val="E05A6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5" name="Stop X two fixed">
            <a:extLst>
              <a:ext uri="{FF2B5EF4-FFF2-40B4-BE49-F238E27FC236}">
                <a16:creationId xmlns:a16="http://schemas.microsoft.com/office/drawing/2014/main" id="{A5C55C59-DD9B-084C-8591-59BB08C272AB}"/>
              </a:ext>
            </a:extLst>
          </p:cNvPr>
          <p:cNvSpPr/>
          <p:nvPr/>
        </p:nvSpPr>
        <p:spPr>
          <a:xfrm rot="-2700000">
            <a:off x="6756400" y="3733800"/>
            <a:ext cx="127000" cy="20320"/>
          </a:xfrm>
          <a:prstGeom prst="rect">
            <a:avLst/>
          </a:prstGeom>
          <a:solidFill>
            <a:srgbClr val="E05A6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6" name="Robot antenna fixed">
            <a:extLst>
              <a:ext uri="{FF2B5EF4-FFF2-40B4-BE49-F238E27FC236}">
                <a16:creationId xmlns:a16="http://schemas.microsoft.com/office/drawing/2014/main" id="{E7F6E711-4479-6444-A68E-DAEAFE200938}"/>
              </a:ext>
            </a:extLst>
          </p:cNvPr>
          <p:cNvSpPr/>
          <p:nvPr/>
        </p:nvSpPr>
        <p:spPr>
          <a:xfrm>
            <a:off x="3788410" y="2235200"/>
            <a:ext cx="20320" cy="76200"/>
          </a:xfrm>
          <a:prstGeom prst="rect">
            <a:avLst/>
          </a:prstGeom>
          <a:solidFill>
            <a:srgbClr val="172A4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7" name="Robot mouth fixed">
            <a:extLst>
              <a:ext uri="{FF2B5EF4-FFF2-40B4-BE49-F238E27FC236}">
                <a16:creationId xmlns:a16="http://schemas.microsoft.com/office/drawing/2014/main" id="{F90412B2-A827-2C47-ADA5-3B02209AC9C0}"/>
              </a:ext>
            </a:extLst>
          </p:cNvPr>
          <p:cNvSpPr/>
          <p:nvPr/>
        </p:nvSpPr>
        <p:spPr>
          <a:xfrm>
            <a:off x="3708400" y="2514600"/>
            <a:ext cx="177800" cy="190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8" name="BSD_Header">
            <a:extLst>
              <a:ext uri="{FF2B5EF4-FFF2-40B4-BE49-F238E27FC236}">
                <a16:creationId xmlns:a16="http://schemas.microsoft.com/office/drawing/2014/main" id="{2A6FEDFE-4E2B-A54F-A135-E8E68F678B77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  <p:extLst>
      <p:ext uri="{BB962C8B-B14F-4D97-AF65-F5344CB8AC3E}">
        <p14:creationId xmlns:p14="http://schemas.microsoft.com/office/powerpoint/2010/main" val="808825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מלבן 70">
            <a:extLst>
              <a:ext uri="{FF2B5EF4-FFF2-40B4-BE49-F238E27FC236}">
                <a16:creationId xmlns:a16="http://schemas.microsoft.com/office/drawing/2014/main" id="{E31AF60F-F9F7-BC42-AAC1-2FD9D542F486}"/>
              </a:ext>
            </a:extLst>
          </p:cNvPr>
          <p:cNvSpPr/>
          <p:nvPr/>
        </p:nvSpPr>
        <p:spPr>
          <a:xfrm>
            <a:off x="0" y="0"/>
            <a:ext cx="9144000" cy="5325287"/>
          </a:xfrm>
          <a:prstGeom prst="rect">
            <a:avLst/>
          </a:prstGeom>
          <a:solidFill>
            <a:srgbClr val="F7F9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72" name="תיבת טקסט 71">
            <a:extLst>
              <a:ext uri="{FF2B5EF4-FFF2-40B4-BE49-F238E27FC236}">
                <a16:creationId xmlns:a16="http://schemas.microsoft.com/office/drawing/2014/main" id="{2322A0F2-F2B0-0440-9F02-AAB7E548232F}"/>
              </a:ext>
            </a:extLst>
          </p:cNvPr>
          <p:cNvSpPr txBox="1"/>
          <p:nvPr/>
        </p:nvSpPr>
        <p:spPr>
          <a:xfrm>
            <a:off x="508000" y="203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2400" b="1">
                <a:solidFill>
                  <a:srgbClr val="162B67"/>
                </a:solidFill>
                <a:latin typeface="Aptos"/>
              </a:rPr>
              <a:t>ReAct-Based Autonomous Architecture</a:t>
            </a:r>
            <a:endParaRPr lang="he-IL" sz="2400" b="1">
              <a:solidFill>
                <a:srgbClr val="162B67"/>
              </a:solidFill>
              <a:latin typeface="Aptos"/>
            </a:endParaRPr>
          </a:p>
        </p:txBody>
      </p:sp>
      <p:sp>
        <p:nvSpPr>
          <p:cNvPr id="73" name="תיבת טקסט 72">
            <a:extLst>
              <a:ext uri="{FF2B5EF4-FFF2-40B4-BE49-F238E27FC236}">
                <a16:creationId xmlns:a16="http://schemas.microsoft.com/office/drawing/2014/main" id="{633DEE26-C5E1-9B47-A814-3F7E457B2DB2}"/>
              </a:ext>
            </a:extLst>
          </p:cNvPr>
          <p:cNvSpPr txBox="1"/>
          <p:nvPr/>
        </p:nvSpPr>
        <p:spPr>
          <a:xfrm>
            <a:off x="508000" y="635000"/>
            <a:ext cx="7823200" cy="1905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150" b="1" dirty="0">
                <a:solidFill>
                  <a:srgbClr val="172554"/>
                </a:solidFill>
                <a:latin typeface="Aptos"/>
              </a:rPr>
              <a:t>Goal: Keep the Airbnb listing page aligned with real guest experience.</a:t>
            </a:r>
            <a:endParaRPr lang="he-IL" sz="1150" b="1" dirty="0">
              <a:solidFill>
                <a:srgbClr val="172554"/>
              </a:solidFill>
              <a:latin typeface="Aptos"/>
            </a:endParaRPr>
          </a:p>
        </p:txBody>
      </p:sp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480516E5-863C-834C-955F-855D565B0CD7}"/>
              </a:ext>
            </a:extLst>
          </p:cNvPr>
          <p:cNvSpPr txBox="1"/>
          <p:nvPr/>
        </p:nvSpPr>
        <p:spPr>
          <a:xfrm>
            <a:off x="482600" y="914400"/>
            <a:ext cx="8128000" cy="1905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Aptos"/>
              </a:rPr>
              <a:t>Environment: Lisbon Airbnb Listings | Guest Review RAG | Google Places Context | Guest Expectations</a:t>
            </a:r>
            <a:endParaRPr lang="he-IL" sz="105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75" name="מלבן מעוגל 74">
            <a:extLst>
              <a:ext uri="{FF2B5EF4-FFF2-40B4-BE49-F238E27FC236}">
                <a16:creationId xmlns:a16="http://schemas.microsoft.com/office/drawing/2014/main" id="{7072D1FB-EF54-E44E-AAE6-3D48C749D462}"/>
              </a:ext>
            </a:extLst>
          </p:cNvPr>
          <p:cNvSpPr/>
          <p:nvPr/>
        </p:nvSpPr>
        <p:spPr>
          <a:xfrm>
            <a:off x="330200" y="1320800"/>
            <a:ext cx="1968500" cy="8890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6" name="מלבן מעוגל 75">
            <a:extLst>
              <a:ext uri="{FF2B5EF4-FFF2-40B4-BE49-F238E27FC236}">
                <a16:creationId xmlns:a16="http://schemas.microsoft.com/office/drawing/2014/main" id="{C1BE274C-178D-E74C-A8A0-D4923FDAD6AE}"/>
              </a:ext>
            </a:extLst>
          </p:cNvPr>
          <p:cNvSpPr/>
          <p:nvPr/>
        </p:nvSpPr>
        <p:spPr>
          <a:xfrm>
            <a:off x="304800" y="1282700"/>
            <a:ext cx="1968500" cy="8890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7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7" name="מלבן מעוגל 76">
            <a:extLst>
              <a:ext uri="{FF2B5EF4-FFF2-40B4-BE49-F238E27FC236}">
                <a16:creationId xmlns:a16="http://schemas.microsoft.com/office/drawing/2014/main" id="{7AC10606-114A-E747-B329-07FB5D260894}"/>
              </a:ext>
            </a:extLst>
          </p:cNvPr>
          <p:cNvSpPr/>
          <p:nvPr/>
        </p:nvSpPr>
        <p:spPr>
          <a:xfrm>
            <a:off x="304800" y="1282700"/>
            <a:ext cx="1968500" cy="266700"/>
          </a:xfrm>
          <a:prstGeom prst="roundRect">
            <a:avLst/>
          </a:prstGeom>
          <a:solidFill>
            <a:srgbClr val="563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8" name="תיבת טקסט 77">
            <a:extLst>
              <a:ext uri="{FF2B5EF4-FFF2-40B4-BE49-F238E27FC236}">
                <a16:creationId xmlns:a16="http://schemas.microsoft.com/office/drawing/2014/main" id="{98BC57ED-0B29-D34D-A0DA-8B6FA7D707CE}"/>
              </a:ext>
            </a:extLst>
          </p:cNvPr>
          <p:cNvSpPr txBox="1"/>
          <p:nvPr/>
        </p:nvSpPr>
        <p:spPr>
          <a:xfrm>
            <a:off x="457200" y="1333500"/>
            <a:ext cx="1663700" cy="2032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ptos"/>
              </a:rPr>
              <a:t>Listing Tools</a:t>
            </a:r>
            <a:endParaRPr lang="he-IL"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9" name="תיבת טקסט 78">
            <a:extLst>
              <a:ext uri="{FF2B5EF4-FFF2-40B4-BE49-F238E27FC236}">
                <a16:creationId xmlns:a16="http://schemas.microsoft.com/office/drawing/2014/main" id="{239E493B-A64A-704A-9A4F-50461C633A30}"/>
              </a:ext>
            </a:extLst>
          </p:cNvPr>
          <p:cNvSpPr txBox="1"/>
          <p:nvPr/>
        </p:nvSpPr>
        <p:spPr>
          <a:xfrm>
            <a:off x="376238" y="1663700"/>
            <a:ext cx="1612900" cy="4445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Aptos"/>
              </a:rPr>
              <a:t>• get_listing_data
• extract_claims</a:t>
            </a:r>
            <a:endParaRPr lang="he-IL" sz="105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80" name="מלבן מעוגל 79">
            <a:extLst>
              <a:ext uri="{FF2B5EF4-FFF2-40B4-BE49-F238E27FC236}">
                <a16:creationId xmlns:a16="http://schemas.microsoft.com/office/drawing/2014/main" id="{6BE008BF-3625-7548-B5BA-DA961039579B}"/>
              </a:ext>
            </a:extLst>
          </p:cNvPr>
          <p:cNvSpPr/>
          <p:nvPr/>
        </p:nvSpPr>
        <p:spPr>
          <a:xfrm>
            <a:off x="330200" y="2451100"/>
            <a:ext cx="1968500" cy="9906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1" name="מלבן מעוגל 80">
            <a:extLst>
              <a:ext uri="{FF2B5EF4-FFF2-40B4-BE49-F238E27FC236}">
                <a16:creationId xmlns:a16="http://schemas.microsoft.com/office/drawing/2014/main" id="{9DF4A743-F967-694C-B70F-37D4FAD10220}"/>
              </a:ext>
            </a:extLst>
          </p:cNvPr>
          <p:cNvSpPr/>
          <p:nvPr/>
        </p:nvSpPr>
        <p:spPr>
          <a:xfrm>
            <a:off x="304800" y="2413000"/>
            <a:ext cx="1968500" cy="9906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7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2" name="מלבן מעוגל 81">
            <a:extLst>
              <a:ext uri="{FF2B5EF4-FFF2-40B4-BE49-F238E27FC236}">
                <a16:creationId xmlns:a16="http://schemas.microsoft.com/office/drawing/2014/main" id="{D99053A8-A2C0-8946-94B2-201040281E1F}"/>
              </a:ext>
            </a:extLst>
          </p:cNvPr>
          <p:cNvSpPr/>
          <p:nvPr/>
        </p:nvSpPr>
        <p:spPr>
          <a:xfrm>
            <a:off x="304800" y="2413000"/>
            <a:ext cx="1968500" cy="266700"/>
          </a:xfrm>
          <a:prstGeom prst="roundRect">
            <a:avLst/>
          </a:prstGeom>
          <a:solidFill>
            <a:srgbClr val="1976D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3" name="תיבת טקסט 82">
            <a:extLst>
              <a:ext uri="{FF2B5EF4-FFF2-40B4-BE49-F238E27FC236}">
                <a16:creationId xmlns:a16="http://schemas.microsoft.com/office/drawing/2014/main" id="{99630051-8AB7-9B4B-89E8-D8C0DAD2FA26}"/>
              </a:ext>
            </a:extLst>
          </p:cNvPr>
          <p:cNvSpPr txBox="1"/>
          <p:nvPr/>
        </p:nvSpPr>
        <p:spPr>
          <a:xfrm>
            <a:off x="457200" y="2463800"/>
            <a:ext cx="1663700" cy="2032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Google Places</a:t>
            </a:r>
            <a:endParaRPr lang="he-IL"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4" name="תיבת טקסט 83">
            <a:extLst>
              <a:ext uri="{FF2B5EF4-FFF2-40B4-BE49-F238E27FC236}">
                <a16:creationId xmlns:a16="http://schemas.microsoft.com/office/drawing/2014/main" id="{8B65156E-E624-D24B-9404-E420FB218EEA}"/>
              </a:ext>
            </a:extLst>
          </p:cNvPr>
          <p:cNvSpPr txBox="1"/>
          <p:nvPr/>
        </p:nvSpPr>
        <p:spPr>
          <a:xfrm>
            <a:off x="374502" y="2802343"/>
            <a:ext cx="1902194" cy="5461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Aptos"/>
              </a:rPr>
              <a:t>• get_google_places
• compare_location_context</a:t>
            </a:r>
            <a:endParaRPr lang="he-IL" sz="105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85" name="מלבן מעוגל 84">
            <a:extLst>
              <a:ext uri="{FF2B5EF4-FFF2-40B4-BE49-F238E27FC236}">
                <a16:creationId xmlns:a16="http://schemas.microsoft.com/office/drawing/2014/main" id="{D8673AA6-6398-FC42-8FEA-51B90550B02B}"/>
              </a:ext>
            </a:extLst>
          </p:cNvPr>
          <p:cNvSpPr/>
          <p:nvPr/>
        </p:nvSpPr>
        <p:spPr>
          <a:xfrm>
            <a:off x="6896100" y="1320800"/>
            <a:ext cx="1968500" cy="8890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6" name="מלבן מעוגל 85">
            <a:extLst>
              <a:ext uri="{FF2B5EF4-FFF2-40B4-BE49-F238E27FC236}">
                <a16:creationId xmlns:a16="http://schemas.microsoft.com/office/drawing/2014/main" id="{D6A35D64-87B5-974F-945E-BFAB10D120AB}"/>
              </a:ext>
            </a:extLst>
          </p:cNvPr>
          <p:cNvSpPr/>
          <p:nvPr/>
        </p:nvSpPr>
        <p:spPr>
          <a:xfrm>
            <a:off x="6870700" y="1282700"/>
            <a:ext cx="1968500" cy="8890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7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7" name="מלבן מעוגל 86">
            <a:extLst>
              <a:ext uri="{FF2B5EF4-FFF2-40B4-BE49-F238E27FC236}">
                <a16:creationId xmlns:a16="http://schemas.microsoft.com/office/drawing/2014/main" id="{DA0AAE24-65E4-C543-BCC5-16BB167277FF}"/>
              </a:ext>
            </a:extLst>
          </p:cNvPr>
          <p:cNvSpPr/>
          <p:nvPr/>
        </p:nvSpPr>
        <p:spPr>
          <a:xfrm>
            <a:off x="6870700" y="1282700"/>
            <a:ext cx="1968500" cy="266700"/>
          </a:xfrm>
          <a:prstGeom prst="roundRect">
            <a:avLst/>
          </a:prstGeom>
          <a:solidFill>
            <a:srgbClr val="18A5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8" name="תיבת טקסט 87">
            <a:extLst>
              <a:ext uri="{FF2B5EF4-FFF2-40B4-BE49-F238E27FC236}">
                <a16:creationId xmlns:a16="http://schemas.microsoft.com/office/drawing/2014/main" id="{0764174F-D122-AC41-A2BC-B608219A2FC5}"/>
              </a:ext>
            </a:extLst>
          </p:cNvPr>
          <p:cNvSpPr txBox="1"/>
          <p:nvPr/>
        </p:nvSpPr>
        <p:spPr>
          <a:xfrm>
            <a:off x="7023100" y="1333500"/>
            <a:ext cx="1663700" cy="2032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Review RAG</a:t>
            </a:r>
            <a:endParaRPr lang="he-IL"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9" name="תיבת טקסט 88">
            <a:extLst>
              <a:ext uri="{FF2B5EF4-FFF2-40B4-BE49-F238E27FC236}">
                <a16:creationId xmlns:a16="http://schemas.microsoft.com/office/drawing/2014/main" id="{467F658F-CDCB-D349-872F-3D57A653273B}"/>
              </a:ext>
            </a:extLst>
          </p:cNvPr>
          <p:cNvSpPr txBox="1"/>
          <p:nvPr/>
        </p:nvSpPr>
        <p:spPr>
          <a:xfrm>
            <a:off x="7022214" y="1631950"/>
            <a:ext cx="1612900" cy="4445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Aptos"/>
              </a:rPr>
              <a:t>• search_reviews
• detect_guest_signals</a:t>
            </a:r>
            <a:endParaRPr lang="he-IL" sz="105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0" name="מלבן מעוגל 89">
            <a:extLst>
              <a:ext uri="{FF2B5EF4-FFF2-40B4-BE49-F238E27FC236}">
                <a16:creationId xmlns:a16="http://schemas.microsoft.com/office/drawing/2014/main" id="{2391A6A5-0F3D-F048-B783-0FD42D794BF3}"/>
              </a:ext>
            </a:extLst>
          </p:cNvPr>
          <p:cNvSpPr/>
          <p:nvPr/>
        </p:nvSpPr>
        <p:spPr>
          <a:xfrm>
            <a:off x="6896100" y="2451100"/>
            <a:ext cx="1968500" cy="12192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1" name="מלבן מעוגל 90">
            <a:extLst>
              <a:ext uri="{FF2B5EF4-FFF2-40B4-BE49-F238E27FC236}">
                <a16:creationId xmlns:a16="http://schemas.microsoft.com/office/drawing/2014/main" id="{C841CB87-2D4E-9642-A2DA-15F163931ACC}"/>
              </a:ext>
            </a:extLst>
          </p:cNvPr>
          <p:cNvSpPr/>
          <p:nvPr/>
        </p:nvSpPr>
        <p:spPr>
          <a:xfrm>
            <a:off x="6870700" y="2413000"/>
            <a:ext cx="1968500" cy="12192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7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92" name="מלבן מעוגל 91">
            <a:extLst>
              <a:ext uri="{FF2B5EF4-FFF2-40B4-BE49-F238E27FC236}">
                <a16:creationId xmlns:a16="http://schemas.microsoft.com/office/drawing/2014/main" id="{F155FAD5-AA6D-2E47-BCDB-7D76E6F0CD6F}"/>
              </a:ext>
            </a:extLst>
          </p:cNvPr>
          <p:cNvSpPr/>
          <p:nvPr/>
        </p:nvSpPr>
        <p:spPr>
          <a:xfrm>
            <a:off x="6870700" y="2413000"/>
            <a:ext cx="1968500" cy="266700"/>
          </a:xfrm>
          <a:prstGeom prst="roundRect">
            <a:avLst/>
          </a:prstGeom>
          <a:solidFill>
            <a:srgbClr val="563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3" name="תיבת טקסט 92">
            <a:extLst>
              <a:ext uri="{FF2B5EF4-FFF2-40B4-BE49-F238E27FC236}">
                <a16:creationId xmlns:a16="http://schemas.microsoft.com/office/drawing/2014/main" id="{64232088-D7FF-F54C-AE81-8F9845CFA103}"/>
              </a:ext>
            </a:extLst>
          </p:cNvPr>
          <p:cNvSpPr txBox="1"/>
          <p:nvPr/>
        </p:nvSpPr>
        <p:spPr>
          <a:xfrm>
            <a:off x="7023100" y="2463800"/>
            <a:ext cx="1663700" cy="2032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ptos"/>
              </a:rPr>
              <a:t>Edit &amp; Decision Tools</a:t>
            </a:r>
            <a:endParaRPr lang="he-IL"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4" name="תיבת טקסט 93">
            <a:extLst>
              <a:ext uri="{FF2B5EF4-FFF2-40B4-BE49-F238E27FC236}">
                <a16:creationId xmlns:a16="http://schemas.microsoft.com/office/drawing/2014/main" id="{E3AB534A-0A2F-774A-A61E-D30C4B73DFD3}"/>
              </a:ext>
            </a:extLst>
          </p:cNvPr>
          <p:cNvSpPr txBox="1"/>
          <p:nvPr/>
        </p:nvSpPr>
        <p:spPr>
          <a:xfrm>
            <a:off x="7035062" y="2696830"/>
            <a:ext cx="1828800" cy="840563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Aptos"/>
              </a:rPr>
              <a:t>• draft_listing_edit
• prepare_edit_proposal
• request_more_evidence
• stop_without_action
• replan</a:t>
            </a:r>
            <a:endParaRPr lang="he-IL" sz="105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5" name="מלבן מעוגל 94">
            <a:extLst>
              <a:ext uri="{FF2B5EF4-FFF2-40B4-BE49-F238E27FC236}">
                <a16:creationId xmlns:a16="http://schemas.microsoft.com/office/drawing/2014/main" id="{5DD66ABB-D9E1-7C4F-88E4-578C55436DA2}"/>
              </a:ext>
            </a:extLst>
          </p:cNvPr>
          <p:cNvSpPr/>
          <p:nvPr/>
        </p:nvSpPr>
        <p:spPr>
          <a:xfrm>
            <a:off x="2540000" y="1206500"/>
            <a:ext cx="4064000" cy="23622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6" name="מלבן מעוגל 95">
            <a:extLst>
              <a:ext uri="{FF2B5EF4-FFF2-40B4-BE49-F238E27FC236}">
                <a16:creationId xmlns:a16="http://schemas.microsoft.com/office/drawing/2014/main" id="{B60A99B0-C882-5347-8C56-8B7B73372AB2}"/>
              </a:ext>
            </a:extLst>
          </p:cNvPr>
          <p:cNvSpPr/>
          <p:nvPr/>
        </p:nvSpPr>
        <p:spPr>
          <a:xfrm>
            <a:off x="2514600" y="1168400"/>
            <a:ext cx="4064000" cy="2362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A998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97" name="מלבן מעוגל 96">
            <a:extLst>
              <a:ext uri="{FF2B5EF4-FFF2-40B4-BE49-F238E27FC236}">
                <a16:creationId xmlns:a16="http://schemas.microsoft.com/office/drawing/2014/main" id="{7D54DA76-1A6A-1446-8EB3-0BBA163DAAD9}"/>
              </a:ext>
            </a:extLst>
          </p:cNvPr>
          <p:cNvSpPr/>
          <p:nvPr/>
        </p:nvSpPr>
        <p:spPr>
          <a:xfrm>
            <a:off x="2514600" y="1168400"/>
            <a:ext cx="4064000" cy="342900"/>
          </a:xfrm>
          <a:prstGeom prst="roundRect">
            <a:avLst/>
          </a:prstGeom>
          <a:solidFill>
            <a:srgbClr val="162B6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98" name="תיבת טקסט 97">
            <a:extLst>
              <a:ext uri="{FF2B5EF4-FFF2-40B4-BE49-F238E27FC236}">
                <a16:creationId xmlns:a16="http://schemas.microsoft.com/office/drawing/2014/main" id="{3C5F21D0-DC96-AE45-B468-406D0E639CA5}"/>
              </a:ext>
            </a:extLst>
          </p:cNvPr>
          <p:cNvSpPr txBox="1"/>
          <p:nvPr/>
        </p:nvSpPr>
        <p:spPr>
          <a:xfrm>
            <a:off x="2692400" y="1244600"/>
            <a:ext cx="3708400" cy="2286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Autonomous Listing Editor Agent</a:t>
            </a:r>
            <a:endParaRPr lang="he-IL"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9" name="תיבת טקסט 98">
            <a:extLst>
              <a:ext uri="{FF2B5EF4-FFF2-40B4-BE49-F238E27FC236}">
                <a16:creationId xmlns:a16="http://schemas.microsoft.com/office/drawing/2014/main" id="{85D618DF-247C-7741-A5CC-60E6AE48933F}"/>
              </a:ext>
            </a:extLst>
          </p:cNvPr>
          <p:cNvSpPr txBox="1"/>
          <p:nvPr/>
        </p:nvSpPr>
        <p:spPr>
          <a:xfrm>
            <a:off x="2819399" y="1568450"/>
            <a:ext cx="911003" cy="23495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00" b="1" dirty="0">
                <a:solidFill>
                  <a:srgbClr val="64748B"/>
                </a:solidFill>
                <a:latin typeface="Aptos"/>
              </a:rPr>
              <a:t>ReAct loop</a:t>
            </a:r>
            <a:endParaRPr lang="he-IL" sz="1000" b="1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00" name="מלבן מעוגל 99">
            <a:extLst>
              <a:ext uri="{FF2B5EF4-FFF2-40B4-BE49-F238E27FC236}">
                <a16:creationId xmlns:a16="http://schemas.microsoft.com/office/drawing/2014/main" id="{EEF7B58A-4E2F-9D44-86BE-E98B3B49D110}"/>
              </a:ext>
            </a:extLst>
          </p:cNvPr>
          <p:cNvSpPr/>
          <p:nvPr/>
        </p:nvSpPr>
        <p:spPr>
          <a:xfrm>
            <a:off x="2838450" y="1866900"/>
            <a:ext cx="965200" cy="5334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1" name="מלבן מעוגל 100">
            <a:extLst>
              <a:ext uri="{FF2B5EF4-FFF2-40B4-BE49-F238E27FC236}">
                <a16:creationId xmlns:a16="http://schemas.microsoft.com/office/drawing/2014/main" id="{102D0002-415C-D444-BF39-8E8A443C0BB5}"/>
              </a:ext>
            </a:extLst>
          </p:cNvPr>
          <p:cNvSpPr/>
          <p:nvPr/>
        </p:nvSpPr>
        <p:spPr>
          <a:xfrm>
            <a:off x="2819400" y="1841500"/>
            <a:ext cx="965200" cy="533400"/>
          </a:xfrm>
          <a:prstGeom prst="roundRect">
            <a:avLst/>
          </a:prstGeom>
          <a:solidFill>
            <a:srgbClr val="F0ECFF"/>
          </a:solidFill>
          <a:ln w="13970" cap="flat" cmpd="sng" algn="ctr">
            <a:solidFill>
              <a:srgbClr val="5635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2" name="תיבת טקסט 101">
            <a:extLst>
              <a:ext uri="{FF2B5EF4-FFF2-40B4-BE49-F238E27FC236}">
                <a16:creationId xmlns:a16="http://schemas.microsoft.com/office/drawing/2014/main" id="{D8895FEB-EB5C-424A-874F-B73E504DFC37}"/>
              </a:ext>
            </a:extLst>
          </p:cNvPr>
          <p:cNvSpPr txBox="1"/>
          <p:nvPr/>
        </p:nvSpPr>
        <p:spPr>
          <a:xfrm>
            <a:off x="2924175" y="1955800"/>
            <a:ext cx="838200" cy="3810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1050" b="1" dirty="0">
                <a:solidFill>
                  <a:srgbClr val="5635F5"/>
                </a:solidFill>
                <a:latin typeface="Aptos"/>
              </a:rPr>
              <a:t>Reason</a:t>
            </a:r>
            <a:endParaRPr lang="he-IL" sz="1050" b="1" dirty="0">
              <a:solidFill>
                <a:srgbClr val="5635F5"/>
              </a:solidFill>
              <a:latin typeface="Aptos"/>
            </a:endParaRPr>
          </a:p>
        </p:txBody>
      </p:sp>
      <p:sp>
        <p:nvSpPr>
          <p:cNvPr id="103" name="מלבן מעוגל 102">
            <a:extLst>
              <a:ext uri="{FF2B5EF4-FFF2-40B4-BE49-F238E27FC236}">
                <a16:creationId xmlns:a16="http://schemas.microsoft.com/office/drawing/2014/main" id="{C6F42392-54FC-134B-84A4-DDA05E14B8E4}"/>
              </a:ext>
            </a:extLst>
          </p:cNvPr>
          <p:cNvSpPr/>
          <p:nvPr/>
        </p:nvSpPr>
        <p:spPr>
          <a:xfrm>
            <a:off x="4095750" y="1866900"/>
            <a:ext cx="965200" cy="5334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4" name="מלבן מעוגל 103">
            <a:extLst>
              <a:ext uri="{FF2B5EF4-FFF2-40B4-BE49-F238E27FC236}">
                <a16:creationId xmlns:a16="http://schemas.microsoft.com/office/drawing/2014/main" id="{88E20CB9-53E9-8942-945B-1989B3D7301E}"/>
              </a:ext>
            </a:extLst>
          </p:cNvPr>
          <p:cNvSpPr/>
          <p:nvPr/>
        </p:nvSpPr>
        <p:spPr>
          <a:xfrm>
            <a:off x="4076700" y="1841500"/>
            <a:ext cx="965200" cy="533400"/>
          </a:xfrm>
          <a:prstGeom prst="roundRect">
            <a:avLst/>
          </a:prstGeom>
          <a:solidFill>
            <a:srgbClr val="EAF4FF"/>
          </a:solidFill>
          <a:ln w="13970" cap="flat" cmpd="sng" algn="ctr">
            <a:solidFill>
              <a:srgbClr val="19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5" name="תיבת טקסט 104">
            <a:extLst>
              <a:ext uri="{FF2B5EF4-FFF2-40B4-BE49-F238E27FC236}">
                <a16:creationId xmlns:a16="http://schemas.microsoft.com/office/drawing/2014/main" id="{1F2DC71F-EA1C-904A-A8FF-FBA4061CC405}"/>
              </a:ext>
            </a:extLst>
          </p:cNvPr>
          <p:cNvSpPr txBox="1"/>
          <p:nvPr/>
        </p:nvSpPr>
        <p:spPr>
          <a:xfrm>
            <a:off x="4159250" y="1934387"/>
            <a:ext cx="838200" cy="3810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b="1" dirty="0">
                <a:solidFill>
                  <a:srgbClr val="1976D2"/>
                </a:solidFill>
                <a:latin typeface="Aptos"/>
              </a:rPr>
              <a:t>Choose Tool</a:t>
            </a:r>
            <a:endParaRPr lang="he-IL" sz="1050" b="1" dirty="0">
              <a:solidFill>
                <a:srgbClr val="1976D2"/>
              </a:solidFill>
              <a:latin typeface="Aptos"/>
            </a:endParaRPr>
          </a:p>
        </p:txBody>
      </p:sp>
      <p:sp>
        <p:nvSpPr>
          <p:cNvPr id="106" name="מלבן מעוגל 105">
            <a:extLst>
              <a:ext uri="{FF2B5EF4-FFF2-40B4-BE49-F238E27FC236}">
                <a16:creationId xmlns:a16="http://schemas.microsoft.com/office/drawing/2014/main" id="{3D747608-E578-2F4C-B621-D48B01F36597}"/>
              </a:ext>
            </a:extLst>
          </p:cNvPr>
          <p:cNvSpPr/>
          <p:nvPr/>
        </p:nvSpPr>
        <p:spPr>
          <a:xfrm>
            <a:off x="5353050" y="1866900"/>
            <a:ext cx="965200" cy="5334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7" name="מלבן מעוגל 106">
            <a:extLst>
              <a:ext uri="{FF2B5EF4-FFF2-40B4-BE49-F238E27FC236}">
                <a16:creationId xmlns:a16="http://schemas.microsoft.com/office/drawing/2014/main" id="{67C4DC4C-4D55-A24D-9C23-86508F9F9E70}"/>
              </a:ext>
            </a:extLst>
          </p:cNvPr>
          <p:cNvSpPr/>
          <p:nvPr/>
        </p:nvSpPr>
        <p:spPr>
          <a:xfrm>
            <a:off x="5334000" y="1841500"/>
            <a:ext cx="965200" cy="533400"/>
          </a:xfrm>
          <a:prstGeom prst="roundRect">
            <a:avLst/>
          </a:prstGeom>
          <a:solidFill>
            <a:srgbClr val="EAF4FF"/>
          </a:solidFill>
          <a:ln w="13970" cap="flat" cmpd="sng" algn="ctr">
            <a:solidFill>
              <a:srgbClr val="1976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8" name="תיבת טקסט 107">
            <a:extLst>
              <a:ext uri="{FF2B5EF4-FFF2-40B4-BE49-F238E27FC236}">
                <a16:creationId xmlns:a16="http://schemas.microsoft.com/office/drawing/2014/main" id="{45590E50-2948-FA41-8C7D-E47EB1797C55}"/>
              </a:ext>
            </a:extLst>
          </p:cNvPr>
          <p:cNvSpPr txBox="1"/>
          <p:nvPr/>
        </p:nvSpPr>
        <p:spPr>
          <a:xfrm>
            <a:off x="5416550" y="1962150"/>
            <a:ext cx="838200" cy="3810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1050" b="1" dirty="0">
                <a:solidFill>
                  <a:srgbClr val="1976D2"/>
                </a:solidFill>
                <a:latin typeface="Aptos"/>
              </a:rPr>
              <a:t>Observe</a:t>
            </a:r>
            <a:endParaRPr lang="he-IL" sz="1050" b="1" dirty="0">
              <a:solidFill>
                <a:srgbClr val="1976D2"/>
              </a:solidFill>
              <a:latin typeface="Aptos"/>
            </a:endParaRPr>
          </a:p>
        </p:txBody>
      </p:sp>
      <p:sp>
        <p:nvSpPr>
          <p:cNvPr id="109" name="מלבן מעוגל 108">
            <a:extLst>
              <a:ext uri="{FF2B5EF4-FFF2-40B4-BE49-F238E27FC236}">
                <a16:creationId xmlns:a16="http://schemas.microsoft.com/office/drawing/2014/main" id="{30983CE6-A0BE-7841-A0B8-4D6FA950BE59}"/>
              </a:ext>
            </a:extLst>
          </p:cNvPr>
          <p:cNvSpPr/>
          <p:nvPr/>
        </p:nvSpPr>
        <p:spPr>
          <a:xfrm>
            <a:off x="5353050" y="2781300"/>
            <a:ext cx="965200" cy="5334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0" name="מלבן מעוגל 109">
            <a:extLst>
              <a:ext uri="{FF2B5EF4-FFF2-40B4-BE49-F238E27FC236}">
                <a16:creationId xmlns:a16="http://schemas.microsoft.com/office/drawing/2014/main" id="{31996AAF-87F8-134A-8C6B-26A60E26F9EE}"/>
              </a:ext>
            </a:extLst>
          </p:cNvPr>
          <p:cNvSpPr/>
          <p:nvPr/>
        </p:nvSpPr>
        <p:spPr>
          <a:xfrm>
            <a:off x="5334000" y="2755900"/>
            <a:ext cx="965200" cy="533400"/>
          </a:xfrm>
          <a:prstGeom prst="roundRect">
            <a:avLst/>
          </a:prstGeom>
          <a:solidFill>
            <a:srgbClr val="F0ECFF"/>
          </a:solidFill>
          <a:ln w="13970" cap="flat" cmpd="sng" algn="ctr">
            <a:solidFill>
              <a:srgbClr val="5635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1" name="תיבת טקסט 110">
            <a:extLst>
              <a:ext uri="{FF2B5EF4-FFF2-40B4-BE49-F238E27FC236}">
                <a16:creationId xmlns:a16="http://schemas.microsoft.com/office/drawing/2014/main" id="{EF02F83C-DA2C-D64D-804E-38857E96893C}"/>
              </a:ext>
            </a:extLst>
          </p:cNvPr>
          <p:cNvSpPr txBox="1"/>
          <p:nvPr/>
        </p:nvSpPr>
        <p:spPr>
          <a:xfrm>
            <a:off x="5439144" y="2844800"/>
            <a:ext cx="838200" cy="3810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b="1" dirty="0">
                <a:solidFill>
                  <a:srgbClr val="5635F5"/>
                </a:solidFill>
                <a:latin typeface="Aptos"/>
              </a:rPr>
              <a:t>Update State</a:t>
            </a:r>
            <a:endParaRPr lang="he-IL" sz="1050" b="1" dirty="0">
              <a:solidFill>
                <a:srgbClr val="5635F5"/>
              </a:solidFill>
              <a:latin typeface="Aptos"/>
            </a:endParaRPr>
          </a:p>
        </p:txBody>
      </p:sp>
      <p:sp>
        <p:nvSpPr>
          <p:cNvPr id="112" name="מלבן מעוגל 111">
            <a:extLst>
              <a:ext uri="{FF2B5EF4-FFF2-40B4-BE49-F238E27FC236}">
                <a16:creationId xmlns:a16="http://schemas.microsoft.com/office/drawing/2014/main" id="{E18F2EE8-6D50-B84B-A8A6-3DB3A161D664}"/>
              </a:ext>
            </a:extLst>
          </p:cNvPr>
          <p:cNvSpPr/>
          <p:nvPr/>
        </p:nvSpPr>
        <p:spPr>
          <a:xfrm>
            <a:off x="3194050" y="2781300"/>
            <a:ext cx="1422400" cy="5334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3" name="מלבן מעוגל 112">
            <a:extLst>
              <a:ext uri="{FF2B5EF4-FFF2-40B4-BE49-F238E27FC236}">
                <a16:creationId xmlns:a16="http://schemas.microsoft.com/office/drawing/2014/main" id="{8EFDD4EC-75FD-B44D-B9DB-F8AECE6A7705}"/>
              </a:ext>
            </a:extLst>
          </p:cNvPr>
          <p:cNvSpPr/>
          <p:nvPr/>
        </p:nvSpPr>
        <p:spPr>
          <a:xfrm>
            <a:off x="3175000" y="2755900"/>
            <a:ext cx="1422400" cy="533400"/>
          </a:xfrm>
          <a:prstGeom prst="roundRect">
            <a:avLst/>
          </a:prstGeom>
          <a:solidFill>
            <a:srgbClr val="EAF8F1"/>
          </a:solidFill>
          <a:ln w="13970" cap="flat" cmpd="sng" algn="ctr">
            <a:solidFill>
              <a:srgbClr val="18A5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4" name="תיבת טקסט 113">
            <a:extLst>
              <a:ext uri="{FF2B5EF4-FFF2-40B4-BE49-F238E27FC236}">
                <a16:creationId xmlns:a16="http://schemas.microsoft.com/office/drawing/2014/main" id="{A3EF7C14-147F-1F4D-BE70-EA6A1FA14DC9}"/>
              </a:ext>
            </a:extLst>
          </p:cNvPr>
          <p:cNvSpPr txBox="1"/>
          <p:nvPr/>
        </p:nvSpPr>
        <p:spPr>
          <a:xfrm>
            <a:off x="3333898" y="2889250"/>
            <a:ext cx="1295400" cy="3810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pPr algn="l"/>
            <a:r>
              <a:rPr lang="en-US" sz="1050" b="1" dirty="0">
                <a:solidFill>
                  <a:srgbClr val="18A566"/>
                </a:solidFill>
                <a:latin typeface="Aptos"/>
              </a:rPr>
              <a:t>Replan / Stop</a:t>
            </a:r>
            <a:endParaRPr lang="he-IL" sz="1050" b="1" dirty="0">
              <a:solidFill>
                <a:srgbClr val="18A566"/>
              </a:solidFill>
              <a:latin typeface="Aptos"/>
            </a:endParaRPr>
          </a:p>
        </p:txBody>
      </p:sp>
      <p:sp>
        <p:nvSpPr>
          <p:cNvPr id="115" name="חץ ימינה 114">
            <a:extLst>
              <a:ext uri="{FF2B5EF4-FFF2-40B4-BE49-F238E27FC236}">
                <a16:creationId xmlns:a16="http://schemas.microsoft.com/office/drawing/2014/main" id="{C7E68EEB-BFC3-514F-8513-2323F5B31592}"/>
              </a:ext>
            </a:extLst>
          </p:cNvPr>
          <p:cNvSpPr/>
          <p:nvPr/>
        </p:nvSpPr>
        <p:spPr>
          <a:xfrm>
            <a:off x="3797300" y="2006600"/>
            <a:ext cx="254000" cy="177800"/>
          </a:xfrm>
          <a:prstGeom prst="rightArrow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6" name="חץ ימינה 115">
            <a:extLst>
              <a:ext uri="{FF2B5EF4-FFF2-40B4-BE49-F238E27FC236}">
                <a16:creationId xmlns:a16="http://schemas.microsoft.com/office/drawing/2014/main" id="{A1EDFCAA-7DD0-B841-A622-E2A765943B4B}"/>
              </a:ext>
            </a:extLst>
          </p:cNvPr>
          <p:cNvSpPr/>
          <p:nvPr/>
        </p:nvSpPr>
        <p:spPr>
          <a:xfrm>
            <a:off x="5054600" y="2006600"/>
            <a:ext cx="254000" cy="177800"/>
          </a:xfrm>
          <a:prstGeom prst="rightArrow">
            <a:avLst/>
          </a:prstGeom>
          <a:solidFill>
            <a:srgbClr val="1976D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7" name="חץ למטה 116">
            <a:extLst>
              <a:ext uri="{FF2B5EF4-FFF2-40B4-BE49-F238E27FC236}">
                <a16:creationId xmlns:a16="http://schemas.microsoft.com/office/drawing/2014/main" id="{D4E784D4-F986-CC40-AC4E-5586DE3F7492}"/>
              </a:ext>
            </a:extLst>
          </p:cNvPr>
          <p:cNvSpPr/>
          <p:nvPr/>
        </p:nvSpPr>
        <p:spPr>
          <a:xfrm>
            <a:off x="5702300" y="2413000"/>
            <a:ext cx="177800" cy="304800"/>
          </a:xfrm>
          <a:prstGeom prst="downArrow">
            <a:avLst/>
          </a:prstGeom>
          <a:solidFill>
            <a:srgbClr val="1976D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8" name="חץ שמאלה 117">
            <a:extLst>
              <a:ext uri="{FF2B5EF4-FFF2-40B4-BE49-F238E27FC236}">
                <a16:creationId xmlns:a16="http://schemas.microsoft.com/office/drawing/2014/main" id="{F858B670-A2DE-F24F-818B-91F8F3EAD3FE}"/>
              </a:ext>
            </a:extLst>
          </p:cNvPr>
          <p:cNvSpPr/>
          <p:nvPr/>
        </p:nvSpPr>
        <p:spPr>
          <a:xfrm>
            <a:off x="4635500" y="2933700"/>
            <a:ext cx="660400" cy="177800"/>
          </a:xfrm>
          <a:prstGeom prst="leftArrow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9" name="חץ למעלה 118">
            <a:extLst>
              <a:ext uri="{FF2B5EF4-FFF2-40B4-BE49-F238E27FC236}">
                <a16:creationId xmlns:a16="http://schemas.microsoft.com/office/drawing/2014/main" id="{EA0EAD96-F664-7E4A-901A-8C8B2ED6EC3F}"/>
              </a:ext>
            </a:extLst>
          </p:cNvPr>
          <p:cNvSpPr/>
          <p:nvPr/>
        </p:nvSpPr>
        <p:spPr>
          <a:xfrm>
            <a:off x="3200400" y="2400300"/>
            <a:ext cx="177800" cy="317500"/>
          </a:xfrm>
          <a:prstGeom prst="upArrow">
            <a:avLst/>
          </a:prstGeom>
          <a:solidFill>
            <a:srgbClr val="563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1" name="חץ שמאלה-ימינה 120">
            <a:extLst>
              <a:ext uri="{FF2B5EF4-FFF2-40B4-BE49-F238E27FC236}">
                <a16:creationId xmlns:a16="http://schemas.microsoft.com/office/drawing/2014/main" id="{F24E9EDA-7408-3C45-8FA4-F7B9D8795E72}"/>
              </a:ext>
            </a:extLst>
          </p:cNvPr>
          <p:cNvSpPr/>
          <p:nvPr/>
        </p:nvSpPr>
        <p:spPr>
          <a:xfrm>
            <a:off x="2273300" y="1625600"/>
            <a:ext cx="241300" cy="152400"/>
          </a:xfrm>
          <a:prstGeom prst="leftRightArrow">
            <a:avLst/>
          </a:prstGeom>
          <a:solidFill>
            <a:srgbClr val="563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2" name="חץ שמאלה-ימינה 121">
            <a:extLst>
              <a:ext uri="{FF2B5EF4-FFF2-40B4-BE49-F238E27FC236}">
                <a16:creationId xmlns:a16="http://schemas.microsoft.com/office/drawing/2014/main" id="{D9B21971-A248-094C-B5DB-AA57A9A78E4E}"/>
              </a:ext>
            </a:extLst>
          </p:cNvPr>
          <p:cNvSpPr/>
          <p:nvPr/>
        </p:nvSpPr>
        <p:spPr>
          <a:xfrm>
            <a:off x="2273300" y="2794000"/>
            <a:ext cx="241300" cy="152400"/>
          </a:xfrm>
          <a:prstGeom prst="leftRightArrow">
            <a:avLst/>
          </a:prstGeom>
          <a:solidFill>
            <a:srgbClr val="1976D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3" name="חץ שמאלה-ימינה 122">
            <a:extLst>
              <a:ext uri="{FF2B5EF4-FFF2-40B4-BE49-F238E27FC236}">
                <a16:creationId xmlns:a16="http://schemas.microsoft.com/office/drawing/2014/main" id="{8350E0A7-6119-C645-8ABC-93F3649687BA}"/>
              </a:ext>
            </a:extLst>
          </p:cNvPr>
          <p:cNvSpPr/>
          <p:nvPr/>
        </p:nvSpPr>
        <p:spPr>
          <a:xfrm>
            <a:off x="6578600" y="1625600"/>
            <a:ext cx="292100" cy="152400"/>
          </a:xfrm>
          <a:prstGeom prst="leftRightArrow">
            <a:avLst/>
          </a:prstGeom>
          <a:solidFill>
            <a:srgbClr val="18A5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4" name="חץ שמאלה-ימינה 123">
            <a:extLst>
              <a:ext uri="{FF2B5EF4-FFF2-40B4-BE49-F238E27FC236}">
                <a16:creationId xmlns:a16="http://schemas.microsoft.com/office/drawing/2014/main" id="{DDE50EBE-658C-6C45-B052-4F108FE582BB}"/>
              </a:ext>
            </a:extLst>
          </p:cNvPr>
          <p:cNvSpPr/>
          <p:nvPr/>
        </p:nvSpPr>
        <p:spPr>
          <a:xfrm>
            <a:off x="6578600" y="2844800"/>
            <a:ext cx="292100" cy="152400"/>
          </a:xfrm>
          <a:prstGeom prst="leftRightArrow">
            <a:avLst/>
          </a:prstGeom>
          <a:solidFill>
            <a:srgbClr val="563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5" name="תיבת טקסט 124">
            <a:extLst>
              <a:ext uri="{FF2B5EF4-FFF2-40B4-BE49-F238E27FC236}">
                <a16:creationId xmlns:a16="http://schemas.microsoft.com/office/drawing/2014/main" id="{C78238D6-6AA9-0642-A0BD-6EB13CD2190E}"/>
              </a:ext>
            </a:extLst>
          </p:cNvPr>
          <p:cNvSpPr txBox="1"/>
          <p:nvPr/>
        </p:nvSpPr>
        <p:spPr>
          <a:xfrm>
            <a:off x="3415414" y="3644900"/>
            <a:ext cx="2082800" cy="1778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00" b="1" dirty="0">
                <a:solidFill>
                  <a:srgbClr val="64748B"/>
                </a:solidFill>
                <a:latin typeface="Aptos"/>
              </a:rPr>
              <a:t>Proposed Action</a:t>
            </a:r>
            <a:endParaRPr lang="he-IL" sz="1000" b="1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6" name="חץ למטה 125">
            <a:extLst>
              <a:ext uri="{FF2B5EF4-FFF2-40B4-BE49-F238E27FC236}">
                <a16:creationId xmlns:a16="http://schemas.microsoft.com/office/drawing/2014/main" id="{149FB111-B239-754A-862B-5E0E22D4C059}"/>
              </a:ext>
            </a:extLst>
          </p:cNvPr>
          <p:cNvSpPr/>
          <p:nvPr/>
        </p:nvSpPr>
        <p:spPr>
          <a:xfrm>
            <a:off x="4495800" y="3702050"/>
            <a:ext cx="152400" cy="215900"/>
          </a:xfrm>
          <a:prstGeom prst="downArrow">
            <a:avLst/>
          </a:prstGeom>
          <a:solidFill>
            <a:srgbClr val="563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27" name="מלבן מעוגל 126">
            <a:extLst>
              <a:ext uri="{FF2B5EF4-FFF2-40B4-BE49-F238E27FC236}">
                <a16:creationId xmlns:a16="http://schemas.microsoft.com/office/drawing/2014/main" id="{F595B9A6-440C-A348-9B2D-8E3CA127D638}"/>
              </a:ext>
            </a:extLst>
          </p:cNvPr>
          <p:cNvSpPr/>
          <p:nvPr/>
        </p:nvSpPr>
        <p:spPr>
          <a:xfrm>
            <a:off x="2578100" y="3937000"/>
            <a:ext cx="3987800" cy="3937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8" name="מלבן מעוגל 127">
            <a:extLst>
              <a:ext uri="{FF2B5EF4-FFF2-40B4-BE49-F238E27FC236}">
                <a16:creationId xmlns:a16="http://schemas.microsoft.com/office/drawing/2014/main" id="{0EEAB86E-4825-344C-BE15-71755C82D3E7}"/>
              </a:ext>
            </a:extLst>
          </p:cNvPr>
          <p:cNvSpPr/>
          <p:nvPr/>
        </p:nvSpPr>
        <p:spPr>
          <a:xfrm>
            <a:off x="2552700" y="3898900"/>
            <a:ext cx="3987800" cy="393700"/>
          </a:xfrm>
          <a:prstGeom prst="roundRect">
            <a:avLst/>
          </a:prstGeom>
          <a:solidFill>
            <a:srgbClr val="162B6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9" name="תיבת טקסט 128">
            <a:extLst>
              <a:ext uri="{FF2B5EF4-FFF2-40B4-BE49-F238E27FC236}">
                <a16:creationId xmlns:a16="http://schemas.microsoft.com/office/drawing/2014/main" id="{6C23C230-CD1A-E14C-B20D-A3D24D33C4C0}"/>
              </a:ext>
            </a:extLst>
          </p:cNvPr>
          <p:cNvSpPr txBox="1"/>
          <p:nvPr/>
        </p:nvSpPr>
        <p:spPr>
          <a:xfrm>
            <a:off x="2743200" y="3987800"/>
            <a:ext cx="3606800" cy="2159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Supervisor / Control Agent</a:t>
            </a:r>
            <a:endParaRPr lang="he-IL"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0" name="מלבן מעוגל 129">
            <a:extLst>
              <a:ext uri="{FF2B5EF4-FFF2-40B4-BE49-F238E27FC236}">
                <a16:creationId xmlns:a16="http://schemas.microsoft.com/office/drawing/2014/main" id="{31CB2628-5262-9043-A61A-5AB3466808E4}"/>
              </a:ext>
            </a:extLst>
          </p:cNvPr>
          <p:cNvSpPr/>
          <p:nvPr/>
        </p:nvSpPr>
        <p:spPr>
          <a:xfrm>
            <a:off x="889000" y="4457700"/>
            <a:ext cx="2235200" cy="4318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1" name="מלבן מעוגל 130">
            <a:extLst>
              <a:ext uri="{FF2B5EF4-FFF2-40B4-BE49-F238E27FC236}">
                <a16:creationId xmlns:a16="http://schemas.microsoft.com/office/drawing/2014/main" id="{4F03EE46-F1A9-774C-9794-3DEA6F5E982D}"/>
              </a:ext>
            </a:extLst>
          </p:cNvPr>
          <p:cNvSpPr/>
          <p:nvPr/>
        </p:nvSpPr>
        <p:spPr>
          <a:xfrm>
            <a:off x="863600" y="4419600"/>
            <a:ext cx="2235200" cy="431800"/>
          </a:xfrm>
          <a:prstGeom prst="roundRect">
            <a:avLst/>
          </a:prstGeom>
          <a:solidFill>
            <a:srgbClr val="FFFFFF"/>
          </a:solidFill>
          <a:ln w="11430" cap="flat" cmpd="sng" algn="ctr">
            <a:solidFill>
              <a:srgbClr val="8ADD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32" name="תיבת טקסט 131">
            <a:extLst>
              <a:ext uri="{FF2B5EF4-FFF2-40B4-BE49-F238E27FC236}">
                <a16:creationId xmlns:a16="http://schemas.microsoft.com/office/drawing/2014/main" id="{49D3E563-4913-6347-87E6-DFDB47FDC970}"/>
              </a:ext>
            </a:extLst>
          </p:cNvPr>
          <p:cNvSpPr txBox="1"/>
          <p:nvPr/>
        </p:nvSpPr>
        <p:spPr>
          <a:xfrm>
            <a:off x="914400" y="4521200"/>
            <a:ext cx="774700" cy="1778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b="1" dirty="0">
                <a:solidFill>
                  <a:srgbClr val="18A566"/>
                </a:solidFill>
                <a:latin typeface="Aptos"/>
              </a:rPr>
              <a:t>Approve</a:t>
            </a:r>
            <a:endParaRPr lang="he-IL" sz="1050" b="1" dirty="0">
              <a:solidFill>
                <a:srgbClr val="18A566"/>
              </a:solidFill>
              <a:latin typeface="Aptos"/>
            </a:endParaRPr>
          </a:p>
        </p:txBody>
      </p:sp>
      <p:sp>
        <p:nvSpPr>
          <p:cNvPr id="133" name="תיבת טקסט 132">
            <a:extLst>
              <a:ext uri="{FF2B5EF4-FFF2-40B4-BE49-F238E27FC236}">
                <a16:creationId xmlns:a16="http://schemas.microsoft.com/office/drawing/2014/main" id="{5892E5AC-2E11-E14C-97E8-87258CD0D835}"/>
              </a:ext>
            </a:extLst>
          </p:cNvPr>
          <p:cNvSpPr txBox="1"/>
          <p:nvPr/>
        </p:nvSpPr>
        <p:spPr>
          <a:xfrm>
            <a:off x="1584325" y="4537444"/>
            <a:ext cx="1504950" cy="3302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</a:rPr>
              <a:t>Execute Edit + Audit Log</a:t>
            </a:r>
            <a:endParaRPr lang="he-IL" sz="90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34" name="מלבן מעוגל 133">
            <a:extLst>
              <a:ext uri="{FF2B5EF4-FFF2-40B4-BE49-F238E27FC236}">
                <a16:creationId xmlns:a16="http://schemas.microsoft.com/office/drawing/2014/main" id="{1C83A0CD-A2FB-CD48-BDD9-0930FCC6AF5E}"/>
              </a:ext>
            </a:extLst>
          </p:cNvPr>
          <p:cNvSpPr/>
          <p:nvPr/>
        </p:nvSpPr>
        <p:spPr>
          <a:xfrm>
            <a:off x="3467100" y="4457700"/>
            <a:ext cx="2235200" cy="4318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5" name="מלבן מעוגל 134">
            <a:extLst>
              <a:ext uri="{FF2B5EF4-FFF2-40B4-BE49-F238E27FC236}">
                <a16:creationId xmlns:a16="http://schemas.microsoft.com/office/drawing/2014/main" id="{97C3ACFA-6602-C145-9D0D-5653C851589B}"/>
              </a:ext>
            </a:extLst>
          </p:cNvPr>
          <p:cNvSpPr/>
          <p:nvPr/>
        </p:nvSpPr>
        <p:spPr>
          <a:xfrm>
            <a:off x="3441700" y="4419600"/>
            <a:ext cx="2235200" cy="431800"/>
          </a:xfrm>
          <a:prstGeom prst="roundRect">
            <a:avLst/>
          </a:prstGeom>
          <a:solidFill>
            <a:srgbClr val="FFFFFF"/>
          </a:solidFill>
          <a:ln w="11430" cap="flat" cmpd="sng" algn="ctr">
            <a:solidFill>
              <a:srgbClr val="D7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6" name="תיבת טקסט 135">
            <a:extLst>
              <a:ext uri="{FF2B5EF4-FFF2-40B4-BE49-F238E27FC236}">
                <a16:creationId xmlns:a16="http://schemas.microsoft.com/office/drawing/2014/main" id="{344054D8-D726-1B40-80D8-E7D1F48D6DC3}"/>
              </a:ext>
            </a:extLst>
          </p:cNvPr>
          <p:cNvSpPr txBox="1"/>
          <p:nvPr/>
        </p:nvSpPr>
        <p:spPr>
          <a:xfrm>
            <a:off x="3594100" y="4521200"/>
            <a:ext cx="685800" cy="1778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b="1">
                <a:solidFill>
                  <a:srgbClr val="5635F5"/>
                </a:solidFill>
                <a:latin typeface="Aptos"/>
              </a:rPr>
              <a:t>Revise</a:t>
            </a:r>
            <a:endParaRPr lang="he-IL" sz="1050" b="1">
              <a:solidFill>
                <a:srgbClr val="5635F5"/>
              </a:solidFill>
              <a:latin typeface="Aptos"/>
            </a:endParaRPr>
          </a:p>
        </p:txBody>
      </p:sp>
      <p:sp>
        <p:nvSpPr>
          <p:cNvPr id="137" name="תיבת טקסט 136">
            <a:extLst>
              <a:ext uri="{FF2B5EF4-FFF2-40B4-BE49-F238E27FC236}">
                <a16:creationId xmlns:a16="http://schemas.microsoft.com/office/drawing/2014/main" id="{E9B566AE-2A60-5E4F-AFC0-3D6EA51B539D}"/>
              </a:ext>
            </a:extLst>
          </p:cNvPr>
          <p:cNvSpPr txBox="1"/>
          <p:nvPr/>
        </p:nvSpPr>
        <p:spPr>
          <a:xfrm>
            <a:off x="4146550" y="4521200"/>
            <a:ext cx="1600200" cy="3937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</a:rPr>
              <a:t>Return to Agent + Replan</a:t>
            </a:r>
            <a:endParaRPr lang="he-IL" sz="90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38" name="מלבן מעוגל 137">
            <a:extLst>
              <a:ext uri="{FF2B5EF4-FFF2-40B4-BE49-F238E27FC236}">
                <a16:creationId xmlns:a16="http://schemas.microsoft.com/office/drawing/2014/main" id="{8B742136-2CE4-CC49-96E8-10C3BF6A450C}"/>
              </a:ext>
            </a:extLst>
          </p:cNvPr>
          <p:cNvSpPr/>
          <p:nvPr/>
        </p:nvSpPr>
        <p:spPr>
          <a:xfrm>
            <a:off x="6045200" y="4457700"/>
            <a:ext cx="2235200" cy="431800"/>
          </a:xfrm>
          <a:prstGeom prst="roundRect">
            <a:avLst/>
          </a:prstGeom>
          <a:solidFill>
            <a:srgbClr val="DDE5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9" name="מלבן מעוגל 138">
            <a:extLst>
              <a:ext uri="{FF2B5EF4-FFF2-40B4-BE49-F238E27FC236}">
                <a16:creationId xmlns:a16="http://schemas.microsoft.com/office/drawing/2014/main" id="{6BB79006-F9A2-6342-BAA0-2D3CBE49AEEE}"/>
              </a:ext>
            </a:extLst>
          </p:cNvPr>
          <p:cNvSpPr/>
          <p:nvPr/>
        </p:nvSpPr>
        <p:spPr>
          <a:xfrm>
            <a:off x="6019800" y="4419600"/>
            <a:ext cx="2235200" cy="431800"/>
          </a:xfrm>
          <a:prstGeom prst="roundRect">
            <a:avLst/>
          </a:prstGeom>
          <a:solidFill>
            <a:srgbClr val="FFFFFF"/>
          </a:solidFill>
          <a:ln w="11430" cap="flat" cmpd="sng" algn="ctr">
            <a:solidFill>
              <a:srgbClr val="D7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0" name="תיבת טקסט 139">
            <a:extLst>
              <a:ext uri="{FF2B5EF4-FFF2-40B4-BE49-F238E27FC236}">
                <a16:creationId xmlns:a16="http://schemas.microsoft.com/office/drawing/2014/main" id="{7DFFA7DB-4974-4F4E-A048-1CD85AC6F273}"/>
              </a:ext>
            </a:extLst>
          </p:cNvPr>
          <p:cNvSpPr txBox="1"/>
          <p:nvPr/>
        </p:nvSpPr>
        <p:spPr>
          <a:xfrm>
            <a:off x="6172200" y="4521200"/>
            <a:ext cx="660400" cy="1778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1050" b="1">
                <a:solidFill>
                  <a:srgbClr val="162B67"/>
                </a:solidFill>
                <a:latin typeface="Aptos"/>
              </a:rPr>
              <a:t>Block</a:t>
            </a:r>
            <a:endParaRPr lang="he-IL" sz="1050" b="1">
              <a:solidFill>
                <a:srgbClr val="162B67"/>
              </a:solidFill>
              <a:latin typeface="Aptos"/>
            </a:endParaRPr>
          </a:p>
        </p:txBody>
      </p:sp>
      <p:sp>
        <p:nvSpPr>
          <p:cNvPr id="141" name="תיבת טקסט 140">
            <a:extLst>
              <a:ext uri="{FF2B5EF4-FFF2-40B4-BE49-F238E27FC236}">
                <a16:creationId xmlns:a16="http://schemas.microsoft.com/office/drawing/2014/main" id="{62518620-CA7A-7740-BFE1-5438BE43818E}"/>
              </a:ext>
            </a:extLst>
          </p:cNvPr>
          <p:cNvSpPr txBox="1"/>
          <p:nvPr/>
        </p:nvSpPr>
        <p:spPr>
          <a:xfrm>
            <a:off x="6921500" y="4521200"/>
            <a:ext cx="1066800" cy="2032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Aptos"/>
              </a:rPr>
              <a:t>No Action</a:t>
            </a:r>
            <a:endParaRPr lang="he-IL" sz="90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42" name="מלבן 141">
            <a:extLst>
              <a:ext uri="{FF2B5EF4-FFF2-40B4-BE49-F238E27FC236}">
                <a16:creationId xmlns:a16="http://schemas.microsoft.com/office/drawing/2014/main" id="{EECDA1A2-2BF9-E648-B549-288F8C94D772}"/>
              </a:ext>
            </a:extLst>
          </p:cNvPr>
          <p:cNvSpPr/>
          <p:nvPr/>
        </p:nvSpPr>
        <p:spPr>
          <a:xfrm>
            <a:off x="4559300" y="4292600"/>
            <a:ext cx="25400" cy="127000"/>
          </a:xfrm>
          <a:prstGeom prst="rect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3" name="מלבן 142">
            <a:extLst>
              <a:ext uri="{FF2B5EF4-FFF2-40B4-BE49-F238E27FC236}">
                <a16:creationId xmlns:a16="http://schemas.microsoft.com/office/drawing/2014/main" id="{2524CF92-54C1-7647-8E66-5294CF1BD15F}"/>
              </a:ext>
            </a:extLst>
          </p:cNvPr>
          <p:cNvSpPr/>
          <p:nvPr/>
        </p:nvSpPr>
        <p:spPr>
          <a:xfrm>
            <a:off x="1993900" y="4381500"/>
            <a:ext cx="5156200" cy="25400"/>
          </a:xfrm>
          <a:prstGeom prst="rect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4" name="מלבן 143">
            <a:extLst>
              <a:ext uri="{FF2B5EF4-FFF2-40B4-BE49-F238E27FC236}">
                <a16:creationId xmlns:a16="http://schemas.microsoft.com/office/drawing/2014/main" id="{ABF7291E-364E-4244-9BDC-E45C40A049C8}"/>
              </a:ext>
            </a:extLst>
          </p:cNvPr>
          <p:cNvSpPr/>
          <p:nvPr/>
        </p:nvSpPr>
        <p:spPr>
          <a:xfrm>
            <a:off x="1993900" y="4381500"/>
            <a:ext cx="25400" cy="63500"/>
          </a:xfrm>
          <a:prstGeom prst="rect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5" name="מלבן 144">
            <a:extLst>
              <a:ext uri="{FF2B5EF4-FFF2-40B4-BE49-F238E27FC236}">
                <a16:creationId xmlns:a16="http://schemas.microsoft.com/office/drawing/2014/main" id="{7922A469-F593-5347-A261-1DF538636132}"/>
              </a:ext>
            </a:extLst>
          </p:cNvPr>
          <p:cNvSpPr/>
          <p:nvPr/>
        </p:nvSpPr>
        <p:spPr>
          <a:xfrm>
            <a:off x="4559300" y="4381500"/>
            <a:ext cx="25400" cy="63500"/>
          </a:xfrm>
          <a:prstGeom prst="rect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6" name="מלבן 145">
            <a:extLst>
              <a:ext uri="{FF2B5EF4-FFF2-40B4-BE49-F238E27FC236}">
                <a16:creationId xmlns:a16="http://schemas.microsoft.com/office/drawing/2014/main" id="{E3A12EE7-CE4E-1349-9267-B46F439AB19E}"/>
              </a:ext>
            </a:extLst>
          </p:cNvPr>
          <p:cNvSpPr/>
          <p:nvPr/>
        </p:nvSpPr>
        <p:spPr>
          <a:xfrm>
            <a:off x="7137400" y="4381500"/>
            <a:ext cx="25400" cy="63500"/>
          </a:xfrm>
          <a:prstGeom prst="rect">
            <a:avLst/>
          </a:prstGeom>
          <a:solidFill>
            <a:srgbClr val="6C5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7" name="תיבת טקסט 146">
            <a:extLst>
              <a:ext uri="{FF2B5EF4-FFF2-40B4-BE49-F238E27FC236}">
                <a16:creationId xmlns:a16="http://schemas.microsoft.com/office/drawing/2014/main" id="{011F5576-AE2B-5A48-9B11-240A334F786A}"/>
              </a:ext>
            </a:extLst>
          </p:cNvPr>
          <p:cNvSpPr txBox="1"/>
          <p:nvPr/>
        </p:nvSpPr>
        <p:spPr>
          <a:xfrm>
            <a:off x="914400" y="4953000"/>
            <a:ext cx="7213600" cy="355600"/>
          </a:xfrm>
          <a:prstGeom prst="rect">
            <a:avLst/>
          </a:prstGeom>
          <a:noFill/>
        </p:spPr>
        <p:txBody>
          <a:bodyPr vertOverflow="overflow" vert="horz" wrap="square" rtlCol="1" anchor="t">
            <a:noAutofit/>
          </a:bodyPr>
          <a:lstStyle/>
          <a:p>
            <a:r>
              <a:rPr lang="en-US" sz="1100" b="1" dirty="0">
                <a:solidFill>
                  <a:srgbClr val="162B67"/>
                </a:solidFill>
                <a:latin typeface="Aptos"/>
              </a:rPr>
              <a:t>Actual page updates happen only after Supervisor approval; otherwise, the agent replans or stops.</a:t>
            </a:r>
          </a:p>
        </p:txBody>
      </p:sp>
      <p:sp>
        <p:nvSpPr>
          <p:cNvPr id="2" name="BSD_Header">
            <a:extLst>
              <a:ext uri="{FF2B5EF4-FFF2-40B4-BE49-F238E27FC236}">
                <a16:creationId xmlns:a16="http://schemas.microsoft.com/office/drawing/2014/main" id="{7B48B739-8F84-E047-A809-9848A688561C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  <p:extLst>
      <p:ext uri="{BB962C8B-B14F-4D97-AF65-F5344CB8AC3E}">
        <p14:creationId xmlns:p14="http://schemas.microsoft.com/office/powerpoint/2010/main" val="199694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7380" y="-114300"/>
            <a:ext cx="9251379" cy="5143500"/>
          </a:xfrm>
          <a:prstGeom prst="rect">
            <a:avLst/>
          </a:prstGeom>
          <a:solidFill>
            <a:srgbClr val="F7F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pic>
        <p:nvPicPr>
          <p:cNvPr id="3" name="BasisPointsImag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7380" y="0"/>
            <a:ext cx="2928864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96696" y="348693"/>
            <a:ext cx="568947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50" b="1" dirty="0">
                <a:solidFill>
                  <a:srgbClr val="172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From Evidence to Approved Listing Edit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3228894" y="800100"/>
            <a:ext cx="800080" cy="35719"/>
          </a:xfrm>
          <a:prstGeom prst="rect">
            <a:avLst/>
          </a:prstGeom>
          <a:solidFill>
            <a:srgbClr val="5B3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3228894" y="971550"/>
            <a:ext cx="5571986" cy="700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01600" dist="695" dir="5400000" algn="bl" rotWithShape="0">
              <a:srgbClr val="E4E9F4">
                <a:alpha val="100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3236038" y="978694"/>
            <a:ext cx="57149" cy="685800"/>
          </a:xfrm>
          <a:prstGeom prst="rect">
            <a:avLst/>
          </a:prstGeom>
          <a:solidFill>
            <a:srgbClr val="5B3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3407484" y="1121569"/>
            <a:ext cx="328604" cy="328613"/>
          </a:xfrm>
          <a:prstGeom prst="ellipse">
            <a:avLst/>
          </a:prstGeom>
          <a:solidFill>
            <a:srgbClr val="F0E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3486063" y="1221582"/>
            <a:ext cx="171446" cy="121444"/>
          </a:xfrm>
          <a:prstGeom prst="rect">
            <a:avLst/>
          </a:prstGeom>
          <a:solidFill>
            <a:srgbClr val="5B3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3878961" y="1099820"/>
            <a:ext cx="184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5B3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Claim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878960" y="1357630"/>
            <a:ext cx="47142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24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“Quiet apartment, perfect for families.”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72026" y="1671638"/>
            <a:ext cx="21431" cy="142875"/>
          </a:xfrm>
          <a:prstGeom prst="rect">
            <a:avLst/>
          </a:prstGeom>
          <a:solidFill>
            <a:srgbClr val="C9D4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2"/>
          <p:cNvSpPr/>
          <p:nvPr/>
        </p:nvSpPr>
        <p:spPr>
          <a:xfrm>
            <a:off x="3236038" y="1828325"/>
            <a:ext cx="5571986" cy="121443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01600" dist="695" dir="5400000" algn="bl" rotWithShape="0">
              <a:srgbClr val="E4E9F4">
                <a:alpha val="100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6" name="Shape 13"/>
          <p:cNvSpPr/>
          <p:nvPr/>
        </p:nvSpPr>
        <p:spPr>
          <a:xfrm>
            <a:off x="3236038" y="1821656"/>
            <a:ext cx="57149" cy="1200150"/>
          </a:xfrm>
          <a:prstGeom prst="rect">
            <a:avLst/>
          </a:prstGeom>
          <a:solidFill>
            <a:srgbClr val="2186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3407484" y="1964531"/>
            <a:ext cx="328604" cy="328613"/>
          </a:xfrm>
          <a:prstGeom prst="ellipse">
            <a:avLst/>
          </a:prstGeom>
          <a:solidFill>
            <a:srgbClr val="E9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5"/>
          <p:cNvSpPr/>
          <p:nvPr/>
        </p:nvSpPr>
        <p:spPr>
          <a:xfrm>
            <a:off x="3478919" y="2028826"/>
            <a:ext cx="135728" cy="135731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218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6"/>
          <p:cNvSpPr/>
          <p:nvPr/>
        </p:nvSpPr>
        <p:spPr>
          <a:xfrm>
            <a:off x="3614648" y="2171701"/>
            <a:ext cx="85723" cy="21431"/>
          </a:xfrm>
          <a:prstGeom prst="rect">
            <a:avLst/>
          </a:prstGeom>
          <a:solidFill>
            <a:srgbClr val="2186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3878960" y="1943100"/>
            <a:ext cx="78730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218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50385" y="2191931"/>
            <a:ext cx="4671896" cy="733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24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24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reviews mention street noise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4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Guests mention a bar downstairs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24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Places confirms nearby bars and restaurants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72026" y="3028950"/>
            <a:ext cx="21431" cy="142875"/>
          </a:xfrm>
          <a:prstGeom prst="rect">
            <a:avLst/>
          </a:prstGeom>
          <a:solidFill>
            <a:srgbClr val="C9D4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0"/>
          <p:cNvSpPr/>
          <p:nvPr/>
        </p:nvSpPr>
        <p:spPr>
          <a:xfrm>
            <a:off x="3228894" y="3171825"/>
            <a:ext cx="5571986" cy="101441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01600" dist="695" dir="5400000" algn="bl" rotWithShape="0">
              <a:srgbClr val="E4E9F4">
                <a:alpha val="10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Shape 21"/>
          <p:cNvSpPr/>
          <p:nvPr/>
        </p:nvSpPr>
        <p:spPr>
          <a:xfrm>
            <a:off x="3236038" y="3178969"/>
            <a:ext cx="57149" cy="1000125"/>
          </a:xfrm>
          <a:prstGeom prst="rect">
            <a:avLst/>
          </a:prstGeom>
          <a:solidFill>
            <a:srgbClr val="20AE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2"/>
          <p:cNvSpPr/>
          <p:nvPr/>
        </p:nvSpPr>
        <p:spPr>
          <a:xfrm>
            <a:off x="3407484" y="3321844"/>
            <a:ext cx="328604" cy="328613"/>
          </a:xfrm>
          <a:prstGeom prst="ellipse">
            <a:avLst/>
          </a:prstGeom>
          <a:solidFill>
            <a:srgbClr val="E9F8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3"/>
          <p:cNvSpPr/>
          <p:nvPr/>
        </p:nvSpPr>
        <p:spPr>
          <a:xfrm>
            <a:off x="3493207" y="3378994"/>
            <a:ext cx="157159" cy="207169"/>
          </a:xfrm>
          <a:prstGeom prst="rect">
            <a:avLst/>
          </a:prstGeom>
          <a:solidFill>
            <a:srgbClr val="FFFFFF"/>
          </a:solidFill>
          <a:ln w="28575">
            <a:solidFill>
              <a:srgbClr val="20AE7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4"/>
          <p:cNvSpPr/>
          <p:nvPr/>
        </p:nvSpPr>
        <p:spPr>
          <a:xfrm>
            <a:off x="3543212" y="3493294"/>
            <a:ext cx="107153" cy="28575"/>
          </a:xfrm>
          <a:prstGeom prst="rect">
            <a:avLst/>
          </a:prstGeom>
          <a:solidFill>
            <a:srgbClr val="20AE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5"/>
          <p:cNvSpPr/>
          <p:nvPr/>
        </p:nvSpPr>
        <p:spPr>
          <a:xfrm>
            <a:off x="3878960" y="3300412"/>
            <a:ext cx="107399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38" b="1" dirty="0">
                <a:solidFill>
                  <a:srgbClr val="20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Edit</a:t>
            </a:r>
            <a:endParaRPr lang="en-US" sz="1238" dirty="0"/>
          </a:p>
        </p:txBody>
      </p:sp>
      <p:sp>
        <p:nvSpPr>
          <p:cNvPr id="29" name="Text 26"/>
          <p:cNvSpPr/>
          <p:nvPr/>
        </p:nvSpPr>
        <p:spPr>
          <a:xfrm>
            <a:off x="3878960" y="3615489"/>
            <a:ext cx="4714757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dirty="0">
                <a:solidFill>
                  <a:srgbClr val="243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“Comfortable apartment in a lively Lisbon area, close to restaurants, bars and local attractions. Some street noise may be heard at night.”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28894" y="4343400"/>
            <a:ext cx="5571986" cy="457200"/>
          </a:xfrm>
          <a:prstGeom prst="roundRect">
            <a:avLst/>
          </a:prstGeom>
          <a:solidFill>
            <a:srgbClr val="213D8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595" dir="5400000" algn="bl" rotWithShape="0">
              <a:srgbClr val="DFE5F1">
                <a:alpha val="10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2" name="Text 29"/>
          <p:cNvSpPr/>
          <p:nvPr/>
        </p:nvSpPr>
        <p:spPr>
          <a:xfrm>
            <a:off x="3323378" y="4453891"/>
            <a:ext cx="5500507" cy="23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Check: Repeated evidence + supported wording → Approve → Execute edit + Audit Log</a:t>
            </a:r>
            <a:endParaRPr lang="en-US" sz="900" dirty="0"/>
          </a:p>
        </p:txBody>
      </p:sp>
      <p:sp>
        <p:nvSpPr>
          <p:cNvPr id="4" name="BSD_Header">
            <a:extLst>
              <a:ext uri="{FF2B5EF4-FFF2-40B4-BE49-F238E27FC236}">
                <a16:creationId xmlns:a16="http://schemas.microsoft.com/office/drawing/2014/main" id="{3F8DCA30-ED5E-2C41-939E-9A5FB256C743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  <p:extLst>
      <p:ext uri="{BB962C8B-B14F-4D97-AF65-F5344CB8AC3E}">
        <p14:creationId xmlns:p14="http://schemas.microsoft.com/office/powerpoint/2010/main" val="412864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AC8FAF7C-3BB1-2348-BAFD-76BDE9D417C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1CE65F6E-F02C-3346-8E00-ECE7EC786117}"/>
              </a:ext>
            </a:extLst>
          </p:cNvPr>
          <p:cNvSpPr txBox="1"/>
          <p:nvPr/>
        </p:nvSpPr>
        <p:spPr>
          <a:xfrm>
            <a:off x="762000" y="3048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2400" b="1" dirty="0">
                <a:solidFill>
                  <a:srgbClr val="14235F"/>
                </a:solidFill>
                <a:latin typeface="Aptos"/>
              </a:rPr>
              <a:t>The Control Layer</a:t>
            </a:r>
            <a:endParaRPr lang="he-IL" sz="2400" b="1" dirty="0">
              <a:solidFill>
                <a:srgbClr val="14235F"/>
              </a:solidFill>
              <a:latin typeface="Aptos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CC56DB0B-0263-4C46-B4D3-68A3028645C2}"/>
              </a:ext>
            </a:extLst>
          </p:cNvPr>
          <p:cNvSpPr/>
          <p:nvPr/>
        </p:nvSpPr>
        <p:spPr>
          <a:xfrm>
            <a:off x="762000" y="990600"/>
            <a:ext cx="939800" cy="381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5E777F11-E277-CF48-BC24-96FFD1E20A21}"/>
              </a:ext>
            </a:extLst>
          </p:cNvPr>
          <p:cNvSpPr txBox="1"/>
          <p:nvPr/>
        </p:nvSpPr>
        <p:spPr>
          <a:xfrm>
            <a:off x="762000" y="1143000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dirty="0">
                <a:solidFill>
                  <a:srgbClr val="526078"/>
                </a:solidFill>
                <a:latin typeface="Aptos"/>
              </a:rPr>
              <a:t>The Supervisor decides whether a proposed edit should be executed, revised, or blocked.</a:t>
            </a:r>
            <a:endParaRPr lang="he-IL" sz="14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18" name="מלבן מעוגל 17">
            <a:extLst>
              <a:ext uri="{FF2B5EF4-FFF2-40B4-BE49-F238E27FC236}">
                <a16:creationId xmlns:a16="http://schemas.microsoft.com/office/drawing/2014/main" id="{E46B56C5-7FC8-5D4A-9B6B-693D3499EF14}"/>
              </a:ext>
            </a:extLst>
          </p:cNvPr>
          <p:cNvSpPr/>
          <p:nvPr/>
        </p:nvSpPr>
        <p:spPr>
          <a:xfrm>
            <a:off x="3530600" y="1816100"/>
            <a:ext cx="2082800" cy="431800"/>
          </a:xfrm>
          <a:prstGeom prst="roundRect">
            <a:avLst/>
          </a:prstGeom>
          <a:solidFill>
            <a:srgbClr val="142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AF469C9D-1649-A24A-836A-B4EBB10278F9}"/>
              </a:ext>
            </a:extLst>
          </p:cNvPr>
          <p:cNvSpPr txBox="1"/>
          <p:nvPr/>
        </p:nvSpPr>
        <p:spPr>
          <a:xfrm>
            <a:off x="4025900" y="1866900"/>
            <a:ext cx="1625600" cy="317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ptos"/>
              </a:rPr>
              <a:t>Supervisor</a:t>
            </a:r>
            <a:endParaRPr lang="he-IL"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CDDCE27B-FF9B-C54B-9FCB-C860C90CE515}"/>
              </a:ext>
            </a:extLst>
          </p:cNvPr>
          <p:cNvSpPr/>
          <p:nvPr/>
        </p:nvSpPr>
        <p:spPr>
          <a:xfrm>
            <a:off x="4559300" y="2247900"/>
            <a:ext cx="25400" cy="2032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C533114D-87D8-3841-A3F1-1E0F254C9B26}"/>
              </a:ext>
            </a:extLst>
          </p:cNvPr>
          <p:cNvSpPr/>
          <p:nvPr/>
        </p:nvSpPr>
        <p:spPr>
          <a:xfrm>
            <a:off x="1905000" y="2451100"/>
            <a:ext cx="5334000" cy="254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FA1CDA5E-24AA-324C-A177-F48EAFE92D58}"/>
              </a:ext>
            </a:extLst>
          </p:cNvPr>
          <p:cNvSpPr/>
          <p:nvPr/>
        </p:nvSpPr>
        <p:spPr>
          <a:xfrm>
            <a:off x="1905000" y="2451100"/>
            <a:ext cx="25400" cy="1905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D705CA37-6CED-1547-B01F-D1DD47E150DA}"/>
              </a:ext>
            </a:extLst>
          </p:cNvPr>
          <p:cNvSpPr/>
          <p:nvPr/>
        </p:nvSpPr>
        <p:spPr>
          <a:xfrm>
            <a:off x="4559300" y="2451100"/>
            <a:ext cx="25400" cy="1905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513E5B45-654A-F747-8FC7-F65F4B82128E}"/>
              </a:ext>
            </a:extLst>
          </p:cNvPr>
          <p:cNvSpPr/>
          <p:nvPr/>
        </p:nvSpPr>
        <p:spPr>
          <a:xfrm>
            <a:off x="7213600" y="2451100"/>
            <a:ext cx="25400" cy="1905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5" name="מלבן מעוגל 24">
            <a:extLst>
              <a:ext uri="{FF2B5EF4-FFF2-40B4-BE49-F238E27FC236}">
                <a16:creationId xmlns:a16="http://schemas.microsoft.com/office/drawing/2014/main" id="{05B29561-71FA-BC44-B9A6-1D646839B5B8}"/>
              </a:ext>
            </a:extLst>
          </p:cNvPr>
          <p:cNvSpPr/>
          <p:nvPr/>
        </p:nvSpPr>
        <p:spPr>
          <a:xfrm>
            <a:off x="787400" y="2679700"/>
            <a:ext cx="2286000" cy="16764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6" name="מלבן מעוגל 25">
            <a:extLst>
              <a:ext uri="{FF2B5EF4-FFF2-40B4-BE49-F238E27FC236}">
                <a16:creationId xmlns:a16="http://schemas.microsoft.com/office/drawing/2014/main" id="{2F648A0A-4D3B-674C-9307-9BEEA4D84123}"/>
              </a:ext>
            </a:extLst>
          </p:cNvPr>
          <p:cNvSpPr/>
          <p:nvPr/>
        </p:nvSpPr>
        <p:spPr>
          <a:xfrm>
            <a:off x="762000" y="2641600"/>
            <a:ext cx="2286000" cy="1676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A9E0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7" name="אליפסה 26">
            <a:extLst>
              <a:ext uri="{FF2B5EF4-FFF2-40B4-BE49-F238E27FC236}">
                <a16:creationId xmlns:a16="http://schemas.microsoft.com/office/drawing/2014/main" id="{C087A893-EE55-0144-971C-C7CF3A3DFC49}"/>
              </a:ext>
            </a:extLst>
          </p:cNvPr>
          <p:cNvSpPr/>
          <p:nvPr/>
        </p:nvSpPr>
        <p:spPr>
          <a:xfrm>
            <a:off x="965200" y="2844800"/>
            <a:ext cx="431800" cy="431800"/>
          </a:xfrm>
          <a:prstGeom prst="ellipse">
            <a:avLst/>
          </a:prstGeom>
          <a:solidFill>
            <a:srgbClr val="E5F6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A04C9DAC-0923-C343-B80A-2140413FD0FA}"/>
              </a:ext>
            </a:extLst>
          </p:cNvPr>
          <p:cNvSpPr txBox="1"/>
          <p:nvPr/>
        </p:nvSpPr>
        <p:spPr>
          <a:xfrm>
            <a:off x="965200" y="2844800"/>
            <a:ext cx="431800" cy="431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he-IL" sz="1500" b="1">
                <a:solidFill>
                  <a:srgbClr val="16A060"/>
                </a:solidFill>
                <a:latin typeface="Aptos"/>
              </a:rPr>
              <a:t>✓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E5E8B67A-6F4D-B048-8DAF-1F01EE809E95}"/>
              </a:ext>
            </a:extLst>
          </p:cNvPr>
          <p:cNvSpPr txBox="1"/>
          <p:nvPr/>
        </p:nvSpPr>
        <p:spPr>
          <a:xfrm>
            <a:off x="1498600" y="28829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 dirty="0">
                <a:solidFill>
                  <a:srgbClr val="16A060"/>
                </a:solidFill>
                <a:latin typeface="Aptos"/>
              </a:rPr>
              <a:t>Approve</a:t>
            </a:r>
            <a:endParaRPr lang="he-IL" sz="1400" b="1" dirty="0">
              <a:solidFill>
                <a:srgbClr val="16A060"/>
              </a:solidFill>
              <a:latin typeface="Aptos"/>
            </a:endParaRP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49F6C92B-F2EE-F241-92B6-09AB2C2A2092}"/>
              </a:ext>
            </a:extLst>
          </p:cNvPr>
          <p:cNvSpPr txBox="1"/>
          <p:nvPr/>
        </p:nvSpPr>
        <p:spPr>
          <a:xfrm>
            <a:off x="965200" y="3390900"/>
            <a:ext cx="1905000" cy="787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r>
              <a:rPr lang="en-US" sz="1100" dirty="0">
                <a:solidFill>
                  <a:srgbClr val="526078"/>
                </a:solidFill>
                <a:latin typeface="Aptos"/>
              </a:rPr>
              <a:t>Strong evidence, fair wording, and clear scope
→ Execute Edit + Audit Log</a:t>
            </a:r>
            <a:endParaRPr lang="he-IL" sz="11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31" name="מלבן מעוגל 30">
            <a:extLst>
              <a:ext uri="{FF2B5EF4-FFF2-40B4-BE49-F238E27FC236}">
                <a16:creationId xmlns:a16="http://schemas.microsoft.com/office/drawing/2014/main" id="{E469FF0D-0173-5840-90B7-76D3B14D494A}"/>
              </a:ext>
            </a:extLst>
          </p:cNvPr>
          <p:cNvSpPr/>
          <p:nvPr/>
        </p:nvSpPr>
        <p:spPr>
          <a:xfrm>
            <a:off x="3454400" y="2679700"/>
            <a:ext cx="2286000" cy="16764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2" name="מלבן מעוגל 31">
            <a:extLst>
              <a:ext uri="{FF2B5EF4-FFF2-40B4-BE49-F238E27FC236}">
                <a16:creationId xmlns:a16="http://schemas.microsoft.com/office/drawing/2014/main" id="{D912DFD6-5E37-3F4F-A6EB-103C4183A4A3}"/>
              </a:ext>
            </a:extLst>
          </p:cNvPr>
          <p:cNvSpPr/>
          <p:nvPr/>
        </p:nvSpPr>
        <p:spPr>
          <a:xfrm>
            <a:off x="3429000" y="2641600"/>
            <a:ext cx="2286000" cy="1676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3" name="אליפסה 32">
            <a:extLst>
              <a:ext uri="{FF2B5EF4-FFF2-40B4-BE49-F238E27FC236}">
                <a16:creationId xmlns:a16="http://schemas.microsoft.com/office/drawing/2014/main" id="{1B0D09BC-E36C-D841-B791-44A05070B65D}"/>
              </a:ext>
            </a:extLst>
          </p:cNvPr>
          <p:cNvSpPr/>
          <p:nvPr/>
        </p:nvSpPr>
        <p:spPr>
          <a:xfrm>
            <a:off x="3632200" y="2844800"/>
            <a:ext cx="431800" cy="431800"/>
          </a:xfrm>
          <a:prstGeom prst="ellipse">
            <a:avLst/>
          </a:prstGeom>
          <a:solidFill>
            <a:srgbClr val="EE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56CB7DE9-31D3-914C-9FE0-BCCB39E86210}"/>
              </a:ext>
            </a:extLst>
          </p:cNvPr>
          <p:cNvSpPr txBox="1"/>
          <p:nvPr/>
        </p:nvSpPr>
        <p:spPr>
          <a:xfrm>
            <a:off x="3632200" y="2844800"/>
            <a:ext cx="431800" cy="431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he-IL" sz="1500" b="1">
                <a:solidFill>
                  <a:srgbClr val="4B2CE3"/>
                </a:solidFill>
                <a:latin typeface="Aptos"/>
              </a:rPr>
              <a:t>↻</a:t>
            </a:r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068037F0-F6EC-8041-AFD9-CFF6ECE3230E}"/>
              </a:ext>
            </a:extLst>
          </p:cNvPr>
          <p:cNvSpPr txBox="1"/>
          <p:nvPr/>
        </p:nvSpPr>
        <p:spPr>
          <a:xfrm>
            <a:off x="4191000" y="291465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 dirty="0">
                <a:solidFill>
                  <a:srgbClr val="4B2CE3"/>
                </a:solidFill>
                <a:latin typeface="Aptos"/>
              </a:rPr>
              <a:t>Revise</a:t>
            </a:r>
            <a:endParaRPr lang="he-IL" sz="1400" b="1" dirty="0">
              <a:solidFill>
                <a:srgbClr val="4B2CE3"/>
              </a:solidFill>
              <a:latin typeface="Aptos"/>
            </a:endParaRPr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5782046C-81C7-7346-805A-782A2DB64E33}"/>
              </a:ext>
            </a:extLst>
          </p:cNvPr>
          <p:cNvSpPr txBox="1"/>
          <p:nvPr/>
        </p:nvSpPr>
        <p:spPr>
          <a:xfrm>
            <a:off x="3632200" y="3390900"/>
            <a:ext cx="1854200" cy="787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100" dirty="0">
                <a:solidFill>
                  <a:srgbClr val="526078"/>
                </a:solidFill>
                <a:latin typeface="Aptos"/>
              </a:rPr>
              <a:t>More evidence or wording adjustment is needed
→ Return to Agent + Replan</a:t>
            </a:r>
            <a:endParaRPr lang="he-IL" sz="11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37" name="מלבן מעוגל 36">
            <a:extLst>
              <a:ext uri="{FF2B5EF4-FFF2-40B4-BE49-F238E27FC236}">
                <a16:creationId xmlns:a16="http://schemas.microsoft.com/office/drawing/2014/main" id="{424351A0-7408-094D-8834-CDAF264EA792}"/>
              </a:ext>
            </a:extLst>
          </p:cNvPr>
          <p:cNvSpPr/>
          <p:nvPr/>
        </p:nvSpPr>
        <p:spPr>
          <a:xfrm>
            <a:off x="6121400" y="2679700"/>
            <a:ext cx="2286000" cy="16764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8" name="מלבן מעוגל 37">
            <a:extLst>
              <a:ext uri="{FF2B5EF4-FFF2-40B4-BE49-F238E27FC236}">
                <a16:creationId xmlns:a16="http://schemas.microsoft.com/office/drawing/2014/main" id="{39C6E90F-F330-F144-81C9-713C7474F156}"/>
              </a:ext>
            </a:extLst>
          </p:cNvPr>
          <p:cNvSpPr/>
          <p:nvPr/>
        </p:nvSpPr>
        <p:spPr>
          <a:xfrm>
            <a:off x="6096000" y="2641600"/>
            <a:ext cx="2286000" cy="1676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9" name="אליפסה 38">
            <a:extLst>
              <a:ext uri="{FF2B5EF4-FFF2-40B4-BE49-F238E27FC236}">
                <a16:creationId xmlns:a16="http://schemas.microsoft.com/office/drawing/2014/main" id="{202B7F56-CC62-634D-B31D-CA8D399E90B2}"/>
              </a:ext>
            </a:extLst>
          </p:cNvPr>
          <p:cNvSpPr/>
          <p:nvPr/>
        </p:nvSpPr>
        <p:spPr>
          <a:xfrm>
            <a:off x="6299200" y="2844800"/>
            <a:ext cx="431800" cy="431800"/>
          </a:xfrm>
          <a:prstGeom prst="ellipse">
            <a:avLst/>
          </a:prstGeom>
          <a:solidFill>
            <a:srgbClr val="E7F2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DAD229C8-FCE4-6E44-9C80-05A9F62CA7AF}"/>
              </a:ext>
            </a:extLst>
          </p:cNvPr>
          <p:cNvSpPr txBox="1"/>
          <p:nvPr/>
        </p:nvSpPr>
        <p:spPr>
          <a:xfrm>
            <a:off x="6299200" y="2844800"/>
            <a:ext cx="431800" cy="431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he-IL" sz="1500" b="1">
                <a:solidFill>
                  <a:srgbClr val="14235F"/>
                </a:solidFill>
                <a:latin typeface="Aptos"/>
              </a:rPr>
              <a:t>×</a:t>
            </a:r>
          </a:p>
        </p:txBody>
      </p: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6BD64DC7-0432-3641-A6E4-CF7AD1D15FFB}"/>
              </a:ext>
            </a:extLst>
          </p:cNvPr>
          <p:cNvSpPr txBox="1"/>
          <p:nvPr/>
        </p:nvSpPr>
        <p:spPr>
          <a:xfrm>
            <a:off x="6833518" y="291465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 dirty="0">
                <a:solidFill>
                  <a:srgbClr val="14235F"/>
                </a:solidFill>
                <a:latin typeface="Aptos"/>
              </a:rPr>
              <a:t>Block</a:t>
            </a:r>
            <a:endParaRPr lang="he-IL" sz="1400" b="1" dirty="0">
              <a:solidFill>
                <a:srgbClr val="14235F"/>
              </a:solidFill>
              <a:latin typeface="Aptos"/>
            </a:endParaRPr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083833B0-53E9-4048-8C6D-4391EB15EF9F}"/>
              </a:ext>
            </a:extLst>
          </p:cNvPr>
          <p:cNvSpPr txBox="1"/>
          <p:nvPr/>
        </p:nvSpPr>
        <p:spPr>
          <a:xfrm>
            <a:off x="6299200" y="3390900"/>
            <a:ext cx="2057400" cy="787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100" dirty="0">
                <a:solidFill>
                  <a:srgbClr val="526078"/>
                </a:solidFill>
                <a:latin typeface="Aptos"/>
              </a:rPr>
              <a:t>Weak evidence, invented facts, or out-of-scope request
→ No Action</a:t>
            </a:r>
            <a:endParaRPr lang="he-IL" sz="11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42D507E-37F5-F444-A7CC-1F535909025A}"/>
              </a:ext>
            </a:extLst>
          </p:cNvPr>
          <p:cNvSpPr/>
          <p:nvPr/>
        </p:nvSpPr>
        <p:spPr>
          <a:xfrm>
            <a:off x="762000" y="4508500"/>
            <a:ext cx="7620000" cy="19050"/>
          </a:xfrm>
          <a:prstGeom prst="rect">
            <a:avLst/>
          </a:prstGeom>
          <a:solidFill>
            <a:srgbClr val="D9DD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714AD4D-AFA6-2B44-B4F1-49FF93E0FC2D}"/>
              </a:ext>
            </a:extLst>
          </p:cNvPr>
          <p:cNvSpPr txBox="1"/>
          <p:nvPr/>
        </p:nvSpPr>
        <p:spPr>
          <a:xfrm>
            <a:off x="762000" y="4622800"/>
            <a:ext cx="7620000" cy="393700"/>
          </a:xfrm>
          <a:prstGeom prst="rect">
            <a:avLst/>
          </a:prstGeom>
          <a:noFill/>
        </p:spPr>
        <p:txBody>
          <a:bodyPr vertOverflow="overflow" vert="horz" wrap="square" rtlCol="1" anchor="t">
            <a:normAutofit/>
          </a:bodyPr>
          <a:lstStyle/>
          <a:p>
            <a:r>
              <a:rPr lang="en-US" sz="1100" dirty="0">
                <a:solidFill>
                  <a:srgbClr val="526078"/>
                </a:solidFill>
                <a:latin typeface="Aptos"/>
              </a:rPr>
              <a:t>The Supervisor controls execution. The main agent remains responsible for reasoning and replanning.</a:t>
            </a:r>
            <a:endParaRPr lang="he-IL" sz="11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5" name="BSD_Header">
            <a:extLst>
              <a:ext uri="{FF2B5EF4-FFF2-40B4-BE49-F238E27FC236}">
                <a16:creationId xmlns:a16="http://schemas.microsoft.com/office/drawing/2014/main" id="{B8B26A35-D7CE-F149-B7BE-5CABE1873686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  <p:extLst>
      <p:ext uri="{BB962C8B-B14F-4D97-AF65-F5344CB8AC3E}">
        <p14:creationId xmlns:p14="http://schemas.microsoft.com/office/powerpoint/2010/main" val="258342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67E97B0E-AFD6-4F45-B91C-6CD0256FD38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5444272E-9C94-BD47-B77A-620653852586}"/>
              </a:ext>
            </a:extLst>
          </p:cNvPr>
          <p:cNvSpPr txBox="1"/>
          <p:nvPr/>
        </p:nvSpPr>
        <p:spPr>
          <a:xfrm>
            <a:off x="482600" y="304800"/>
            <a:ext cx="8178800" cy="736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2200" b="1" dirty="0">
                <a:solidFill>
                  <a:srgbClr val="14235F"/>
                </a:solidFill>
                <a:latin typeface="Aptos"/>
              </a:rPr>
              <a:t>Why This Is Autonomy, Not Automation</a:t>
            </a:r>
            <a:endParaRPr lang="he-IL" sz="2200" b="1" dirty="0">
              <a:solidFill>
                <a:srgbClr val="14235F"/>
              </a:solidFill>
              <a:latin typeface="Aptos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8F3289A0-2ABE-3343-AB6E-2927609CC3DF}"/>
              </a:ext>
            </a:extLst>
          </p:cNvPr>
          <p:cNvSpPr/>
          <p:nvPr/>
        </p:nvSpPr>
        <p:spPr>
          <a:xfrm>
            <a:off x="482600" y="1092200"/>
            <a:ext cx="939800" cy="381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" name="מלבן מעוגל 12">
            <a:extLst>
              <a:ext uri="{FF2B5EF4-FFF2-40B4-BE49-F238E27FC236}">
                <a16:creationId xmlns:a16="http://schemas.microsoft.com/office/drawing/2014/main" id="{D660CD6E-EAAD-CE42-A302-41F0598D87FF}"/>
              </a:ext>
            </a:extLst>
          </p:cNvPr>
          <p:cNvSpPr/>
          <p:nvPr/>
        </p:nvSpPr>
        <p:spPr>
          <a:xfrm>
            <a:off x="457200" y="1371600"/>
            <a:ext cx="3810000" cy="19558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מלבן מעוגל 13">
            <a:extLst>
              <a:ext uri="{FF2B5EF4-FFF2-40B4-BE49-F238E27FC236}">
                <a16:creationId xmlns:a16="http://schemas.microsoft.com/office/drawing/2014/main" id="{1B42AF2E-0E95-0E42-B824-3F334F47403C}"/>
              </a:ext>
            </a:extLst>
          </p:cNvPr>
          <p:cNvSpPr/>
          <p:nvPr/>
        </p:nvSpPr>
        <p:spPr>
          <a:xfrm>
            <a:off x="431800" y="1333500"/>
            <a:ext cx="3810000" cy="1955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8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A4E598E3-834E-1945-9C2F-40168B019718}"/>
              </a:ext>
            </a:extLst>
          </p:cNvPr>
          <p:cNvSpPr/>
          <p:nvPr/>
        </p:nvSpPr>
        <p:spPr>
          <a:xfrm>
            <a:off x="711200" y="1536700"/>
            <a:ext cx="482600" cy="482600"/>
          </a:xfrm>
          <a:prstGeom prst="ellipse">
            <a:avLst/>
          </a:prstGeom>
          <a:solidFill>
            <a:srgbClr val="E7F2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CE84D36D-A20B-004A-BD64-A48C3BC9B1E8}"/>
              </a:ext>
            </a:extLst>
          </p:cNvPr>
          <p:cNvSpPr txBox="1"/>
          <p:nvPr/>
        </p:nvSpPr>
        <p:spPr>
          <a:xfrm>
            <a:off x="711200" y="1536700"/>
            <a:ext cx="482600" cy="482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he-IL" sz="1400" b="1" dirty="0">
                <a:solidFill>
                  <a:srgbClr val="1473D1"/>
                </a:solidFill>
                <a:latin typeface="Aptos"/>
              </a:rPr>
              <a:t>1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EAC79468-BC0A-7D43-876E-F48C608C5B5A}"/>
              </a:ext>
            </a:extLst>
          </p:cNvPr>
          <p:cNvSpPr txBox="1"/>
          <p:nvPr/>
        </p:nvSpPr>
        <p:spPr>
          <a:xfrm>
            <a:off x="1346200" y="1549400"/>
            <a:ext cx="2463800" cy="330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 dirty="0">
                <a:solidFill>
                  <a:srgbClr val="1473D1"/>
                </a:solidFill>
                <a:latin typeface="Aptos"/>
              </a:rPr>
              <a:t>Fixed AI Workflow</a:t>
            </a:r>
            <a:endParaRPr lang="he-IL" sz="1400" b="1" dirty="0">
              <a:solidFill>
                <a:srgbClr val="1473D1"/>
              </a:solidFill>
              <a:latin typeface="Aptos"/>
            </a:endParaRP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E4DD01DA-B1B8-2546-BD43-89EA64E96D92}"/>
              </a:ext>
            </a:extLst>
          </p:cNvPr>
          <p:cNvSpPr txBox="1"/>
          <p:nvPr/>
        </p:nvSpPr>
        <p:spPr>
          <a:xfrm>
            <a:off x="736600" y="2082800"/>
            <a:ext cx="3149600" cy="914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300" dirty="0">
                <a:solidFill>
                  <a:srgbClr val="526078"/>
                </a:solidFill>
                <a:latin typeface="Aptos"/>
              </a:rPr>
              <a:t>• Predefined steps
• Same path every time
• No replanning or stopping</a:t>
            </a:r>
            <a:endParaRPr lang="he-IL" sz="1300" dirty="0">
              <a:solidFill>
                <a:srgbClr val="526078"/>
              </a:solidFill>
              <a:latin typeface="Aptos"/>
            </a:endParaRPr>
          </a:p>
        </p:txBody>
      </p:sp>
      <p:sp>
        <p:nvSpPr>
          <p:cNvPr id="19" name="מלבן מעוגל 18">
            <a:extLst>
              <a:ext uri="{FF2B5EF4-FFF2-40B4-BE49-F238E27FC236}">
                <a16:creationId xmlns:a16="http://schemas.microsoft.com/office/drawing/2014/main" id="{B3539F81-F91D-0945-8D2F-92B3B1FDCFA1}"/>
              </a:ext>
            </a:extLst>
          </p:cNvPr>
          <p:cNvSpPr/>
          <p:nvPr/>
        </p:nvSpPr>
        <p:spPr>
          <a:xfrm>
            <a:off x="4419600" y="1371600"/>
            <a:ext cx="4292600" cy="1955800"/>
          </a:xfrm>
          <a:prstGeom prst="roundRect">
            <a:avLst/>
          </a:prstGeom>
          <a:solidFill>
            <a:srgbClr val="E5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" name="מלבן מעוגל 19">
            <a:extLst>
              <a:ext uri="{FF2B5EF4-FFF2-40B4-BE49-F238E27FC236}">
                <a16:creationId xmlns:a16="http://schemas.microsoft.com/office/drawing/2014/main" id="{EA606DA5-399F-1D41-A7E2-57E640A211AB}"/>
              </a:ext>
            </a:extLst>
          </p:cNvPr>
          <p:cNvSpPr/>
          <p:nvPr/>
        </p:nvSpPr>
        <p:spPr>
          <a:xfrm>
            <a:off x="4394200" y="1333500"/>
            <a:ext cx="4292600" cy="1955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B9AE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36BEFFFB-1716-AE4E-9818-3545E47FE199}"/>
              </a:ext>
            </a:extLst>
          </p:cNvPr>
          <p:cNvSpPr/>
          <p:nvPr/>
        </p:nvSpPr>
        <p:spPr>
          <a:xfrm>
            <a:off x="4673600" y="1536700"/>
            <a:ext cx="482600" cy="482600"/>
          </a:xfrm>
          <a:prstGeom prst="ellipse">
            <a:avLst/>
          </a:prstGeom>
          <a:solidFill>
            <a:srgbClr val="EE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7FA483F1-D745-0043-B7C2-F0F0E7F23900}"/>
              </a:ext>
            </a:extLst>
          </p:cNvPr>
          <p:cNvSpPr txBox="1"/>
          <p:nvPr/>
        </p:nvSpPr>
        <p:spPr>
          <a:xfrm>
            <a:off x="4673600" y="1536700"/>
            <a:ext cx="482600" cy="482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 dirty="0">
                <a:solidFill>
                  <a:srgbClr val="4B2CE3"/>
                </a:solidFill>
                <a:latin typeface="Aptos"/>
              </a:rPr>
              <a:t>AI</a:t>
            </a:r>
            <a:endParaRPr lang="he-IL" sz="1400" b="1" dirty="0">
              <a:solidFill>
                <a:srgbClr val="4B2CE3"/>
              </a:solidFill>
              <a:latin typeface="Aptos"/>
            </a:endParaRP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3B4A56B9-A4E7-EA44-8F11-098224476E20}"/>
              </a:ext>
            </a:extLst>
          </p:cNvPr>
          <p:cNvSpPr txBox="1"/>
          <p:nvPr/>
        </p:nvSpPr>
        <p:spPr>
          <a:xfrm>
            <a:off x="5308600" y="1549400"/>
            <a:ext cx="2971800" cy="330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b="1" dirty="0">
                <a:solidFill>
                  <a:srgbClr val="4B2CE3"/>
                </a:solidFill>
                <a:latin typeface="Aptos"/>
              </a:rPr>
              <a:t>Our Agent</a:t>
            </a:r>
            <a:endParaRPr lang="he-IL" sz="1400" b="1" dirty="0">
              <a:solidFill>
                <a:srgbClr val="4B2CE3"/>
              </a:solidFill>
              <a:latin typeface="Aptos"/>
            </a:endParaRP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D8C7AE84-F6C9-954C-8D80-11705D082961}"/>
              </a:ext>
            </a:extLst>
          </p:cNvPr>
          <p:cNvSpPr txBox="1"/>
          <p:nvPr/>
        </p:nvSpPr>
        <p:spPr>
          <a:xfrm>
            <a:off x="4699000" y="1993900"/>
            <a:ext cx="3670300" cy="11557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300" dirty="0">
                <a:solidFill>
                  <a:srgbClr val="14235F"/>
                </a:solidFill>
                <a:latin typeface="Aptos"/>
              </a:rPr>
              <a:t>• Goal-driven
• Dynamically chooses tools
• Observes evidence and updates state
• Replans, stops, or executes after Supervisor approval</a:t>
            </a:r>
            <a:endParaRPr lang="he-IL" sz="1300" dirty="0">
              <a:solidFill>
                <a:srgbClr val="14235F"/>
              </a:solidFill>
              <a:latin typeface="Aptos"/>
            </a:endParaRPr>
          </a:p>
        </p:txBody>
      </p:sp>
      <p:sp>
        <p:nvSpPr>
          <p:cNvPr id="29" name="אליפסה 28">
            <a:extLst>
              <a:ext uri="{FF2B5EF4-FFF2-40B4-BE49-F238E27FC236}">
                <a16:creationId xmlns:a16="http://schemas.microsoft.com/office/drawing/2014/main" id="{CC505FDA-E0EA-1940-BCFC-E1FC17B20553}"/>
              </a:ext>
            </a:extLst>
          </p:cNvPr>
          <p:cNvSpPr/>
          <p:nvPr/>
        </p:nvSpPr>
        <p:spPr>
          <a:xfrm>
            <a:off x="8204200" y="330200"/>
            <a:ext cx="355600" cy="355600"/>
          </a:xfrm>
          <a:prstGeom prst="ellipse">
            <a:avLst/>
          </a:prstGeom>
          <a:solidFill>
            <a:srgbClr val="EE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0" name="אליפסה 29">
            <a:extLst>
              <a:ext uri="{FF2B5EF4-FFF2-40B4-BE49-F238E27FC236}">
                <a16:creationId xmlns:a16="http://schemas.microsoft.com/office/drawing/2014/main" id="{85396CE3-A042-F74E-A7E5-714A0C9B0EE4}"/>
              </a:ext>
            </a:extLst>
          </p:cNvPr>
          <p:cNvSpPr/>
          <p:nvPr/>
        </p:nvSpPr>
        <p:spPr>
          <a:xfrm>
            <a:off x="8305800" y="406400"/>
            <a:ext cx="152400" cy="152400"/>
          </a:xfrm>
          <a:prstGeom prst="ellipse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11C32BF5-427F-F944-AE10-3FB9DD770A81}"/>
              </a:ext>
            </a:extLst>
          </p:cNvPr>
          <p:cNvSpPr/>
          <p:nvPr/>
        </p:nvSpPr>
        <p:spPr>
          <a:xfrm>
            <a:off x="8369300" y="546100"/>
            <a:ext cx="25400" cy="101600"/>
          </a:xfrm>
          <a:prstGeom prst="rect">
            <a:avLst/>
          </a:prstGeom>
          <a:solidFill>
            <a:srgbClr val="4B2C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2" name="אליפסה 31">
            <a:extLst>
              <a:ext uri="{FF2B5EF4-FFF2-40B4-BE49-F238E27FC236}">
                <a16:creationId xmlns:a16="http://schemas.microsoft.com/office/drawing/2014/main" id="{2EDEDF8C-C3CD-D843-9187-D1FF3499A8E4}"/>
              </a:ext>
            </a:extLst>
          </p:cNvPr>
          <p:cNvSpPr/>
          <p:nvPr/>
        </p:nvSpPr>
        <p:spPr>
          <a:xfrm>
            <a:off x="4152900" y="2133600"/>
            <a:ext cx="355600" cy="355600"/>
          </a:xfrm>
          <a:prstGeom prst="ellipse">
            <a:avLst/>
          </a:prstGeom>
          <a:solidFill>
            <a:srgbClr val="EEE9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5636E8"/>
                </a:solidFill>
                <a:latin typeface="Aptos"/>
              </a:rPr>
              <a:t>VS</a:t>
            </a:r>
            <a:endParaRPr lang="he-IL" sz="1000" b="1">
              <a:solidFill>
                <a:srgbClr val="5636E8"/>
              </a:solidFill>
              <a:latin typeface="Aptos"/>
            </a:endParaRPr>
          </a:p>
        </p:txBody>
      </p:sp>
      <p:sp>
        <p:nvSpPr>
          <p:cNvPr id="145" name="Summary Panel Shadow">
            <a:extLst>
              <a:ext uri="{FF2B5EF4-FFF2-40B4-BE49-F238E27FC236}">
                <a16:creationId xmlns:a16="http://schemas.microsoft.com/office/drawing/2014/main" id="{6643EF87-232D-8C41-8912-B17681F29A95}"/>
              </a:ext>
            </a:extLst>
          </p:cNvPr>
          <p:cNvSpPr/>
          <p:nvPr/>
        </p:nvSpPr>
        <p:spPr>
          <a:xfrm>
            <a:off x="469900" y="3505200"/>
            <a:ext cx="8229600" cy="1155700"/>
          </a:xfrm>
          <a:prstGeom prst="roundRect">
            <a:avLst/>
          </a:prstGeom>
          <a:solidFill>
            <a:srgbClr val="DDE4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6" name="Summary Panel">
            <a:extLst>
              <a:ext uri="{FF2B5EF4-FFF2-40B4-BE49-F238E27FC236}">
                <a16:creationId xmlns:a16="http://schemas.microsoft.com/office/drawing/2014/main" id="{1F60AE11-695E-2241-AFE4-A0236BF79122}"/>
              </a:ext>
            </a:extLst>
          </p:cNvPr>
          <p:cNvSpPr/>
          <p:nvPr/>
        </p:nvSpPr>
        <p:spPr>
          <a:xfrm>
            <a:off x="444500" y="3467100"/>
            <a:ext cx="8229600" cy="1155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1E7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7" name="Input Airbnb Listing Page">
            <a:extLst>
              <a:ext uri="{FF2B5EF4-FFF2-40B4-BE49-F238E27FC236}">
                <a16:creationId xmlns:a16="http://schemas.microsoft.com/office/drawing/2014/main" id="{AD8CE24F-AA01-9D42-ABD2-941C1695AC68}"/>
              </a:ext>
            </a:extLst>
          </p:cNvPr>
          <p:cNvSpPr/>
          <p:nvPr/>
        </p:nvSpPr>
        <p:spPr>
          <a:xfrm>
            <a:off x="622300" y="3568700"/>
            <a:ext cx="20574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8" name="Icon Airbnb Listing Page">
            <a:extLst>
              <a:ext uri="{FF2B5EF4-FFF2-40B4-BE49-F238E27FC236}">
                <a16:creationId xmlns:a16="http://schemas.microsoft.com/office/drawing/2014/main" id="{7B9D1CB7-D707-3E44-8A0D-B93D78B74603}"/>
              </a:ext>
            </a:extLst>
          </p:cNvPr>
          <p:cNvSpPr/>
          <p:nvPr/>
        </p:nvSpPr>
        <p:spPr>
          <a:xfrm>
            <a:off x="711200" y="3606800"/>
            <a:ext cx="203200" cy="2032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1" anchor="ctr" anchorCtr="0">
            <a:normAutofit/>
          </a:bodyPr>
          <a:lstStyle/>
          <a:p>
            <a:pPr algn="l"/>
            <a:r>
              <a:rPr lang="en-US" sz="1050" b="1" dirty="0">
                <a:solidFill>
                  <a:srgbClr val="5B35F4"/>
                </a:solidFill>
                <a:latin typeface="Arial"/>
                <a:cs typeface="Arial"/>
              </a:rPr>
              <a:t>L</a:t>
            </a:r>
            <a:endParaRPr lang="he-IL" sz="800" b="1" dirty="0">
              <a:solidFill>
                <a:srgbClr val="5B35F4"/>
              </a:solidFill>
              <a:latin typeface="Arial"/>
              <a:cs typeface="Arial"/>
            </a:endParaRPr>
          </a:p>
        </p:txBody>
      </p:sp>
      <p:sp>
        <p:nvSpPr>
          <p:cNvPr id="149" name="Label Airbnb Listing Page">
            <a:extLst>
              <a:ext uri="{FF2B5EF4-FFF2-40B4-BE49-F238E27FC236}">
                <a16:creationId xmlns:a16="http://schemas.microsoft.com/office/drawing/2014/main" id="{773EFFA6-75A0-B344-B3A3-FC2C5C0CC13F}"/>
              </a:ext>
            </a:extLst>
          </p:cNvPr>
          <p:cNvSpPr txBox="1"/>
          <p:nvPr/>
        </p:nvSpPr>
        <p:spPr>
          <a:xfrm>
            <a:off x="990600" y="3594100"/>
            <a:ext cx="1574800" cy="228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11245B"/>
                </a:solidFill>
                <a:latin typeface="Arial"/>
                <a:cs typeface="Arial"/>
              </a:rPr>
              <a:t>Airbnb Listing Page</a:t>
            </a:r>
            <a:endParaRPr lang="he-IL" sz="1000" b="1" dirty="0">
              <a:solidFill>
                <a:srgbClr val="11245B"/>
              </a:solidFill>
              <a:latin typeface="Arial"/>
              <a:cs typeface="Arial"/>
            </a:endParaRPr>
          </a:p>
        </p:txBody>
      </p:sp>
      <p:sp>
        <p:nvSpPr>
          <p:cNvPr id="150" name="Connector Airbnb Listing Page">
            <a:extLst>
              <a:ext uri="{FF2B5EF4-FFF2-40B4-BE49-F238E27FC236}">
                <a16:creationId xmlns:a16="http://schemas.microsoft.com/office/drawing/2014/main" id="{5749A58C-B3B6-A94A-A8B3-6E608F1C5B3C}"/>
              </a:ext>
            </a:extLst>
          </p:cNvPr>
          <p:cNvSpPr/>
          <p:nvPr/>
        </p:nvSpPr>
        <p:spPr>
          <a:xfrm>
            <a:off x="2679700" y="3695700"/>
            <a:ext cx="152400" cy="25400"/>
          </a:xfrm>
          <a:prstGeom prst="rect">
            <a:avLst/>
          </a:prstGeom>
          <a:solidFill>
            <a:srgbClr val="5B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1" name="Input Guest Reviews">
            <a:extLst>
              <a:ext uri="{FF2B5EF4-FFF2-40B4-BE49-F238E27FC236}">
                <a16:creationId xmlns:a16="http://schemas.microsoft.com/office/drawing/2014/main" id="{F5A240B1-D384-2046-8BDC-80056FE55A72}"/>
              </a:ext>
            </a:extLst>
          </p:cNvPr>
          <p:cNvSpPr/>
          <p:nvPr/>
        </p:nvSpPr>
        <p:spPr>
          <a:xfrm>
            <a:off x="622300" y="3898900"/>
            <a:ext cx="20574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2" name="Icon Guest Reviews">
            <a:extLst>
              <a:ext uri="{FF2B5EF4-FFF2-40B4-BE49-F238E27FC236}">
                <a16:creationId xmlns:a16="http://schemas.microsoft.com/office/drawing/2014/main" id="{C11B75B5-D06B-4F4F-BD46-C985829F755E}"/>
              </a:ext>
            </a:extLst>
          </p:cNvPr>
          <p:cNvSpPr/>
          <p:nvPr/>
        </p:nvSpPr>
        <p:spPr>
          <a:xfrm>
            <a:off x="711200" y="3937000"/>
            <a:ext cx="203200" cy="203200"/>
          </a:xfrm>
          <a:prstGeom prst="ellipse">
            <a:avLst/>
          </a:prstGeom>
          <a:solidFill>
            <a:srgbClr val="ECFA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1" anchor="ctr" anchorCtr="0">
            <a:normAutofit/>
          </a:bodyPr>
          <a:lstStyle/>
          <a:p>
            <a:pPr algn="l"/>
            <a:r>
              <a:rPr lang="en-US" sz="1050" b="1" dirty="0">
                <a:solidFill>
                  <a:srgbClr val="16A765"/>
                </a:solidFill>
                <a:latin typeface="Arial"/>
                <a:cs typeface="Arial"/>
              </a:rPr>
              <a:t>R</a:t>
            </a:r>
            <a:endParaRPr lang="he-IL" sz="1050" b="1" dirty="0">
              <a:solidFill>
                <a:srgbClr val="16A765"/>
              </a:solidFill>
              <a:latin typeface="Arial"/>
              <a:cs typeface="Arial"/>
            </a:endParaRPr>
          </a:p>
        </p:txBody>
      </p:sp>
      <p:sp>
        <p:nvSpPr>
          <p:cNvPr id="153" name="Label Guest Reviews">
            <a:extLst>
              <a:ext uri="{FF2B5EF4-FFF2-40B4-BE49-F238E27FC236}">
                <a16:creationId xmlns:a16="http://schemas.microsoft.com/office/drawing/2014/main" id="{6FFD36F1-AC24-FF46-A0BA-CE33D408DB5B}"/>
              </a:ext>
            </a:extLst>
          </p:cNvPr>
          <p:cNvSpPr txBox="1"/>
          <p:nvPr/>
        </p:nvSpPr>
        <p:spPr>
          <a:xfrm>
            <a:off x="990600" y="3924300"/>
            <a:ext cx="1574800" cy="228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11245B"/>
                </a:solidFill>
                <a:latin typeface="Arial"/>
                <a:cs typeface="Arial"/>
              </a:rPr>
              <a:t>Guest Reviews</a:t>
            </a:r>
            <a:endParaRPr lang="he-IL" sz="1000" b="1" dirty="0">
              <a:solidFill>
                <a:srgbClr val="11245B"/>
              </a:solidFill>
              <a:latin typeface="Arial"/>
              <a:cs typeface="Arial"/>
            </a:endParaRPr>
          </a:p>
        </p:txBody>
      </p:sp>
      <p:sp>
        <p:nvSpPr>
          <p:cNvPr id="154" name="Connector Guest Reviews">
            <a:extLst>
              <a:ext uri="{FF2B5EF4-FFF2-40B4-BE49-F238E27FC236}">
                <a16:creationId xmlns:a16="http://schemas.microsoft.com/office/drawing/2014/main" id="{18BAFB78-86BC-694F-8E1C-88CC50566E94}"/>
              </a:ext>
            </a:extLst>
          </p:cNvPr>
          <p:cNvSpPr/>
          <p:nvPr/>
        </p:nvSpPr>
        <p:spPr>
          <a:xfrm>
            <a:off x="2679700" y="4025900"/>
            <a:ext cx="152400" cy="25400"/>
          </a:xfrm>
          <a:prstGeom prst="rect">
            <a:avLst/>
          </a:prstGeom>
          <a:solidFill>
            <a:srgbClr val="16A76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5" name="Input Google Maps Context">
            <a:extLst>
              <a:ext uri="{FF2B5EF4-FFF2-40B4-BE49-F238E27FC236}">
                <a16:creationId xmlns:a16="http://schemas.microsoft.com/office/drawing/2014/main" id="{68F16F4C-FF15-2146-AC03-0F09C734B51E}"/>
              </a:ext>
            </a:extLst>
          </p:cNvPr>
          <p:cNvSpPr/>
          <p:nvPr/>
        </p:nvSpPr>
        <p:spPr>
          <a:xfrm>
            <a:off x="622300" y="4229100"/>
            <a:ext cx="2057400" cy="279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2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6" name="Icon Google Maps Context">
            <a:extLst>
              <a:ext uri="{FF2B5EF4-FFF2-40B4-BE49-F238E27FC236}">
                <a16:creationId xmlns:a16="http://schemas.microsoft.com/office/drawing/2014/main" id="{B8741930-DA37-3D46-9EAF-D9A048BCA3FD}"/>
              </a:ext>
            </a:extLst>
          </p:cNvPr>
          <p:cNvSpPr/>
          <p:nvPr/>
        </p:nvSpPr>
        <p:spPr>
          <a:xfrm>
            <a:off x="711200" y="4267200"/>
            <a:ext cx="203200" cy="203200"/>
          </a:xfrm>
          <a:prstGeom prst="ellipse">
            <a:avLst/>
          </a:prstGeom>
          <a:solidFill>
            <a:srgbClr val="EE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1" anchor="ctr" anchorCtr="0">
            <a:normAutofit/>
          </a:bodyPr>
          <a:lstStyle/>
          <a:p>
            <a:pPr algn="l"/>
            <a:r>
              <a:rPr lang="en-US" sz="1000" b="1" dirty="0">
                <a:solidFill>
                  <a:srgbClr val="1976D2"/>
                </a:solidFill>
                <a:latin typeface="Arial"/>
                <a:cs typeface="Arial"/>
              </a:rPr>
              <a:t>G</a:t>
            </a:r>
            <a:endParaRPr lang="he-IL" sz="800" b="1" dirty="0">
              <a:solidFill>
                <a:srgbClr val="1976D2"/>
              </a:solidFill>
              <a:latin typeface="Arial"/>
              <a:cs typeface="Arial"/>
            </a:endParaRPr>
          </a:p>
        </p:txBody>
      </p:sp>
      <p:sp>
        <p:nvSpPr>
          <p:cNvPr id="157" name="Label Google Maps Context">
            <a:extLst>
              <a:ext uri="{FF2B5EF4-FFF2-40B4-BE49-F238E27FC236}">
                <a16:creationId xmlns:a16="http://schemas.microsoft.com/office/drawing/2014/main" id="{870591D7-F2BF-4A48-B3E2-4850A054B840}"/>
              </a:ext>
            </a:extLst>
          </p:cNvPr>
          <p:cNvSpPr txBox="1"/>
          <p:nvPr/>
        </p:nvSpPr>
        <p:spPr>
          <a:xfrm>
            <a:off x="990600" y="4254500"/>
            <a:ext cx="1574800" cy="228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11245B"/>
                </a:solidFill>
                <a:latin typeface="Arial"/>
                <a:cs typeface="Arial"/>
              </a:rPr>
              <a:t>Google Maps Context</a:t>
            </a:r>
            <a:endParaRPr lang="he-IL" sz="1000" b="1" dirty="0">
              <a:solidFill>
                <a:srgbClr val="11245B"/>
              </a:solidFill>
              <a:latin typeface="Arial"/>
              <a:cs typeface="Arial"/>
            </a:endParaRPr>
          </a:p>
        </p:txBody>
      </p:sp>
      <p:sp>
        <p:nvSpPr>
          <p:cNvPr id="158" name="Connector Google Maps Context">
            <a:extLst>
              <a:ext uri="{FF2B5EF4-FFF2-40B4-BE49-F238E27FC236}">
                <a16:creationId xmlns:a16="http://schemas.microsoft.com/office/drawing/2014/main" id="{1AC3AB1C-77C8-5746-AE4D-D8412429A1FD}"/>
              </a:ext>
            </a:extLst>
          </p:cNvPr>
          <p:cNvSpPr/>
          <p:nvPr/>
        </p:nvSpPr>
        <p:spPr>
          <a:xfrm>
            <a:off x="2679700" y="4356100"/>
            <a:ext cx="152400" cy="25400"/>
          </a:xfrm>
          <a:prstGeom prst="rect">
            <a:avLst/>
          </a:prstGeom>
          <a:solidFill>
            <a:srgbClr val="1976D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9" name="Input Connector Spine">
            <a:extLst>
              <a:ext uri="{FF2B5EF4-FFF2-40B4-BE49-F238E27FC236}">
                <a16:creationId xmlns:a16="http://schemas.microsoft.com/office/drawing/2014/main" id="{176AE4F3-0FBD-1E41-BEAF-D039492EC0EE}"/>
              </a:ext>
            </a:extLst>
          </p:cNvPr>
          <p:cNvSpPr/>
          <p:nvPr/>
        </p:nvSpPr>
        <p:spPr>
          <a:xfrm>
            <a:off x="2806700" y="3708400"/>
            <a:ext cx="25400" cy="660400"/>
          </a:xfrm>
          <a:prstGeom prst="rect">
            <a:avLst/>
          </a:prstGeom>
          <a:solidFill>
            <a:srgbClr val="5B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0" name="Inputs to Agent Arrow">
            <a:extLst>
              <a:ext uri="{FF2B5EF4-FFF2-40B4-BE49-F238E27FC236}">
                <a16:creationId xmlns:a16="http://schemas.microsoft.com/office/drawing/2014/main" id="{936A347F-B56C-CE46-A11B-AA4F9836F9C8}"/>
              </a:ext>
            </a:extLst>
          </p:cNvPr>
          <p:cNvSpPr/>
          <p:nvPr/>
        </p:nvSpPr>
        <p:spPr>
          <a:xfrm>
            <a:off x="2806700" y="3987800"/>
            <a:ext cx="355600" cy="127000"/>
          </a:xfrm>
          <a:prstGeom prst="rightArrow">
            <a:avLst/>
          </a:prstGeom>
          <a:solidFill>
            <a:srgbClr val="5B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1" name="Agent Card Shadow">
            <a:extLst>
              <a:ext uri="{FF2B5EF4-FFF2-40B4-BE49-F238E27FC236}">
                <a16:creationId xmlns:a16="http://schemas.microsoft.com/office/drawing/2014/main" id="{A44A9A0D-E813-5E48-A6CB-74A3EF242ECA}"/>
              </a:ext>
            </a:extLst>
          </p:cNvPr>
          <p:cNvSpPr/>
          <p:nvPr/>
        </p:nvSpPr>
        <p:spPr>
          <a:xfrm>
            <a:off x="3200400" y="3695700"/>
            <a:ext cx="2463800" cy="774700"/>
          </a:xfrm>
          <a:prstGeom prst="roundRect">
            <a:avLst/>
          </a:prstGeom>
          <a:solidFill>
            <a:srgbClr val="DDE4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2" name="Autonomous AI Agent Card">
            <a:extLst>
              <a:ext uri="{FF2B5EF4-FFF2-40B4-BE49-F238E27FC236}">
                <a16:creationId xmlns:a16="http://schemas.microsoft.com/office/drawing/2014/main" id="{7DFE47FF-C280-F845-BF1A-A2841C68B53A}"/>
              </a:ext>
            </a:extLst>
          </p:cNvPr>
          <p:cNvSpPr/>
          <p:nvPr/>
        </p:nvSpPr>
        <p:spPr>
          <a:xfrm>
            <a:off x="3175000" y="3657600"/>
            <a:ext cx="2463800" cy="774700"/>
          </a:xfrm>
          <a:prstGeom prst="roundRect">
            <a:avLst/>
          </a:prstGeom>
          <a:solidFill>
            <a:srgbClr val="F2EEFF"/>
          </a:solidFill>
          <a:ln w="19050" cap="flat" cmpd="sng" algn="ctr">
            <a:solidFill>
              <a:srgbClr val="B7A6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3" name="AI Agent Icon">
            <a:extLst>
              <a:ext uri="{FF2B5EF4-FFF2-40B4-BE49-F238E27FC236}">
                <a16:creationId xmlns:a16="http://schemas.microsoft.com/office/drawing/2014/main" id="{C276992A-1696-A645-848C-7C102F52E7F9}"/>
              </a:ext>
            </a:extLst>
          </p:cNvPr>
          <p:cNvSpPr/>
          <p:nvPr/>
        </p:nvSpPr>
        <p:spPr>
          <a:xfrm>
            <a:off x="3352800" y="3810000"/>
            <a:ext cx="431800" cy="431800"/>
          </a:xfrm>
          <a:prstGeom prst="ellipse">
            <a:avLst/>
          </a:prstGeom>
          <a:solidFill>
            <a:srgbClr val="5B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1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endParaRPr lang="he-IL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4" name="Agent Title">
            <a:extLst>
              <a:ext uri="{FF2B5EF4-FFF2-40B4-BE49-F238E27FC236}">
                <a16:creationId xmlns:a16="http://schemas.microsoft.com/office/drawing/2014/main" id="{BD447276-EA55-F143-9456-DFFF1413BBFB}"/>
              </a:ext>
            </a:extLst>
          </p:cNvPr>
          <p:cNvSpPr txBox="1"/>
          <p:nvPr/>
        </p:nvSpPr>
        <p:spPr>
          <a:xfrm>
            <a:off x="3898900" y="3784600"/>
            <a:ext cx="1600200" cy="254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5B35F4"/>
                </a:solidFill>
                <a:latin typeface="Arial"/>
                <a:cs typeface="Arial"/>
              </a:rPr>
              <a:t>Autonomous AI Agent</a:t>
            </a:r>
            <a:endParaRPr lang="he-IL" sz="1300" b="1">
              <a:solidFill>
                <a:srgbClr val="5B35F4"/>
              </a:solidFill>
              <a:latin typeface="Arial"/>
              <a:cs typeface="Arial"/>
            </a:endParaRPr>
          </a:p>
        </p:txBody>
      </p:sp>
      <p:sp>
        <p:nvSpPr>
          <p:cNvPr id="165" name="Agent Subtitle">
            <a:extLst>
              <a:ext uri="{FF2B5EF4-FFF2-40B4-BE49-F238E27FC236}">
                <a16:creationId xmlns:a16="http://schemas.microsoft.com/office/drawing/2014/main" id="{DBE2FB68-1DE2-C647-8AB1-5F9C9B812A01}"/>
              </a:ext>
            </a:extLst>
          </p:cNvPr>
          <p:cNvSpPr txBox="1"/>
          <p:nvPr/>
        </p:nvSpPr>
        <p:spPr>
          <a:xfrm>
            <a:off x="3886200" y="4114800"/>
            <a:ext cx="1778000" cy="203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00" dirty="0">
                <a:solidFill>
                  <a:srgbClr val="5A6785"/>
                </a:solidFill>
                <a:latin typeface="Arial"/>
                <a:cs typeface="Arial"/>
              </a:rPr>
              <a:t>Reasons + chooses actions</a:t>
            </a:r>
            <a:endParaRPr lang="he-IL" sz="1000" dirty="0">
              <a:solidFill>
                <a:srgbClr val="5A6785"/>
              </a:solidFill>
              <a:latin typeface="Arial"/>
              <a:cs typeface="Arial"/>
            </a:endParaRPr>
          </a:p>
        </p:txBody>
      </p:sp>
      <p:sp>
        <p:nvSpPr>
          <p:cNvPr id="166" name="Agent to Updated Listing Arrow">
            <a:extLst>
              <a:ext uri="{FF2B5EF4-FFF2-40B4-BE49-F238E27FC236}">
                <a16:creationId xmlns:a16="http://schemas.microsoft.com/office/drawing/2014/main" id="{89443736-F0F6-1145-B10D-2FEEEB7F3B86}"/>
              </a:ext>
            </a:extLst>
          </p:cNvPr>
          <p:cNvSpPr/>
          <p:nvPr/>
        </p:nvSpPr>
        <p:spPr>
          <a:xfrm>
            <a:off x="5765800" y="3987800"/>
            <a:ext cx="431800" cy="127000"/>
          </a:xfrm>
          <a:prstGeom prst="rightArrow">
            <a:avLst/>
          </a:prstGeom>
          <a:solidFill>
            <a:srgbClr val="5B35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7" name="Updated Card Shadow">
            <a:extLst>
              <a:ext uri="{FF2B5EF4-FFF2-40B4-BE49-F238E27FC236}">
                <a16:creationId xmlns:a16="http://schemas.microsoft.com/office/drawing/2014/main" id="{F94C9CBC-22CC-2A4F-977D-AFEF89C14AF4}"/>
              </a:ext>
            </a:extLst>
          </p:cNvPr>
          <p:cNvSpPr/>
          <p:nvPr/>
        </p:nvSpPr>
        <p:spPr>
          <a:xfrm>
            <a:off x="6261100" y="3695700"/>
            <a:ext cx="2209800" cy="774700"/>
          </a:xfrm>
          <a:prstGeom prst="roundRect">
            <a:avLst/>
          </a:prstGeom>
          <a:solidFill>
            <a:srgbClr val="DDE4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8" name="Updated Listing Page Card">
            <a:extLst>
              <a:ext uri="{FF2B5EF4-FFF2-40B4-BE49-F238E27FC236}">
                <a16:creationId xmlns:a16="http://schemas.microsoft.com/office/drawing/2014/main" id="{637B073E-8DF8-F742-BA4F-1E89D5ED4002}"/>
              </a:ext>
            </a:extLst>
          </p:cNvPr>
          <p:cNvSpPr/>
          <p:nvPr/>
        </p:nvSpPr>
        <p:spPr>
          <a:xfrm>
            <a:off x="6235700" y="3657600"/>
            <a:ext cx="2209800" cy="774700"/>
          </a:xfrm>
          <a:prstGeom prst="roundRect">
            <a:avLst/>
          </a:prstGeom>
          <a:solidFill>
            <a:srgbClr val="ECFAF3"/>
          </a:solidFill>
          <a:ln w="19050" cap="flat" cmpd="sng" algn="ctr">
            <a:solidFill>
              <a:srgbClr val="83D8A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69" name="Updated Listing Icon">
            <a:extLst>
              <a:ext uri="{FF2B5EF4-FFF2-40B4-BE49-F238E27FC236}">
                <a16:creationId xmlns:a16="http://schemas.microsoft.com/office/drawing/2014/main" id="{5B0BBB8A-560C-B241-A302-EDD65227A4EB}"/>
              </a:ext>
            </a:extLst>
          </p:cNvPr>
          <p:cNvSpPr/>
          <p:nvPr/>
        </p:nvSpPr>
        <p:spPr>
          <a:xfrm>
            <a:off x="6400800" y="3822700"/>
            <a:ext cx="406400" cy="406400"/>
          </a:xfrm>
          <a:prstGeom prst="ellipse">
            <a:avLst/>
          </a:prstGeom>
          <a:solidFill>
            <a:srgbClr val="16A76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1" anchor="ctr" anchorCtr="0">
            <a:normAutofit/>
          </a:bodyPr>
          <a:lstStyle/>
          <a:p>
            <a:pPr algn="l"/>
            <a:r>
              <a:rPr lang="he-IL" sz="1400" b="1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70" name="Updated Title">
            <a:extLst>
              <a:ext uri="{FF2B5EF4-FFF2-40B4-BE49-F238E27FC236}">
                <a16:creationId xmlns:a16="http://schemas.microsoft.com/office/drawing/2014/main" id="{7FC8FA77-5637-EF41-B387-39A6650A488A}"/>
              </a:ext>
            </a:extLst>
          </p:cNvPr>
          <p:cNvSpPr txBox="1"/>
          <p:nvPr/>
        </p:nvSpPr>
        <p:spPr>
          <a:xfrm>
            <a:off x="6921500" y="37846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6A765"/>
                </a:solidFill>
                <a:latin typeface="Arial"/>
                <a:cs typeface="Arial"/>
              </a:rPr>
              <a:t>Updated Listing Page</a:t>
            </a:r>
            <a:endParaRPr lang="he-IL" sz="1200" b="1">
              <a:solidFill>
                <a:srgbClr val="16A765"/>
              </a:solidFill>
              <a:latin typeface="Arial"/>
              <a:cs typeface="Arial"/>
            </a:endParaRPr>
          </a:p>
        </p:txBody>
      </p:sp>
      <p:sp>
        <p:nvSpPr>
          <p:cNvPr id="171" name="Updated Subtitle">
            <a:extLst>
              <a:ext uri="{FF2B5EF4-FFF2-40B4-BE49-F238E27FC236}">
                <a16:creationId xmlns:a16="http://schemas.microsoft.com/office/drawing/2014/main" id="{CE06FB0E-1303-DF46-9627-02860CE8C9B6}"/>
              </a:ext>
            </a:extLst>
          </p:cNvPr>
          <p:cNvSpPr txBox="1"/>
          <p:nvPr/>
        </p:nvSpPr>
        <p:spPr>
          <a:xfrm>
            <a:off x="6908800" y="4152826"/>
            <a:ext cx="1549400" cy="237116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1000" dirty="0">
                <a:solidFill>
                  <a:srgbClr val="5A6785"/>
                </a:solidFill>
                <a:latin typeface="Arial"/>
                <a:cs typeface="Arial"/>
              </a:rPr>
              <a:t>Aligned with real guest experience</a:t>
            </a:r>
            <a:endParaRPr lang="he-IL" sz="1000" dirty="0">
              <a:solidFill>
                <a:srgbClr val="5A6785"/>
              </a:solidFill>
              <a:latin typeface="Arial"/>
              <a:cs typeface="Arial"/>
            </a:endParaRPr>
          </a:p>
        </p:txBody>
      </p:sp>
      <p:sp>
        <p:nvSpPr>
          <p:cNvPr id="172" name="Summary Closing Sentence">
            <a:extLst>
              <a:ext uri="{FF2B5EF4-FFF2-40B4-BE49-F238E27FC236}">
                <a16:creationId xmlns:a16="http://schemas.microsoft.com/office/drawing/2014/main" id="{A1B90430-6E5A-E640-B824-D185E4A70460}"/>
              </a:ext>
            </a:extLst>
          </p:cNvPr>
          <p:cNvSpPr txBox="1"/>
          <p:nvPr/>
        </p:nvSpPr>
        <p:spPr>
          <a:xfrm>
            <a:off x="889000" y="4749800"/>
            <a:ext cx="7366000" cy="254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en-US" sz="1200" b="1" dirty="0">
                <a:solidFill>
                  <a:srgbClr val="11245B"/>
                </a:solidFill>
                <a:latin typeface="Arial"/>
                <a:cs typeface="Arial"/>
              </a:rPr>
              <a:t>The agent does not just analyze listings </a:t>
            </a:r>
            <a:r>
              <a:rPr lang="he-IL" sz="1200" b="1" dirty="0">
                <a:solidFill>
                  <a:srgbClr val="11245B"/>
                </a:solidFill>
                <a:latin typeface="Arial"/>
                <a:cs typeface="Arial"/>
              </a:rPr>
              <a:t> -</a:t>
            </a:r>
            <a:r>
              <a:rPr lang="en-US" sz="1200" b="1" dirty="0">
                <a:solidFill>
                  <a:srgbClr val="11245B"/>
                </a:solidFill>
                <a:latin typeface="Arial"/>
                <a:cs typeface="Arial"/>
              </a:rPr>
              <a:t>it decides when and how to maintain them.</a:t>
            </a:r>
            <a:endParaRPr lang="he-IL" sz="1200" b="1" dirty="0">
              <a:solidFill>
                <a:srgbClr val="11245B"/>
              </a:solidFill>
              <a:latin typeface="Arial"/>
              <a:cs typeface="Arial"/>
            </a:endParaRPr>
          </a:p>
        </p:txBody>
      </p:sp>
      <p:sp>
        <p:nvSpPr>
          <p:cNvPr id="173" name="BSD_Header">
            <a:extLst>
              <a:ext uri="{FF2B5EF4-FFF2-40B4-BE49-F238E27FC236}">
                <a16:creationId xmlns:a16="http://schemas.microsoft.com/office/drawing/2014/main" id="{47C84B80-9ADE-AC43-85DF-FF2F9090C929}"/>
              </a:ext>
            </a:extLst>
          </p:cNvPr>
          <p:cNvSpPr txBox="1"/>
          <p:nvPr/>
        </p:nvSpPr>
        <p:spPr>
          <a:xfrm>
            <a:off x="8610600" y="63500"/>
            <a:ext cx="381000" cy="1778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>
                <a:solidFill>
                  <a:srgbClr val="334A6B"/>
                </a:solidFill>
                <a:latin typeface="Arial"/>
                <a:cs typeface="Arial"/>
              </a:rPr>
              <a:t>בס״ד</a:t>
            </a:r>
          </a:p>
        </p:txBody>
      </p:sp>
    </p:spTree>
    <p:extLst>
      <p:ext uri="{BB962C8B-B14F-4D97-AF65-F5344CB8AC3E}">
        <p14:creationId xmlns:p14="http://schemas.microsoft.com/office/powerpoint/2010/main" val="47590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lef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2A0BDE-9419-0B4F-990D-1E66CB333A8C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5a304a60-599b-4012-ad82-423ff48693a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1861</Words>
  <Application>Microsoft Office PowerPoint</Application>
  <PresentationFormat>‫הצגה על המסך (16:9)</PresentationFormat>
  <Paragraphs>213</Paragraphs>
  <Slides>8</Slides>
  <Notes>8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9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subject/>
  <dc:creator/>
  <cp:lastModifiedBy>Opal Zvieli</cp:lastModifiedBy>
  <cp:revision>41</cp:revision>
  <dcterms:created xsi:type="dcterms:W3CDTF">2026-07-14T15:59:59Z</dcterms:created>
  <dcterms:modified xsi:type="dcterms:W3CDTF">2026-07-16T17:14:05Z</dcterms:modified>
</cp:coreProperties>
</file>